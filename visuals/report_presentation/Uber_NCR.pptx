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1119" r:id="rId2"/>
    <p:sldId id="1120" r:id="rId3"/>
    <p:sldId id="1121" r:id="rId4"/>
    <p:sldId id="1122" r:id="rId5"/>
    <p:sldId id="1123" r:id="rId6"/>
    <p:sldId id="1124" r:id="rId7"/>
    <p:sldId id="1125" r:id="rId8"/>
    <p:sldId id="1126" r:id="rId9"/>
    <p:sldId id="1127" r:id="rId10"/>
    <p:sldId id="1128" r:id="rId11"/>
    <p:sldId id="1129" r:id="rId12"/>
    <p:sldId id="1130" r:id="rId13"/>
    <p:sldId id="1131" r:id="rId14"/>
    <p:sldId id="1132" r:id="rId15"/>
    <p:sldId id="1133" r:id="rId16"/>
    <p:sldId id="1134" r:id="rId17"/>
    <p:sldId id="1135" r:id="rId18"/>
    <p:sldId id="1136" r:id="rId19"/>
    <p:sldId id="1137" r:id="rId20"/>
    <p:sldId id="1138" r:id="rId21"/>
    <p:sldId id="1139" r:id="rId22"/>
    <p:sldId id="1140" r:id="rId23"/>
    <p:sldId id="1141" r:id="rId24"/>
    <p:sldId id="1142" r:id="rId25"/>
    <p:sldId id="1143" r:id="rId26"/>
    <p:sldId id="1144" r:id="rId27"/>
    <p:sldId id="1145" r:id="rId28"/>
    <p:sldId id="1146" r:id="rId29"/>
    <p:sldId id="1147" r:id="rId30"/>
    <p:sldId id="1148" r:id="rId31"/>
    <p:sldId id="1149" r:id="rId32"/>
    <p:sldId id="1150" r:id="rId33"/>
    <p:sldId id="1151" r:id="rId34"/>
    <p:sldId id="1152" r:id="rId35"/>
    <p:sldId id="1153" r:id="rId36"/>
    <p:sldId id="1154" r:id="rId37"/>
    <p:sldId id="1155" r:id="rId38"/>
    <p:sldId id="1156" r:id="rId39"/>
    <p:sldId id="1157" r:id="rId40"/>
    <p:sldId id="1158" r:id="rId41"/>
    <p:sldId id="1159" r:id="rId42"/>
    <p:sldId id="1160" r:id="rId43"/>
    <p:sldId id="1161" r:id="rId44"/>
    <p:sldId id="1162" r:id="rId45"/>
    <p:sldId id="1163" r:id="rId46"/>
    <p:sldId id="1164" r:id="rId47"/>
    <p:sldId id="1166" r:id="rId48"/>
    <p:sldId id="1167" r:id="rId49"/>
    <p:sldId id="1168" r:id="rId50"/>
    <p:sldId id="1169" r:id="rId51"/>
    <p:sldId id="1165" r:id="rId52"/>
    <p:sldId id="30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6A3F"/>
    <a:srgbClr val="6651AE"/>
    <a:srgbClr val="4C9776"/>
    <a:srgbClr val="1663AE"/>
    <a:srgbClr val="9B7591"/>
    <a:srgbClr val="9C6F52"/>
    <a:srgbClr val="00589A"/>
    <a:srgbClr val="2CB22F"/>
    <a:srgbClr val="AEFCFC"/>
    <a:srgbClr val="E0C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55" autoAdjust="0"/>
    <p:restoredTop sz="95254" autoAdjust="0"/>
  </p:normalViewPr>
  <p:slideViewPr>
    <p:cSldViewPr snapToGrid="0">
      <p:cViewPr varScale="1">
        <p:scale>
          <a:sx n="111" d="100"/>
          <a:sy n="111" d="100"/>
        </p:scale>
        <p:origin x="240"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09/12/25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93CE8-3B10-43B2-8860-AFD8154600F8}" type="slidenum">
              <a:rPr lang="en-IN" smtClean="0"/>
              <a:t>34</a:t>
            </a:fld>
            <a:endParaRPr lang="en-IN"/>
          </a:p>
        </p:txBody>
      </p:sp>
    </p:spTree>
    <p:extLst>
      <p:ext uri="{BB962C8B-B14F-4D97-AF65-F5344CB8AC3E}">
        <p14:creationId xmlns:p14="http://schemas.microsoft.com/office/powerpoint/2010/main" val="3358693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193CE8-3B10-43B2-8860-AFD8154600F8}" type="slidenum">
              <a:rPr lang="en-IN" smtClean="0"/>
              <a:t>39</a:t>
            </a:fld>
            <a:endParaRPr lang="en-IN"/>
          </a:p>
        </p:txBody>
      </p:sp>
    </p:spTree>
    <p:extLst>
      <p:ext uri="{BB962C8B-B14F-4D97-AF65-F5344CB8AC3E}">
        <p14:creationId xmlns:p14="http://schemas.microsoft.com/office/powerpoint/2010/main" val="1600271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7" r:id="rId5"/>
    <p:sldLayoutId id="2147483668" r:id="rId6"/>
    <p:sldLayoutId id="2147483669" r:id="rId7"/>
    <p:sldLayoutId id="2147483670" r:id="rId8"/>
    <p:sldLayoutId id="2147483671"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441885" y="1655240"/>
            <a:ext cx="4741333" cy="5099729"/>
          </a:xfrm>
          <a:prstGeom prst="rect">
            <a:avLst/>
          </a:prstGeom>
          <a:noFill/>
        </p:spPr>
        <p:txBody>
          <a:bodyPr wrap="square" rtlCol="0">
            <a:spAutoFit/>
          </a:bodyPr>
          <a:lstStyle/>
          <a:p>
            <a:pPr algn="ctr" defTabSz="1219170">
              <a:buClr>
                <a:srgbClr val="000000"/>
              </a:buClr>
            </a:pPr>
            <a:r>
              <a:rPr lang="en-IN" sz="2667" b="1" kern="0" dirty="0">
                <a:solidFill>
                  <a:srgbClr val="166A3F"/>
                </a:solidFill>
                <a:latin typeface="Geeza Pro" panose="02000400000000000000" pitchFamily="2" charset="-78"/>
                <a:cs typeface="Geeza Pro" panose="02000400000000000000" pitchFamily="2" charset="-78"/>
                <a:sym typeface="Arial"/>
              </a:rPr>
              <a:t>Uber NCR Ride Booking</a:t>
            </a:r>
          </a:p>
          <a:p>
            <a:pPr algn="ctr" defTabSz="1219170">
              <a:buClr>
                <a:srgbClr val="000000"/>
              </a:buClr>
            </a:pPr>
            <a:endParaRPr lang="en-IN" sz="2667" b="1" kern="0" dirty="0">
              <a:solidFill>
                <a:srgbClr val="166A3F"/>
              </a:solidFill>
              <a:latin typeface="Geeza Pro" panose="02000400000000000000" pitchFamily="2" charset="-78"/>
              <a:cs typeface="Geeza Pro" panose="02000400000000000000" pitchFamily="2" charset="-78"/>
              <a:sym typeface="Arial"/>
            </a:endParaRPr>
          </a:p>
          <a:p>
            <a:pPr algn="ctr" defTabSz="1219170">
              <a:buClr>
                <a:srgbClr val="000000"/>
              </a:buClr>
            </a:pPr>
            <a:endParaRPr lang="en-IN" sz="2667" b="1" kern="0" dirty="0">
              <a:solidFill>
                <a:srgbClr val="166A3F"/>
              </a:solidFill>
              <a:latin typeface="Geeza Pro" panose="02000400000000000000" pitchFamily="2" charset="-78"/>
              <a:cs typeface="Geeza Pro" panose="02000400000000000000" pitchFamily="2" charset="-78"/>
              <a:sym typeface="Arial"/>
            </a:endParaRPr>
          </a:p>
          <a:p>
            <a:pPr algn="ctr" defTabSz="1219170">
              <a:buClr>
                <a:srgbClr val="000000"/>
              </a:buClr>
            </a:pPr>
            <a:endParaRPr lang="en-IN" sz="2667" b="1" kern="0" dirty="0">
              <a:solidFill>
                <a:srgbClr val="166A3F"/>
              </a:solidFill>
              <a:latin typeface="Geeza Pro" panose="02000400000000000000" pitchFamily="2" charset="-78"/>
              <a:cs typeface="Geeza Pro" panose="02000400000000000000" pitchFamily="2" charset="-78"/>
              <a:sym typeface="Arial"/>
            </a:endParaRPr>
          </a:p>
          <a:p>
            <a:pPr algn="ctr" defTabSz="1219170">
              <a:buClr>
                <a:srgbClr val="000000"/>
              </a:buClr>
            </a:pPr>
            <a:r>
              <a:rPr lang="en-IN" sz="2667" b="1" kern="0" dirty="0">
                <a:solidFill>
                  <a:srgbClr val="166A3F"/>
                </a:solidFill>
                <a:latin typeface="Geeza Pro" panose="02000400000000000000" pitchFamily="2" charset="-78"/>
                <a:cs typeface="Geeza Pro" panose="02000400000000000000" pitchFamily="2" charset="-78"/>
                <a:sym typeface="Arial"/>
              </a:rPr>
              <a:t>Name: Abhinandh O</a:t>
            </a:r>
          </a:p>
          <a:p>
            <a:pPr algn="ctr" defTabSz="1219170">
              <a:buClr>
                <a:srgbClr val="000000"/>
              </a:buClr>
            </a:pPr>
            <a:endParaRPr lang="en-IN" sz="2667" b="1" kern="0" dirty="0">
              <a:solidFill>
                <a:srgbClr val="166A3F"/>
              </a:solidFill>
              <a:latin typeface="Geeza Pro" panose="02000400000000000000" pitchFamily="2" charset="-78"/>
              <a:cs typeface="Geeza Pro" panose="02000400000000000000" pitchFamily="2" charset="-78"/>
              <a:sym typeface="Arial"/>
            </a:endParaRPr>
          </a:p>
          <a:p>
            <a:pPr algn="ctr" defTabSz="1219170">
              <a:buClr>
                <a:srgbClr val="000000"/>
              </a:buClr>
            </a:pPr>
            <a:endParaRPr lang="en-IN" sz="2667" b="1" kern="0" dirty="0">
              <a:solidFill>
                <a:srgbClr val="166A3F"/>
              </a:solidFill>
              <a:latin typeface="Geeza Pro" panose="02000400000000000000" pitchFamily="2" charset="-78"/>
              <a:cs typeface="Geeza Pro" panose="02000400000000000000" pitchFamily="2" charset="-78"/>
              <a:sym typeface="Arial"/>
            </a:endParaRPr>
          </a:p>
          <a:p>
            <a:pPr algn="ctr" defTabSz="1219170">
              <a:buClr>
                <a:srgbClr val="000000"/>
              </a:buClr>
            </a:pPr>
            <a:r>
              <a:rPr lang="en-IN" sz="2667" b="1" kern="0" dirty="0">
                <a:solidFill>
                  <a:srgbClr val="166A3F"/>
                </a:solidFill>
                <a:latin typeface="Geeza Pro" panose="02000400000000000000" pitchFamily="2" charset="-78"/>
                <a:cs typeface="Geeza Pro" panose="02000400000000000000" pitchFamily="2" charset="-78"/>
                <a:sym typeface="Arial"/>
              </a:rPr>
              <a:t>Date: 05/12/2025</a:t>
            </a:r>
          </a:p>
          <a:p>
            <a:pPr algn="ctr" defTabSz="1219170">
              <a:buClr>
                <a:srgbClr val="000000"/>
              </a:buClr>
            </a:pPr>
            <a:endParaRPr lang="en-IN" sz="1867" kern="0" dirty="0">
              <a:solidFill>
                <a:srgbClr val="166A3F"/>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92621-F645-25DE-120F-44B35FA8888A}"/>
              </a:ext>
            </a:extLst>
          </p:cNvPr>
          <p:cNvSpPr txBox="1"/>
          <p:nvPr/>
        </p:nvSpPr>
        <p:spPr>
          <a:xfrm>
            <a:off x="450760" y="734095"/>
            <a:ext cx="9723866" cy="4124206"/>
          </a:xfrm>
          <a:prstGeom prst="rect">
            <a:avLst/>
          </a:prstGeom>
          <a:noFill/>
        </p:spPr>
        <p:txBody>
          <a:bodyPr wrap="square" rtlCol="0">
            <a:spAutoFit/>
          </a:bodyPr>
          <a:lstStyle/>
          <a:p>
            <a:r>
              <a:rPr lang="en-IN" sz="2400" b="1" dirty="0">
                <a:solidFill>
                  <a:srgbClr val="166A3F"/>
                </a:solidFill>
              </a:rPr>
              <a:t>Business Context </a:t>
            </a:r>
          </a:p>
          <a:p>
            <a:br>
              <a:rPr lang="en-IN" dirty="0"/>
            </a:br>
            <a:endParaRPr lang="en-IN" dirty="0"/>
          </a:p>
          <a:p>
            <a:r>
              <a:rPr lang="en-IN" dirty="0"/>
              <a:t>Uber operates thousands of daily rides across the NCR region, generating detailed data on trip requests, driver availability, customer </a:t>
            </a:r>
            <a:r>
              <a:rPr lang="en-IN" dirty="0" err="1"/>
              <a:t>behavior</a:t>
            </a:r>
            <a:r>
              <a:rPr lang="en-IN" dirty="0"/>
              <a:t>, cancellations, ride completion, and revenue. Understanding these patterns is essential for improving marketplace efficiency.</a:t>
            </a:r>
          </a:p>
          <a:p>
            <a:br>
              <a:rPr lang="en-IN" dirty="0"/>
            </a:br>
            <a:endParaRPr lang="en-IN" dirty="0"/>
          </a:p>
          <a:p>
            <a:r>
              <a:rPr lang="en-IN" dirty="0"/>
              <a:t>This project </a:t>
            </a:r>
            <a:r>
              <a:rPr lang="en-IN" dirty="0" err="1"/>
              <a:t>analyzes</a:t>
            </a:r>
            <a:r>
              <a:rPr lang="en-IN" dirty="0"/>
              <a:t> NCR ride-level data to uncover how demand, supply, wait times, cancellations, pricing, and service quality vary across locations and time. By evaluating ride outcomes and operational metrics, we aim to identify bottlenecks in the booking flow, understand customer and driver </a:t>
            </a:r>
            <a:r>
              <a:rPr lang="en-IN" dirty="0" err="1"/>
              <a:t>behavior</a:t>
            </a:r>
            <a:r>
              <a:rPr lang="en-IN" dirty="0"/>
              <a:t>, and highlight opportunities to improve </a:t>
            </a:r>
            <a:r>
              <a:rPr lang="en-IN" dirty="0" err="1"/>
              <a:t>fulfillment</a:t>
            </a:r>
            <a:r>
              <a:rPr lang="en-IN" dirty="0"/>
              <a:t> rates, reduce cancellations, and optimize rider experience.</a:t>
            </a:r>
          </a:p>
          <a:p>
            <a:endParaRPr lang="en-US" dirty="0"/>
          </a:p>
        </p:txBody>
      </p:sp>
    </p:spTree>
    <p:extLst>
      <p:ext uri="{BB962C8B-B14F-4D97-AF65-F5344CB8AC3E}">
        <p14:creationId xmlns:p14="http://schemas.microsoft.com/office/powerpoint/2010/main" val="3371102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760857-E8EC-22A0-A4AB-515ADF521A75}"/>
              </a:ext>
            </a:extLst>
          </p:cNvPr>
          <p:cNvSpPr txBox="1"/>
          <p:nvPr/>
        </p:nvSpPr>
        <p:spPr>
          <a:xfrm>
            <a:off x="363428" y="823325"/>
            <a:ext cx="11636661" cy="3785652"/>
          </a:xfrm>
          <a:prstGeom prst="rect">
            <a:avLst/>
          </a:prstGeom>
          <a:noFill/>
        </p:spPr>
        <p:txBody>
          <a:bodyPr wrap="square" rtlCol="0">
            <a:spAutoFit/>
          </a:bodyPr>
          <a:lstStyle/>
          <a:p>
            <a:r>
              <a:rPr lang="en-IN" sz="2400" b="1" dirty="0">
                <a:solidFill>
                  <a:srgbClr val="166A3F"/>
                </a:solidFill>
              </a:rPr>
              <a:t>Problem Statement </a:t>
            </a:r>
          </a:p>
          <a:p>
            <a:br>
              <a:rPr lang="en-IN" dirty="0"/>
            </a:br>
            <a:endParaRPr lang="en-IN" dirty="0"/>
          </a:p>
          <a:p>
            <a:r>
              <a:rPr lang="en-IN" dirty="0"/>
              <a:t>Despite high ride volume in NCR, Uber faces operational challenges such as incomplete rides, cancellations by customers and drivers, fluctuating wait times, and inconsistent </a:t>
            </a:r>
            <a:r>
              <a:rPr lang="en-IN" dirty="0" err="1"/>
              <a:t>fulfillment</a:t>
            </a:r>
            <a:r>
              <a:rPr lang="en-IN" dirty="0"/>
              <a:t> across locations and vehicle types. These issues directly impact customer experience, driver earnings, and overall platform efficiency.</a:t>
            </a:r>
          </a:p>
          <a:p>
            <a:br>
              <a:rPr lang="en-IN" dirty="0"/>
            </a:br>
            <a:endParaRPr lang="en-IN" dirty="0"/>
          </a:p>
          <a:p>
            <a:r>
              <a:rPr lang="en-IN" dirty="0"/>
              <a:t>The problem is to </a:t>
            </a:r>
            <a:r>
              <a:rPr lang="en-IN" dirty="0" err="1"/>
              <a:t>analyze</a:t>
            </a:r>
            <a:r>
              <a:rPr lang="en-IN" dirty="0"/>
              <a:t> ride-level booking data to identify </a:t>
            </a:r>
            <a:r>
              <a:rPr lang="en-IN" i="1" dirty="0"/>
              <a:t>where</a:t>
            </a:r>
            <a:r>
              <a:rPr lang="en-IN" dirty="0"/>
              <a:t>, </a:t>
            </a:r>
            <a:r>
              <a:rPr lang="en-IN" i="1" dirty="0"/>
              <a:t>when</a:t>
            </a:r>
            <a:r>
              <a:rPr lang="en-IN" dirty="0"/>
              <a:t>, and </a:t>
            </a:r>
            <a:r>
              <a:rPr lang="en-IN" i="1" dirty="0"/>
              <a:t>why</a:t>
            </a:r>
            <a:r>
              <a:rPr lang="en-IN" dirty="0"/>
              <a:t> breakdowns occur in the booking-to-completion flow, and to determine the key factors influencing ride completion, wait times, cancellations, and revenue performance. The goal is to derive actionable insights that help improve reliability, optimize resource allocation, and enhance the overall ride experience.</a:t>
            </a:r>
          </a:p>
          <a:p>
            <a:endParaRPr lang="en-US" dirty="0"/>
          </a:p>
        </p:txBody>
      </p:sp>
    </p:spTree>
    <p:extLst>
      <p:ext uri="{BB962C8B-B14F-4D97-AF65-F5344CB8AC3E}">
        <p14:creationId xmlns:p14="http://schemas.microsoft.com/office/powerpoint/2010/main" val="58912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B60887-7092-E6EF-CF3B-FA94AE4E98CE}"/>
              </a:ext>
            </a:extLst>
          </p:cNvPr>
          <p:cNvSpPr txBox="1"/>
          <p:nvPr/>
        </p:nvSpPr>
        <p:spPr>
          <a:xfrm>
            <a:off x="395111" y="237067"/>
            <a:ext cx="2920415" cy="646331"/>
          </a:xfrm>
          <a:prstGeom prst="rect">
            <a:avLst/>
          </a:prstGeom>
          <a:noFill/>
        </p:spPr>
        <p:txBody>
          <a:bodyPr wrap="none" rtlCol="0">
            <a:spAutoFit/>
          </a:bodyPr>
          <a:lstStyle/>
          <a:p>
            <a:r>
              <a:rPr lang="en-IN" b="1" dirty="0">
                <a:solidFill>
                  <a:srgbClr val="166A3F"/>
                </a:solidFill>
              </a:rPr>
              <a:t>Data Audit Summary(1/3)</a:t>
            </a:r>
          </a:p>
          <a:p>
            <a:endParaRPr lang="en-US" dirty="0"/>
          </a:p>
        </p:txBody>
      </p:sp>
      <p:sp>
        <p:nvSpPr>
          <p:cNvPr id="3" name="TextBox 2">
            <a:extLst>
              <a:ext uri="{FF2B5EF4-FFF2-40B4-BE49-F238E27FC236}">
                <a16:creationId xmlns:a16="http://schemas.microsoft.com/office/drawing/2014/main" id="{74A488A7-C063-E872-82EA-9C8FDFD0FB6B}"/>
              </a:ext>
            </a:extLst>
          </p:cNvPr>
          <p:cNvSpPr txBox="1"/>
          <p:nvPr/>
        </p:nvSpPr>
        <p:spPr>
          <a:xfrm>
            <a:off x="395111" y="897299"/>
            <a:ext cx="9741769" cy="2585323"/>
          </a:xfrm>
          <a:prstGeom prst="rect">
            <a:avLst/>
          </a:prstGeom>
          <a:noFill/>
        </p:spPr>
        <p:txBody>
          <a:bodyPr wrap="none" rtlCol="0">
            <a:spAutoFit/>
          </a:bodyPr>
          <a:lstStyle/>
          <a:p>
            <a:pPr marL="285750" indent="-285750">
              <a:buFont typeface="Arial" panose="020B0604020202020204" pitchFamily="34" charset="0"/>
              <a:buChar char="•"/>
            </a:pPr>
            <a:r>
              <a:rPr lang="en-IN" sz="1600" dirty="0"/>
              <a:t>During the data audit, we observed that </a:t>
            </a:r>
            <a:r>
              <a:rPr lang="en-IN" sz="1600" b="1" dirty="0" err="1"/>
              <a:t>Booking_ID</a:t>
            </a:r>
            <a:r>
              <a:rPr lang="en-IN" sz="1600" b="1" dirty="0"/>
              <a:t> is not a unique identifier</a:t>
            </a:r>
            <a:r>
              <a:rPr lang="en-IN" sz="1600" dirty="0"/>
              <a:t>.</a:t>
            </a:r>
          </a:p>
          <a:p>
            <a:pPr marL="285750" indent="-285750">
              <a:buFont typeface="Arial" panose="020B0604020202020204" pitchFamily="34" charset="0"/>
              <a:buChar char="•"/>
            </a:pPr>
            <a:r>
              <a:rPr lang="en-IN" sz="1600" dirty="0"/>
              <a:t>Although </a:t>
            </a:r>
            <a:r>
              <a:rPr lang="en-IN" sz="1600" dirty="0" err="1"/>
              <a:t>Booking_ID</a:t>
            </a:r>
            <a:r>
              <a:rPr lang="en-IN" sz="1600" dirty="0"/>
              <a:t> looks like a ride ID at first glance, the audit revealed:</a:t>
            </a:r>
          </a:p>
          <a:p>
            <a:pPr marL="285750" indent="-285750">
              <a:buFont typeface="Arial" panose="020B0604020202020204" pitchFamily="34" charset="0"/>
              <a:buChar char="•"/>
            </a:pPr>
            <a:r>
              <a:rPr lang="en-IN" sz="1600" dirty="0"/>
              <a:t>The dataset contains </a:t>
            </a:r>
            <a:r>
              <a:rPr lang="en-IN" sz="1600" b="1" dirty="0"/>
              <a:t>150,000 rows</a:t>
            </a:r>
            <a:r>
              <a:rPr lang="en-IN" sz="1600" dirty="0"/>
              <a:t> but only </a:t>
            </a:r>
            <a:r>
              <a:rPr lang="en-IN" sz="1600" b="1" dirty="0"/>
              <a:t>148,767 unique </a:t>
            </a:r>
            <a:r>
              <a:rPr lang="en-IN" sz="1600" b="1" dirty="0" err="1"/>
              <a:t>Booking_IDs</a:t>
            </a:r>
            <a:r>
              <a:rPr lang="en-IN" sz="1600" dirty="0"/>
              <a:t>.</a:t>
            </a:r>
          </a:p>
          <a:p>
            <a:pPr marL="285750" indent="-285750">
              <a:buFont typeface="Arial" panose="020B0604020202020204" pitchFamily="34" charset="0"/>
              <a:buChar char="•"/>
            </a:pPr>
            <a:r>
              <a:rPr lang="en-IN" sz="1600" b="1" dirty="0"/>
              <a:t>1,224 </a:t>
            </a:r>
            <a:r>
              <a:rPr lang="en-IN" sz="1600" b="1" dirty="0" err="1"/>
              <a:t>Booking_IDs</a:t>
            </a:r>
            <a:r>
              <a:rPr lang="en-IN" sz="1600" dirty="0"/>
              <a:t> appear more than once.</a:t>
            </a:r>
          </a:p>
          <a:p>
            <a:pPr marL="285750" indent="-285750">
              <a:buFont typeface="Arial" panose="020B0604020202020204" pitchFamily="34" charset="0"/>
              <a:buChar char="•"/>
            </a:pPr>
            <a:r>
              <a:rPr lang="en-IN" sz="1600" dirty="0"/>
              <a:t>When we inspected these repeated </a:t>
            </a:r>
            <a:r>
              <a:rPr lang="en-IN" sz="1600" dirty="0" err="1"/>
              <a:t>Booking_IDs</a:t>
            </a:r>
            <a:r>
              <a:rPr lang="en-IN" sz="1600" dirty="0"/>
              <a:t>, we found that each row represented a </a:t>
            </a:r>
            <a:r>
              <a:rPr lang="en-IN" sz="1600" b="1" dirty="0"/>
              <a:t>different ride</a:t>
            </a:r>
          </a:p>
          <a:p>
            <a:r>
              <a:rPr lang="en-IN" sz="1600" dirty="0"/>
              <a:t> — with different timestamps, locations, or metrics.</a:t>
            </a:r>
          </a:p>
          <a:p>
            <a:br>
              <a:rPr lang="en-IN" sz="1600" dirty="0"/>
            </a:br>
            <a:endParaRPr lang="en-IN" sz="1600" dirty="0"/>
          </a:p>
          <a:p>
            <a:r>
              <a:rPr lang="en-IN" sz="1600" dirty="0"/>
              <a:t>This means </a:t>
            </a:r>
            <a:r>
              <a:rPr lang="en-IN" sz="1600" b="1" dirty="0" err="1"/>
              <a:t>Booking_ID</a:t>
            </a:r>
            <a:r>
              <a:rPr lang="en-IN" sz="1600" b="1" dirty="0"/>
              <a:t> is reused across multiple rides</a:t>
            </a:r>
            <a:r>
              <a:rPr lang="en-IN" sz="1600" dirty="0"/>
              <a:t>, which is common in real ride-hailing systems.</a:t>
            </a:r>
          </a:p>
          <a:p>
            <a:endParaRPr lang="en-US" dirty="0"/>
          </a:p>
        </p:txBody>
      </p:sp>
      <p:sp>
        <p:nvSpPr>
          <p:cNvPr id="4" name="TextBox 3">
            <a:extLst>
              <a:ext uri="{FF2B5EF4-FFF2-40B4-BE49-F238E27FC236}">
                <a16:creationId xmlns:a16="http://schemas.microsoft.com/office/drawing/2014/main" id="{1018ABB1-2810-DF54-1894-6ABFF6111135}"/>
              </a:ext>
            </a:extLst>
          </p:cNvPr>
          <p:cNvSpPr txBox="1"/>
          <p:nvPr/>
        </p:nvSpPr>
        <p:spPr>
          <a:xfrm>
            <a:off x="395111" y="3575756"/>
            <a:ext cx="8332602" cy="1661993"/>
          </a:xfrm>
          <a:prstGeom prst="rect">
            <a:avLst/>
          </a:prstGeom>
          <a:noFill/>
        </p:spPr>
        <p:txBody>
          <a:bodyPr wrap="none" rtlCol="0">
            <a:spAutoFit/>
          </a:bodyPr>
          <a:lstStyle/>
          <a:p>
            <a:r>
              <a:rPr lang="en-IN" b="1" dirty="0"/>
              <a:t>Row &amp; Structure Validation</a:t>
            </a:r>
          </a:p>
          <a:p>
            <a:endParaRPr lang="en-IN" b="1" dirty="0"/>
          </a:p>
          <a:p>
            <a:pPr marL="285750" indent="-285750">
              <a:buFont typeface="Arial" panose="020B0604020202020204" pitchFamily="34" charset="0"/>
              <a:buChar char="•"/>
            </a:pPr>
            <a:r>
              <a:rPr lang="en-IN" sz="1600" dirty="0"/>
              <a:t>Dataset contains </a:t>
            </a:r>
            <a:r>
              <a:rPr lang="en-IN" sz="1600" b="1" dirty="0"/>
              <a:t>150,000 ride records</a:t>
            </a:r>
            <a:endParaRPr lang="en-IN" sz="1600" dirty="0"/>
          </a:p>
          <a:p>
            <a:pPr marL="285750" indent="-285750">
              <a:buFont typeface="Arial" panose="020B0604020202020204" pitchFamily="34" charset="0"/>
              <a:buChar char="•"/>
            </a:pPr>
            <a:r>
              <a:rPr lang="en-IN" sz="1600" dirty="0"/>
              <a:t>All rows represent </a:t>
            </a:r>
            <a:r>
              <a:rPr lang="en-IN" sz="1600" b="1" dirty="0"/>
              <a:t>unique rides</a:t>
            </a:r>
            <a:r>
              <a:rPr lang="en-IN" sz="1600" dirty="0"/>
              <a:t> (⟶ </a:t>
            </a:r>
            <a:r>
              <a:rPr lang="en-IN" sz="1600" dirty="0" err="1"/>
              <a:t>Booking_ID</a:t>
            </a:r>
            <a:r>
              <a:rPr lang="en-IN" sz="1600" dirty="0"/>
              <a:t> + Date + Time combination is unique)</a:t>
            </a:r>
          </a:p>
          <a:p>
            <a:pPr marL="285750" indent="-285750">
              <a:buFont typeface="Arial" panose="020B0604020202020204" pitchFamily="34" charset="0"/>
              <a:buChar char="•"/>
            </a:pPr>
            <a:r>
              <a:rPr lang="en-IN" sz="1600" dirty="0" err="1"/>
              <a:t>Customer_ID</a:t>
            </a:r>
            <a:r>
              <a:rPr lang="en-IN" sz="1600" dirty="0"/>
              <a:t> repeats normally (repeat customers), not a data issue</a:t>
            </a:r>
          </a:p>
          <a:p>
            <a:endParaRPr lang="en-US" dirty="0"/>
          </a:p>
        </p:txBody>
      </p:sp>
    </p:spTree>
    <p:extLst>
      <p:ext uri="{BB962C8B-B14F-4D97-AF65-F5344CB8AC3E}">
        <p14:creationId xmlns:p14="http://schemas.microsoft.com/office/powerpoint/2010/main" val="3533944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253A95-42C9-6574-A0C7-643FBAA6E697}"/>
              </a:ext>
            </a:extLst>
          </p:cNvPr>
          <p:cNvSpPr txBox="1"/>
          <p:nvPr/>
        </p:nvSpPr>
        <p:spPr>
          <a:xfrm>
            <a:off x="519289" y="1166632"/>
            <a:ext cx="8660384" cy="2400657"/>
          </a:xfrm>
          <a:prstGeom prst="rect">
            <a:avLst/>
          </a:prstGeom>
          <a:noFill/>
        </p:spPr>
        <p:txBody>
          <a:bodyPr wrap="none" rtlCol="0">
            <a:spAutoFit/>
          </a:bodyPr>
          <a:lstStyle/>
          <a:p>
            <a:r>
              <a:rPr lang="en-IN" b="1" dirty="0"/>
              <a:t>Missing Values &amp; Format Checks</a:t>
            </a:r>
          </a:p>
          <a:p>
            <a:endParaRPr lang="en-IN" b="1" dirty="0"/>
          </a:p>
          <a:p>
            <a:pPr marL="285750" indent="-285750">
              <a:buFont typeface="Arial" panose="020B0604020202020204" pitchFamily="34" charset="0"/>
              <a:buChar char="•"/>
            </a:pPr>
            <a:r>
              <a:rPr lang="en-IN" sz="1600" dirty="0"/>
              <a:t>NULLs present in </a:t>
            </a:r>
            <a:r>
              <a:rPr lang="en-IN" sz="1600" b="1" dirty="0" err="1"/>
              <a:t>Avg</a:t>
            </a:r>
            <a:r>
              <a:rPr lang="en-IN" sz="1600" b="1" dirty="0"/>
              <a:t> VTAT</a:t>
            </a:r>
            <a:r>
              <a:rPr lang="en-IN" sz="1600" dirty="0"/>
              <a:t> and </a:t>
            </a:r>
            <a:r>
              <a:rPr lang="en-IN" sz="1600" b="1" dirty="0" err="1"/>
              <a:t>Avg</a:t>
            </a:r>
            <a:r>
              <a:rPr lang="en-IN" sz="1600" b="1" dirty="0"/>
              <a:t> CTAT</a:t>
            </a:r>
            <a:r>
              <a:rPr lang="en-IN" sz="1600" dirty="0"/>
              <a:t>, but </a:t>
            </a:r>
            <a:r>
              <a:rPr lang="en-IN" sz="1600" b="1" dirty="0"/>
              <a:t>all NULLs occur in non-assigned rides</a:t>
            </a:r>
          </a:p>
          <a:p>
            <a:r>
              <a:rPr lang="en-IN" sz="1600" dirty="0"/>
              <a:t>     (No Driver Found, early cancellations) → </a:t>
            </a:r>
            <a:r>
              <a:rPr lang="en-IN" sz="1600" b="1" dirty="0"/>
              <a:t>business-correct </a:t>
            </a:r>
            <a:r>
              <a:rPr lang="en-IN" sz="1600" b="1" dirty="0" err="1"/>
              <a:t>behavior</a:t>
            </a:r>
            <a:endParaRPr lang="en-IN" sz="1600" b="1" dirty="0"/>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No missing VTAT/CTAT in </a:t>
            </a:r>
            <a:r>
              <a:rPr lang="en-IN" sz="1600" b="1" dirty="0"/>
              <a:t>Completed</a:t>
            </a:r>
            <a:r>
              <a:rPr lang="en-IN" sz="1600" dirty="0"/>
              <a:t> rides</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Date and Time are fully valid (100%)</a:t>
            </a:r>
          </a:p>
          <a:p>
            <a:endParaRPr lang="en-US" dirty="0"/>
          </a:p>
        </p:txBody>
      </p:sp>
      <p:sp>
        <p:nvSpPr>
          <p:cNvPr id="3" name="TextBox 2">
            <a:extLst>
              <a:ext uri="{FF2B5EF4-FFF2-40B4-BE49-F238E27FC236}">
                <a16:creationId xmlns:a16="http://schemas.microsoft.com/office/drawing/2014/main" id="{A4230E7D-5414-1642-4AED-EECF93FC1548}"/>
              </a:ext>
            </a:extLst>
          </p:cNvPr>
          <p:cNvSpPr txBox="1"/>
          <p:nvPr/>
        </p:nvSpPr>
        <p:spPr>
          <a:xfrm>
            <a:off x="519289" y="3567289"/>
            <a:ext cx="4911922" cy="2646878"/>
          </a:xfrm>
          <a:prstGeom prst="rect">
            <a:avLst/>
          </a:prstGeom>
          <a:noFill/>
        </p:spPr>
        <p:txBody>
          <a:bodyPr wrap="none" rtlCol="0">
            <a:spAutoFit/>
          </a:bodyPr>
          <a:lstStyle/>
          <a:p>
            <a:r>
              <a:rPr lang="en-IN" b="1" dirty="0"/>
              <a:t>Numeric Field Integrity</a:t>
            </a:r>
          </a:p>
          <a:p>
            <a:pPr marL="285750" indent="-285750">
              <a:buFont typeface="Arial" panose="020B0604020202020204" pitchFamily="34" charset="0"/>
              <a:buChar char="•"/>
            </a:pPr>
            <a:endParaRPr lang="en-IN" b="1" dirty="0"/>
          </a:p>
          <a:p>
            <a:r>
              <a:rPr lang="en-IN" sz="1600" dirty="0"/>
              <a:t> No negative or invalid values in: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Booking Value</a:t>
            </a:r>
          </a:p>
          <a:p>
            <a:pPr marL="285750" indent="-285750">
              <a:buFont typeface="Arial" panose="020B0604020202020204" pitchFamily="34" charset="0"/>
              <a:buChar char="•"/>
            </a:pPr>
            <a:r>
              <a:rPr lang="en-IN" sz="1600" dirty="0"/>
              <a:t>Ride Distance</a:t>
            </a:r>
          </a:p>
          <a:p>
            <a:pPr marL="285750" indent="-285750">
              <a:buFont typeface="Arial" panose="020B0604020202020204" pitchFamily="34" charset="0"/>
              <a:buChar char="•"/>
            </a:pPr>
            <a:r>
              <a:rPr lang="en-IN" sz="1600" dirty="0"/>
              <a:t>Driver/Customer Ratings</a:t>
            </a:r>
          </a:p>
          <a:p>
            <a:pPr marL="285750" indent="-285750">
              <a:buFont typeface="Arial" panose="020B0604020202020204" pitchFamily="34" charset="0"/>
              <a:buChar char="•"/>
            </a:pPr>
            <a:r>
              <a:rPr lang="en-IN" sz="1600" dirty="0"/>
              <a:t>No completed ride has zero distance or zero fare</a:t>
            </a:r>
          </a:p>
          <a:p>
            <a:pPr marL="285750" indent="-285750">
              <a:buFont typeface="Arial" panose="020B0604020202020204" pitchFamily="34" charset="0"/>
              <a:buChar char="•"/>
            </a:pPr>
            <a:r>
              <a:rPr lang="en-IN" sz="1600" dirty="0"/>
              <a:t>Ratings always fall between </a:t>
            </a:r>
            <a:r>
              <a:rPr lang="en-IN" sz="1600" b="1" dirty="0"/>
              <a:t>1 and 5</a:t>
            </a:r>
            <a:endParaRPr lang="en-IN" sz="1600" dirty="0"/>
          </a:p>
          <a:p>
            <a:endParaRPr lang="en-US" dirty="0"/>
          </a:p>
        </p:txBody>
      </p:sp>
      <p:sp>
        <p:nvSpPr>
          <p:cNvPr id="4" name="TextBox 3">
            <a:extLst>
              <a:ext uri="{FF2B5EF4-FFF2-40B4-BE49-F238E27FC236}">
                <a16:creationId xmlns:a16="http://schemas.microsoft.com/office/drawing/2014/main" id="{778204DF-8528-AA62-1726-7B74189C8F25}"/>
              </a:ext>
            </a:extLst>
          </p:cNvPr>
          <p:cNvSpPr txBox="1"/>
          <p:nvPr/>
        </p:nvSpPr>
        <p:spPr>
          <a:xfrm>
            <a:off x="519289" y="320667"/>
            <a:ext cx="2920415" cy="646331"/>
          </a:xfrm>
          <a:prstGeom prst="rect">
            <a:avLst/>
          </a:prstGeom>
          <a:noFill/>
        </p:spPr>
        <p:txBody>
          <a:bodyPr wrap="none" rtlCol="0">
            <a:spAutoFit/>
          </a:bodyPr>
          <a:lstStyle/>
          <a:p>
            <a:r>
              <a:rPr lang="en-IN" b="1" dirty="0">
                <a:solidFill>
                  <a:srgbClr val="166A3F"/>
                </a:solidFill>
              </a:rPr>
              <a:t>Data Audit Summary(2/3)</a:t>
            </a:r>
          </a:p>
          <a:p>
            <a:endParaRPr lang="en-US" dirty="0"/>
          </a:p>
        </p:txBody>
      </p:sp>
    </p:spTree>
    <p:extLst>
      <p:ext uri="{BB962C8B-B14F-4D97-AF65-F5344CB8AC3E}">
        <p14:creationId xmlns:p14="http://schemas.microsoft.com/office/powerpoint/2010/main" val="83461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67FE9-C692-256F-AB95-CBBC45612E8E}"/>
              </a:ext>
            </a:extLst>
          </p:cNvPr>
          <p:cNvSpPr txBox="1"/>
          <p:nvPr/>
        </p:nvSpPr>
        <p:spPr>
          <a:xfrm>
            <a:off x="609600" y="812899"/>
            <a:ext cx="6394699" cy="1908215"/>
          </a:xfrm>
          <a:prstGeom prst="rect">
            <a:avLst/>
          </a:prstGeom>
          <a:noFill/>
        </p:spPr>
        <p:txBody>
          <a:bodyPr wrap="none" rtlCol="0">
            <a:spAutoFit/>
          </a:bodyPr>
          <a:lstStyle/>
          <a:p>
            <a:r>
              <a:rPr lang="en-IN" b="1" dirty="0"/>
              <a:t>Status &amp; Business Logic Checks</a:t>
            </a:r>
          </a:p>
          <a:p>
            <a:endParaRPr lang="en-IN" b="1" dirty="0"/>
          </a:p>
          <a:p>
            <a:pPr marL="285750" indent="-285750">
              <a:buFont typeface="Arial" panose="020B0604020202020204" pitchFamily="34" charset="0"/>
              <a:buChar char="•"/>
            </a:pPr>
            <a:r>
              <a:rPr lang="en-IN" sz="1600" dirty="0"/>
              <a:t>All status categories valid and clean</a:t>
            </a:r>
          </a:p>
          <a:p>
            <a:pPr marL="285750" indent="-285750">
              <a:buFont typeface="Arial" panose="020B0604020202020204" pitchFamily="34" charset="0"/>
              <a:buChar char="•"/>
            </a:pPr>
            <a:r>
              <a:rPr lang="en-IN" sz="1600" b="1" dirty="0"/>
              <a:t>Completed rides</a:t>
            </a:r>
            <a:r>
              <a:rPr lang="en-IN" sz="1600" dirty="0"/>
              <a:t> contain complete distance, fare, and rating info</a:t>
            </a:r>
          </a:p>
          <a:p>
            <a:pPr marL="285750" indent="-285750">
              <a:buFont typeface="Arial" panose="020B0604020202020204" pitchFamily="34" charset="0"/>
              <a:buChar char="•"/>
            </a:pPr>
            <a:r>
              <a:rPr lang="en-IN" sz="1600" dirty="0"/>
              <a:t>Rides marked </a:t>
            </a:r>
            <a:r>
              <a:rPr lang="en-IN" sz="1600" b="1" dirty="0"/>
              <a:t>No Driver Found</a:t>
            </a:r>
            <a:r>
              <a:rPr lang="en-IN" sz="1600" dirty="0"/>
              <a:t> correctly have no VTAT/CTAT</a:t>
            </a:r>
          </a:p>
          <a:p>
            <a:pPr marL="285750" indent="-285750">
              <a:buFont typeface="Arial" panose="020B0604020202020204" pitchFamily="34" charset="0"/>
              <a:buChar char="•"/>
            </a:pPr>
            <a:r>
              <a:rPr lang="en-IN" sz="1600" dirty="0"/>
              <a:t>No mismatches between status, distance, or fare</a:t>
            </a:r>
          </a:p>
          <a:p>
            <a:endParaRPr lang="en-US" dirty="0"/>
          </a:p>
        </p:txBody>
      </p:sp>
      <p:sp>
        <p:nvSpPr>
          <p:cNvPr id="3" name="TextBox 2">
            <a:extLst>
              <a:ext uri="{FF2B5EF4-FFF2-40B4-BE49-F238E27FC236}">
                <a16:creationId xmlns:a16="http://schemas.microsoft.com/office/drawing/2014/main" id="{E3F81ACD-682F-B588-FAAA-CCEC0ABA8FAE}"/>
              </a:ext>
            </a:extLst>
          </p:cNvPr>
          <p:cNvSpPr txBox="1"/>
          <p:nvPr/>
        </p:nvSpPr>
        <p:spPr>
          <a:xfrm>
            <a:off x="609600" y="2721114"/>
            <a:ext cx="7670690" cy="1415772"/>
          </a:xfrm>
          <a:prstGeom prst="rect">
            <a:avLst/>
          </a:prstGeom>
          <a:noFill/>
        </p:spPr>
        <p:txBody>
          <a:bodyPr wrap="none" rtlCol="0">
            <a:spAutoFit/>
          </a:bodyPr>
          <a:lstStyle/>
          <a:p>
            <a:r>
              <a:rPr lang="en-IN" b="1" dirty="0"/>
              <a:t>Categorical Data Checks</a:t>
            </a:r>
          </a:p>
          <a:p>
            <a:endParaRPr lang="en-IN" b="1" dirty="0"/>
          </a:p>
          <a:p>
            <a:pPr marL="285750" indent="-285750">
              <a:buFont typeface="Arial" panose="020B0604020202020204" pitchFamily="34" charset="0"/>
              <a:buChar char="•"/>
            </a:pPr>
            <a:r>
              <a:rPr lang="en-IN" sz="1600" dirty="0"/>
              <a:t>Pickup, drop, vehicle type, and payment method fields are clean and consistent</a:t>
            </a:r>
          </a:p>
          <a:p>
            <a:pPr marL="285750" indent="-285750">
              <a:buFont typeface="Arial" panose="020B0604020202020204" pitchFamily="34" charset="0"/>
              <a:buChar char="•"/>
            </a:pPr>
            <a:r>
              <a:rPr lang="en-IN" sz="1600" dirty="0"/>
              <a:t>No abnormal category names or formatting issues</a:t>
            </a:r>
          </a:p>
          <a:p>
            <a:endParaRPr lang="en-US" dirty="0"/>
          </a:p>
        </p:txBody>
      </p:sp>
      <p:sp>
        <p:nvSpPr>
          <p:cNvPr id="4" name="TextBox 3">
            <a:extLst>
              <a:ext uri="{FF2B5EF4-FFF2-40B4-BE49-F238E27FC236}">
                <a16:creationId xmlns:a16="http://schemas.microsoft.com/office/drawing/2014/main" id="{85E6B30E-B8D9-8BA4-7FA4-DB5CE31453EA}"/>
              </a:ext>
            </a:extLst>
          </p:cNvPr>
          <p:cNvSpPr txBox="1"/>
          <p:nvPr/>
        </p:nvSpPr>
        <p:spPr>
          <a:xfrm>
            <a:off x="609600" y="4228280"/>
            <a:ext cx="9797875" cy="1908215"/>
          </a:xfrm>
          <a:prstGeom prst="rect">
            <a:avLst/>
          </a:prstGeom>
          <a:noFill/>
        </p:spPr>
        <p:txBody>
          <a:bodyPr wrap="none" rtlCol="0">
            <a:spAutoFit/>
          </a:bodyPr>
          <a:lstStyle/>
          <a:p>
            <a:r>
              <a:rPr lang="en-IN" b="1" dirty="0"/>
              <a:t>Overall Audit Conclusion</a:t>
            </a:r>
          </a:p>
          <a:p>
            <a:br>
              <a:rPr lang="en-IN" dirty="0"/>
            </a:br>
            <a:endParaRPr lang="en-IN" sz="1600" dirty="0"/>
          </a:p>
          <a:p>
            <a:pPr marL="285750" indent="-285750">
              <a:buFont typeface="Arial" panose="020B0604020202020204" pitchFamily="34" charset="0"/>
              <a:buChar char="•"/>
            </a:pPr>
            <a:r>
              <a:rPr lang="en-IN" sz="1600" dirty="0"/>
              <a:t>The dataset is </a:t>
            </a:r>
            <a:r>
              <a:rPr lang="en-IN" sz="1600" b="1" dirty="0"/>
              <a:t>clean, complete, and structurally sound</a:t>
            </a:r>
            <a:r>
              <a:rPr lang="en-IN" sz="1600" dirty="0"/>
              <a:t> for analysis.</a:t>
            </a:r>
          </a:p>
          <a:p>
            <a:pPr marL="285750" indent="-285750">
              <a:buFont typeface="Arial" panose="020B0604020202020204" pitchFamily="34" charset="0"/>
              <a:buChar char="•"/>
            </a:pPr>
            <a:r>
              <a:rPr lang="en-IN" sz="1600" dirty="0"/>
              <a:t>No duplicate rides, no corrupted values, and no inconsistencies in business logic.</a:t>
            </a:r>
          </a:p>
          <a:p>
            <a:pPr marL="285750" indent="-285750">
              <a:buFont typeface="Arial" panose="020B0604020202020204" pitchFamily="34" charset="0"/>
              <a:buChar char="•"/>
            </a:pPr>
            <a:r>
              <a:rPr lang="en-IN" sz="1600" dirty="0"/>
              <a:t>Next step: </a:t>
            </a:r>
            <a:r>
              <a:rPr lang="en-IN" sz="1600" b="1" dirty="0"/>
              <a:t>Data Cleaning &amp; Standardization</a:t>
            </a:r>
            <a:r>
              <a:rPr lang="en-IN" sz="1600" dirty="0"/>
              <a:t> (text trimming, column formatting, numeric conversions).</a:t>
            </a:r>
          </a:p>
          <a:p>
            <a:endParaRPr lang="en-US" dirty="0"/>
          </a:p>
        </p:txBody>
      </p:sp>
      <p:sp>
        <p:nvSpPr>
          <p:cNvPr id="5" name="TextBox 4">
            <a:extLst>
              <a:ext uri="{FF2B5EF4-FFF2-40B4-BE49-F238E27FC236}">
                <a16:creationId xmlns:a16="http://schemas.microsoft.com/office/drawing/2014/main" id="{87A80C49-E42F-58D8-A83D-F8CA896672C0}"/>
              </a:ext>
            </a:extLst>
          </p:cNvPr>
          <p:cNvSpPr txBox="1"/>
          <p:nvPr/>
        </p:nvSpPr>
        <p:spPr>
          <a:xfrm>
            <a:off x="530578" y="166568"/>
            <a:ext cx="2920415" cy="646331"/>
          </a:xfrm>
          <a:prstGeom prst="rect">
            <a:avLst/>
          </a:prstGeom>
          <a:noFill/>
        </p:spPr>
        <p:txBody>
          <a:bodyPr wrap="none" rtlCol="0">
            <a:spAutoFit/>
          </a:bodyPr>
          <a:lstStyle/>
          <a:p>
            <a:r>
              <a:rPr lang="en-IN" b="1" dirty="0">
                <a:solidFill>
                  <a:srgbClr val="166A3F"/>
                </a:solidFill>
              </a:rPr>
              <a:t>Data Audit Summary(3/3)</a:t>
            </a:r>
          </a:p>
          <a:p>
            <a:endParaRPr lang="en-US" dirty="0"/>
          </a:p>
        </p:txBody>
      </p:sp>
    </p:spTree>
    <p:extLst>
      <p:ext uri="{BB962C8B-B14F-4D97-AF65-F5344CB8AC3E}">
        <p14:creationId xmlns:p14="http://schemas.microsoft.com/office/powerpoint/2010/main" val="1225370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369D87-2451-E24E-4246-BBA644CCBF13}"/>
              </a:ext>
            </a:extLst>
          </p:cNvPr>
          <p:cNvSpPr txBox="1"/>
          <p:nvPr/>
        </p:nvSpPr>
        <p:spPr>
          <a:xfrm>
            <a:off x="406400" y="395111"/>
            <a:ext cx="3343608" cy="646331"/>
          </a:xfrm>
          <a:prstGeom prst="rect">
            <a:avLst/>
          </a:prstGeom>
          <a:noFill/>
        </p:spPr>
        <p:txBody>
          <a:bodyPr wrap="none" rtlCol="0">
            <a:spAutoFit/>
          </a:bodyPr>
          <a:lstStyle/>
          <a:p>
            <a:r>
              <a:rPr lang="en-IN" b="1" dirty="0"/>
              <a:t> </a:t>
            </a:r>
            <a:r>
              <a:rPr lang="en-IN" b="1" dirty="0">
                <a:solidFill>
                  <a:srgbClr val="166A3F"/>
                </a:solidFill>
              </a:rPr>
              <a:t>Data Cleaning Activities(1/2)</a:t>
            </a:r>
          </a:p>
          <a:p>
            <a:endParaRPr lang="en-US" dirty="0"/>
          </a:p>
        </p:txBody>
      </p:sp>
      <p:sp>
        <p:nvSpPr>
          <p:cNvPr id="3" name="TextBox 2">
            <a:extLst>
              <a:ext uri="{FF2B5EF4-FFF2-40B4-BE49-F238E27FC236}">
                <a16:creationId xmlns:a16="http://schemas.microsoft.com/office/drawing/2014/main" id="{F63DEEA5-9636-1D8F-2098-25A6F059C731}"/>
              </a:ext>
            </a:extLst>
          </p:cNvPr>
          <p:cNvSpPr txBox="1"/>
          <p:nvPr/>
        </p:nvSpPr>
        <p:spPr>
          <a:xfrm>
            <a:off x="508000" y="922911"/>
            <a:ext cx="8314584" cy="5539978"/>
          </a:xfrm>
          <a:prstGeom prst="rect">
            <a:avLst/>
          </a:prstGeom>
          <a:noFill/>
        </p:spPr>
        <p:txBody>
          <a:bodyPr wrap="none" rtlCol="0">
            <a:spAutoFit/>
          </a:bodyPr>
          <a:lstStyle/>
          <a:p>
            <a:pPr marL="342900" indent="-342900">
              <a:buAutoNum type="arabicPeriod"/>
            </a:pPr>
            <a:r>
              <a:rPr lang="en-IN" sz="1600" b="1" dirty="0"/>
              <a:t>Preserved Raw Data</a:t>
            </a:r>
          </a:p>
          <a:p>
            <a:pPr marL="342900" indent="-342900">
              <a:buAutoNum type="arabicPeriod"/>
            </a:pPr>
            <a:endParaRPr lang="en-IN" sz="1600" b="1" dirty="0"/>
          </a:p>
          <a:p>
            <a:pPr marL="285750" indent="-285750">
              <a:buFont typeface="Arial" panose="020B0604020202020204" pitchFamily="34" charset="0"/>
              <a:buChar char="•"/>
            </a:pPr>
            <a:r>
              <a:rPr lang="en-IN" sz="1600" dirty="0"/>
              <a:t>Raw dataset kept unchanged for traceability and audit.</a:t>
            </a:r>
          </a:p>
          <a:p>
            <a:pPr marL="285750" indent="-285750">
              <a:buFont typeface="Arial" panose="020B0604020202020204" pitchFamily="34" charset="0"/>
              <a:buChar char="•"/>
            </a:pPr>
            <a:r>
              <a:rPr lang="en-IN" sz="1600" dirty="0"/>
              <a:t>All cleaning performed in a separate table: </a:t>
            </a:r>
            <a:r>
              <a:rPr lang="en-IN" sz="1600" b="1" dirty="0" err="1"/>
              <a:t>ncr_ride_bookings_clean</a:t>
            </a:r>
            <a:r>
              <a:rPr lang="en-IN" sz="1600" dirty="0"/>
              <a:t>.</a:t>
            </a:r>
            <a:br>
              <a:rPr lang="en-IN" sz="1600" dirty="0"/>
            </a:br>
            <a:endParaRPr lang="en-IN" sz="1600" dirty="0"/>
          </a:p>
          <a:p>
            <a:r>
              <a:rPr lang="en-IN" sz="1600" b="1" dirty="0"/>
              <a:t>2. Date–Time Structuring</a:t>
            </a:r>
          </a:p>
          <a:p>
            <a:endParaRPr lang="en-IN" sz="1600" b="1" dirty="0"/>
          </a:p>
          <a:p>
            <a:pPr marL="285750" indent="-285750">
              <a:buFont typeface="Arial" panose="020B0604020202020204" pitchFamily="34" charset="0"/>
              <a:buChar char="•"/>
            </a:pPr>
            <a:r>
              <a:rPr lang="en-IN" sz="1600" dirty="0"/>
              <a:t>Combined the separate </a:t>
            </a:r>
            <a:r>
              <a:rPr lang="en-IN" sz="1600" b="1" dirty="0"/>
              <a:t>Date</a:t>
            </a:r>
            <a:r>
              <a:rPr lang="en-IN" sz="1600" dirty="0"/>
              <a:t> and </a:t>
            </a:r>
            <a:r>
              <a:rPr lang="en-IN" sz="1600" b="1" dirty="0"/>
              <a:t>Time</a:t>
            </a:r>
            <a:r>
              <a:rPr lang="en-IN" sz="1600" dirty="0"/>
              <a:t> fields into a single </a:t>
            </a:r>
            <a:r>
              <a:rPr lang="en-IN" sz="1600" b="1" dirty="0" err="1"/>
              <a:t>booking_datetime</a:t>
            </a:r>
            <a:r>
              <a:rPr lang="en-IN" sz="1600" dirty="0"/>
              <a:t> column.</a:t>
            </a:r>
          </a:p>
          <a:p>
            <a:pPr marL="285750" indent="-285750">
              <a:buFont typeface="Arial" panose="020B0604020202020204" pitchFamily="34" charset="0"/>
              <a:buChar char="•"/>
            </a:pPr>
            <a:r>
              <a:rPr lang="en-IN" sz="1600" dirty="0"/>
              <a:t>Enabled continuous time-series analysis and time-based KPIs.</a:t>
            </a:r>
          </a:p>
          <a:p>
            <a:br>
              <a:rPr lang="en-IN" sz="1600" dirty="0"/>
            </a:br>
            <a:endParaRPr lang="en-IN" sz="1600" dirty="0"/>
          </a:p>
          <a:p>
            <a:r>
              <a:rPr lang="en-IN" sz="1600" b="1" dirty="0"/>
              <a:t>3. Derived Time Attributes</a:t>
            </a:r>
            <a:br>
              <a:rPr lang="en-IN" sz="1600" dirty="0"/>
            </a:br>
            <a:endParaRPr lang="en-IN" sz="1600" dirty="0"/>
          </a:p>
          <a:p>
            <a:pPr marL="285750" indent="-285750">
              <a:buFont typeface="Arial" panose="020B0604020202020204" pitchFamily="34" charset="0"/>
              <a:buChar char="•"/>
            </a:pPr>
            <a:r>
              <a:rPr lang="en-IN" sz="1600" dirty="0"/>
              <a:t>Extracted meaningful time features for analytical use:</a:t>
            </a:r>
          </a:p>
          <a:p>
            <a:pPr marL="285750" indent="-285750">
              <a:buFont typeface="Arial" panose="020B0604020202020204" pitchFamily="34" charset="0"/>
              <a:buChar char="•"/>
            </a:pPr>
            <a:r>
              <a:rPr lang="en-IN" sz="1600" b="1" dirty="0" err="1"/>
              <a:t>booking_month</a:t>
            </a:r>
            <a:endParaRPr lang="en-IN" sz="1600" dirty="0"/>
          </a:p>
          <a:p>
            <a:pPr marL="285750" indent="-285750">
              <a:buFont typeface="Arial" panose="020B0604020202020204" pitchFamily="34" charset="0"/>
              <a:buChar char="•"/>
            </a:pPr>
            <a:r>
              <a:rPr lang="en-IN" sz="1600" b="1" dirty="0" err="1"/>
              <a:t>booking_day</a:t>
            </a:r>
            <a:endParaRPr lang="en-IN" sz="1600" dirty="0"/>
          </a:p>
          <a:p>
            <a:pPr marL="285750" indent="-285750">
              <a:buFont typeface="Arial" panose="020B0604020202020204" pitchFamily="34" charset="0"/>
              <a:buChar char="•"/>
            </a:pPr>
            <a:r>
              <a:rPr lang="en-IN" sz="1600" b="1" dirty="0" err="1"/>
              <a:t>booking_hour</a:t>
            </a:r>
            <a:endParaRPr lang="en-IN" sz="1600" dirty="0"/>
          </a:p>
          <a:p>
            <a:pPr marL="285750" indent="-285750">
              <a:buFont typeface="Arial" panose="020B0604020202020204" pitchFamily="34" charset="0"/>
              <a:buChar char="•"/>
            </a:pPr>
            <a:r>
              <a:rPr lang="en-IN" sz="1600" b="1" dirty="0"/>
              <a:t>daypart</a:t>
            </a:r>
            <a:r>
              <a:rPr lang="en-IN" sz="1600" dirty="0"/>
              <a:t> (Morning / Noon / Evening / Night)</a:t>
            </a:r>
          </a:p>
          <a:p>
            <a:br>
              <a:rPr lang="en-IN" sz="1600" dirty="0"/>
            </a:br>
            <a:endParaRPr lang="en-IN" sz="1600" dirty="0"/>
          </a:p>
          <a:p>
            <a:r>
              <a:rPr lang="en-IN" sz="1600" dirty="0"/>
              <a:t>These features support trend analysis, peak-hour detection, and </a:t>
            </a:r>
            <a:r>
              <a:rPr lang="en-IN" sz="1600" dirty="0" err="1"/>
              <a:t>behavior</a:t>
            </a:r>
            <a:r>
              <a:rPr lang="en-IN" sz="1600" dirty="0"/>
              <a:t> segmentation.</a:t>
            </a:r>
          </a:p>
          <a:p>
            <a:endParaRPr lang="en-US" dirty="0"/>
          </a:p>
        </p:txBody>
      </p:sp>
    </p:spTree>
    <p:extLst>
      <p:ext uri="{BB962C8B-B14F-4D97-AF65-F5344CB8AC3E}">
        <p14:creationId xmlns:p14="http://schemas.microsoft.com/office/powerpoint/2010/main" val="174961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9916B6-0BA9-3FF4-AC6B-A8CA708BCE82}"/>
              </a:ext>
            </a:extLst>
          </p:cNvPr>
          <p:cNvSpPr txBox="1"/>
          <p:nvPr/>
        </p:nvSpPr>
        <p:spPr>
          <a:xfrm>
            <a:off x="293511" y="959556"/>
            <a:ext cx="11420819" cy="4801314"/>
          </a:xfrm>
          <a:prstGeom prst="rect">
            <a:avLst/>
          </a:prstGeom>
          <a:noFill/>
        </p:spPr>
        <p:txBody>
          <a:bodyPr wrap="none" rtlCol="0">
            <a:spAutoFit/>
          </a:bodyPr>
          <a:lstStyle/>
          <a:p>
            <a:r>
              <a:rPr lang="en-IN" sz="1600" b="1" dirty="0"/>
              <a:t>4. Data Type Validation</a:t>
            </a:r>
          </a:p>
          <a:p>
            <a:endParaRPr lang="en-IN" sz="1600" b="1" dirty="0"/>
          </a:p>
          <a:p>
            <a:pPr marL="285750" indent="-285750">
              <a:buFont typeface="Arial" panose="020B0604020202020204" pitchFamily="34" charset="0"/>
              <a:buChar char="•"/>
            </a:pPr>
            <a:r>
              <a:rPr lang="en-IN" sz="1600" dirty="0"/>
              <a:t>Verified all numeric columns (fare, distance, VTAT, CTAT, ratings) were correctly imported with proper numeric datatypes.</a:t>
            </a:r>
          </a:p>
          <a:p>
            <a:pPr marL="285750" indent="-285750">
              <a:buFont typeface="Arial" panose="020B0604020202020204" pitchFamily="34" charset="0"/>
              <a:buChar char="•"/>
            </a:pPr>
            <a:r>
              <a:rPr lang="en-IN" sz="1600" dirty="0"/>
              <a:t>Confirmed no type conversion or casting was required.</a:t>
            </a:r>
          </a:p>
          <a:p>
            <a:br>
              <a:rPr lang="en-IN" sz="1600" dirty="0"/>
            </a:br>
            <a:endParaRPr lang="en-IN" sz="1600" dirty="0"/>
          </a:p>
          <a:p>
            <a:r>
              <a:rPr lang="en-IN" sz="1600" b="1" dirty="0"/>
              <a:t>5. Missing Value Assessment</a:t>
            </a:r>
          </a:p>
          <a:p>
            <a:endParaRPr lang="en-IN" sz="1600" b="1" dirty="0"/>
          </a:p>
          <a:p>
            <a:pPr marL="285750" indent="-285750">
              <a:buFont typeface="Arial" panose="020B0604020202020204" pitchFamily="34" charset="0"/>
              <a:buChar char="•"/>
            </a:pPr>
            <a:r>
              <a:rPr lang="en-IN" sz="1600" dirty="0"/>
              <a:t>Identified NULL values in VTAT and CTAT.</a:t>
            </a:r>
          </a:p>
          <a:p>
            <a:pPr marL="285750" indent="-285750">
              <a:buFont typeface="Arial" panose="020B0604020202020204" pitchFamily="34" charset="0"/>
              <a:buChar char="•"/>
            </a:pPr>
            <a:r>
              <a:rPr lang="en-IN" sz="1600" dirty="0"/>
              <a:t>Verified these NULLs are </a:t>
            </a:r>
            <a:r>
              <a:rPr lang="en-IN" sz="1600" b="1" dirty="0"/>
              <a:t>business-expected</a:t>
            </a:r>
            <a:r>
              <a:rPr lang="en-IN" sz="1600" dirty="0"/>
              <a:t> for cancelled or unassigned rides (No Driver Found).</a:t>
            </a:r>
          </a:p>
          <a:p>
            <a:pPr marL="285750" indent="-285750">
              <a:buFont typeface="Arial" panose="020B0604020202020204" pitchFamily="34" charset="0"/>
              <a:buChar char="•"/>
            </a:pPr>
            <a:r>
              <a:rPr lang="en-IN" sz="1600" dirty="0"/>
              <a:t>No imputations performed.</a:t>
            </a:r>
          </a:p>
          <a:p>
            <a:br>
              <a:rPr lang="en-IN" sz="1600" dirty="0"/>
            </a:br>
            <a:endParaRPr lang="en-IN" sz="1600" dirty="0"/>
          </a:p>
          <a:p>
            <a:r>
              <a:rPr lang="en-IN" sz="1600" b="1" dirty="0"/>
              <a:t>6. Logical Consistency Checks</a:t>
            </a:r>
          </a:p>
          <a:p>
            <a:pPr marL="285750" indent="-285750">
              <a:buFont typeface="Arial" panose="020B0604020202020204" pitchFamily="34" charset="0"/>
              <a:buChar char="•"/>
            </a:pPr>
            <a:endParaRPr lang="en-IN" sz="1600" b="1" dirty="0"/>
          </a:p>
          <a:p>
            <a:pPr marL="285750" indent="-285750">
              <a:buFont typeface="Arial" panose="020B0604020202020204" pitchFamily="34" charset="0"/>
              <a:buChar char="•"/>
            </a:pPr>
            <a:r>
              <a:rPr lang="en-IN" sz="1600" dirty="0"/>
              <a:t>Ensured </a:t>
            </a:r>
            <a:r>
              <a:rPr lang="en-IN" sz="1600" b="1" dirty="0"/>
              <a:t>Completed</a:t>
            </a:r>
            <a:r>
              <a:rPr lang="en-IN" sz="1600" dirty="0"/>
              <a:t> rides have valid distance, fare, and ratings.</a:t>
            </a:r>
          </a:p>
          <a:p>
            <a:pPr marL="285750" indent="-285750">
              <a:buFont typeface="Arial" panose="020B0604020202020204" pitchFamily="34" charset="0"/>
              <a:buChar char="•"/>
            </a:pPr>
            <a:r>
              <a:rPr lang="en-IN" sz="1600" dirty="0"/>
              <a:t>Confirmed no negative values, impossible distances, or out-of-range ratings.</a:t>
            </a:r>
          </a:p>
          <a:p>
            <a:pPr marL="285750" indent="-285750">
              <a:buFont typeface="Arial" panose="020B0604020202020204" pitchFamily="34" charset="0"/>
              <a:buChar char="•"/>
            </a:pPr>
            <a:r>
              <a:rPr lang="en-IN" sz="1600" dirty="0"/>
              <a:t>No duplicate rides found when using composite identifier.</a:t>
            </a:r>
          </a:p>
          <a:p>
            <a:endParaRPr lang="en-US" dirty="0"/>
          </a:p>
        </p:txBody>
      </p:sp>
      <p:sp>
        <p:nvSpPr>
          <p:cNvPr id="3" name="TextBox 2">
            <a:extLst>
              <a:ext uri="{FF2B5EF4-FFF2-40B4-BE49-F238E27FC236}">
                <a16:creationId xmlns:a16="http://schemas.microsoft.com/office/drawing/2014/main" id="{3790CAB0-8BD4-760F-1A0D-7166AF79DDA5}"/>
              </a:ext>
            </a:extLst>
          </p:cNvPr>
          <p:cNvSpPr txBox="1"/>
          <p:nvPr/>
        </p:nvSpPr>
        <p:spPr>
          <a:xfrm>
            <a:off x="293511" y="313225"/>
            <a:ext cx="3279488" cy="646331"/>
          </a:xfrm>
          <a:prstGeom prst="rect">
            <a:avLst/>
          </a:prstGeom>
          <a:noFill/>
        </p:spPr>
        <p:txBody>
          <a:bodyPr wrap="none" rtlCol="0">
            <a:spAutoFit/>
          </a:bodyPr>
          <a:lstStyle/>
          <a:p>
            <a:r>
              <a:rPr lang="en-IN" b="1" dirty="0">
                <a:solidFill>
                  <a:srgbClr val="166A3F"/>
                </a:solidFill>
              </a:rPr>
              <a:t>Data Cleaning Activities(2/2)</a:t>
            </a:r>
          </a:p>
          <a:p>
            <a:endParaRPr lang="en-US" dirty="0"/>
          </a:p>
        </p:txBody>
      </p:sp>
    </p:spTree>
    <p:extLst>
      <p:ext uri="{BB962C8B-B14F-4D97-AF65-F5344CB8AC3E}">
        <p14:creationId xmlns:p14="http://schemas.microsoft.com/office/powerpoint/2010/main" val="2336052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267CBB-A3A2-2CC3-DEC6-8C8BE38DB294}"/>
              </a:ext>
            </a:extLst>
          </p:cNvPr>
          <p:cNvSpPr txBox="1"/>
          <p:nvPr/>
        </p:nvSpPr>
        <p:spPr>
          <a:xfrm>
            <a:off x="1840089" y="2641600"/>
            <a:ext cx="7890933" cy="707886"/>
          </a:xfrm>
          <a:prstGeom prst="rect">
            <a:avLst/>
          </a:prstGeom>
          <a:noFill/>
        </p:spPr>
        <p:txBody>
          <a:bodyPr wrap="square" rtlCol="0">
            <a:spAutoFit/>
          </a:bodyPr>
          <a:lstStyle/>
          <a:p>
            <a:pPr algn="ctr"/>
            <a:r>
              <a:rPr lang="en-US" sz="4000" b="1" dirty="0">
                <a:solidFill>
                  <a:srgbClr val="166A3F"/>
                </a:solidFill>
                <a:latin typeface="Geeza Pro" panose="02000400000000000000" pitchFamily="2" charset="-78"/>
                <a:cs typeface="Geeza Pro" panose="02000400000000000000" pitchFamily="2" charset="-78"/>
              </a:rPr>
              <a:t>Exploratory Data Analysis</a:t>
            </a:r>
          </a:p>
        </p:txBody>
      </p:sp>
    </p:spTree>
    <p:extLst>
      <p:ext uri="{BB962C8B-B14F-4D97-AF65-F5344CB8AC3E}">
        <p14:creationId xmlns:p14="http://schemas.microsoft.com/office/powerpoint/2010/main" val="3543728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8BBB98-7E49-5433-DBE7-7911AAD7BD03}"/>
              </a:ext>
            </a:extLst>
          </p:cNvPr>
          <p:cNvSpPr txBox="1"/>
          <p:nvPr/>
        </p:nvSpPr>
        <p:spPr>
          <a:xfrm>
            <a:off x="620889" y="191911"/>
            <a:ext cx="7016664" cy="6309420"/>
          </a:xfrm>
          <a:prstGeom prst="rect">
            <a:avLst/>
          </a:prstGeom>
          <a:noFill/>
        </p:spPr>
        <p:txBody>
          <a:bodyPr wrap="none" rtlCol="0">
            <a:spAutoFit/>
          </a:bodyPr>
          <a:lstStyle/>
          <a:p>
            <a:r>
              <a:rPr lang="en-IN" b="1" dirty="0">
                <a:solidFill>
                  <a:srgbClr val="166A3F"/>
                </a:solidFill>
              </a:rPr>
              <a:t>Higher Metrics Overview </a:t>
            </a:r>
          </a:p>
          <a:p>
            <a:endParaRPr lang="en-IN" sz="1600" dirty="0"/>
          </a:p>
          <a:p>
            <a:r>
              <a:rPr lang="en-IN" sz="1600" b="1" dirty="0"/>
              <a:t>Ride Volume &amp; Outcomes</a:t>
            </a:r>
          </a:p>
          <a:p>
            <a:pPr marL="285750" indent="-285750">
              <a:buFont typeface="Arial" panose="020B0604020202020204" pitchFamily="34" charset="0"/>
              <a:buChar char="•"/>
            </a:pPr>
            <a:r>
              <a:rPr lang="en-IN" sz="1600" b="1" dirty="0"/>
              <a:t>Total Rides:</a:t>
            </a:r>
            <a:r>
              <a:rPr lang="en-IN" sz="1600" dirty="0"/>
              <a:t> 150,000</a:t>
            </a:r>
          </a:p>
          <a:p>
            <a:pPr marL="285750" indent="-285750">
              <a:buFont typeface="Arial" panose="020B0604020202020204" pitchFamily="34" charset="0"/>
              <a:buChar char="•"/>
            </a:pPr>
            <a:r>
              <a:rPr lang="en-IN" sz="1600" b="1" dirty="0"/>
              <a:t>Completed Rides:</a:t>
            </a:r>
            <a:r>
              <a:rPr lang="en-IN" sz="1600" dirty="0"/>
              <a:t> 93,000</a:t>
            </a:r>
          </a:p>
          <a:p>
            <a:pPr marL="285750" indent="-285750">
              <a:buFont typeface="Arial" panose="020B0604020202020204" pitchFamily="34" charset="0"/>
              <a:buChar char="•"/>
            </a:pPr>
            <a:r>
              <a:rPr lang="en-IN" sz="1600" b="1" dirty="0"/>
              <a:t>Customer + Driver Cancellations:</a:t>
            </a:r>
            <a:r>
              <a:rPr lang="en-IN" sz="1600" dirty="0"/>
              <a:t> 37,500</a:t>
            </a:r>
          </a:p>
          <a:p>
            <a:pPr marL="285750" indent="-285750">
              <a:buFont typeface="Arial" panose="020B0604020202020204" pitchFamily="34" charset="0"/>
              <a:buChar char="•"/>
            </a:pPr>
            <a:r>
              <a:rPr lang="en-IN" sz="1600" b="1" dirty="0"/>
              <a:t>No Driver Found:</a:t>
            </a:r>
            <a:r>
              <a:rPr lang="en-IN" sz="1600" dirty="0"/>
              <a:t> 10,500</a:t>
            </a:r>
          </a:p>
          <a:p>
            <a:pPr marL="285750" indent="-285750">
              <a:buFont typeface="Arial" panose="020B0604020202020204" pitchFamily="34" charset="0"/>
              <a:buChar char="•"/>
            </a:pPr>
            <a:r>
              <a:rPr lang="en-IN" sz="1600" b="1" dirty="0"/>
              <a:t>Incomplete Rides:</a:t>
            </a:r>
            <a:r>
              <a:rPr lang="en-IN" sz="1600" dirty="0"/>
              <a:t> 9,000</a:t>
            </a:r>
          </a:p>
          <a:p>
            <a:pPr marL="285750" indent="-285750">
              <a:buFont typeface="Arial" panose="020B0604020202020204" pitchFamily="34" charset="0"/>
              <a:buChar char="•"/>
            </a:pPr>
            <a:r>
              <a:rPr lang="en-IN" sz="1600" b="1" dirty="0"/>
              <a:t>Overall Completion Rate:</a:t>
            </a:r>
            <a:r>
              <a:rPr lang="en-IN" sz="1600" dirty="0"/>
              <a:t> </a:t>
            </a:r>
            <a:r>
              <a:rPr lang="en-IN" sz="1600" b="1" dirty="0"/>
              <a:t>62%</a:t>
            </a:r>
            <a:endParaRPr lang="en-IN" sz="1600" dirty="0"/>
          </a:p>
          <a:p>
            <a:endParaRPr lang="en-IN" sz="1600" dirty="0"/>
          </a:p>
          <a:p>
            <a:r>
              <a:rPr lang="en-IN" sz="1600" b="1" dirty="0"/>
              <a:t>Ride Quality &amp; Cost</a:t>
            </a:r>
          </a:p>
          <a:p>
            <a:pPr marL="285750" indent="-285750">
              <a:buFont typeface="Arial" panose="020B0604020202020204" pitchFamily="34" charset="0"/>
              <a:buChar char="•"/>
            </a:pPr>
            <a:r>
              <a:rPr lang="en-IN" sz="1600" b="1" dirty="0"/>
              <a:t>Average Fare:</a:t>
            </a:r>
            <a:r>
              <a:rPr lang="en-IN" sz="1600" dirty="0"/>
              <a:t> ₹508.30</a:t>
            </a:r>
          </a:p>
          <a:p>
            <a:pPr marL="285750" indent="-285750">
              <a:buFont typeface="Arial" panose="020B0604020202020204" pitchFamily="34" charset="0"/>
              <a:buChar char="•"/>
            </a:pPr>
            <a:r>
              <a:rPr lang="en-IN" sz="1600" b="1" dirty="0"/>
              <a:t>Average Driver Rating:</a:t>
            </a:r>
            <a:r>
              <a:rPr lang="en-IN" sz="1600" dirty="0"/>
              <a:t> 4.2</a:t>
            </a:r>
          </a:p>
          <a:p>
            <a:pPr marL="285750" indent="-285750">
              <a:buFont typeface="Arial" panose="020B0604020202020204" pitchFamily="34" charset="0"/>
              <a:buChar char="•"/>
            </a:pPr>
            <a:r>
              <a:rPr lang="en-IN" sz="1600" b="1" dirty="0"/>
              <a:t>Average Customer Rating:</a:t>
            </a:r>
            <a:r>
              <a:rPr lang="en-IN" sz="1600" dirty="0"/>
              <a:t> 4.4</a:t>
            </a:r>
          </a:p>
          <a:p>
            <a:br>
              <a:rPr lang="en-IN" sz="1600" dirty="0"/>
            </a:br>
            <a:endParaRPr lang="en-IN" sz="1600" dirty="0"/>
          </a:p>
          <a:p>
            <a:r>
              <a:rPr lang="en-IN" sz="1600" b="1" dirty="0"/>
              <a:t>Peak Ride Demand (Hourly)</a:t>
            </a:r>
          </a:p>
          <a:p>
            <a:endParaRPr lang="en-IN" sz="1600" dirty="0"/>
          </a:p>
          <a:p>
            <a:r>
              <a:rPr lang="en-IN" sz="1600" dirty="0"/>
              <a:t>Highest booking activity occurs during the </a:t>
            </a:r>
            <a:r>
              <a:rPr lang="en-IN" sz="1600" b="1" dirty="0"/>
              <a:t>evening commute window</a:t>
            </a:r>
            <a:r>
              <a:rPr lang="en-IN" sz="1600" dirty="0"/>
              <a:t>:</a:t>
            </a:r>
          </a:p>
          <a:p>
            <a:pPr marL="285750" indent="-285750">
              <a:buFont typeface="Arial" panose="020B0604020202020204" pitchFamily="34" charset="0"/>
              <a:buChar char="•"/>
            </a:pPr>
            <a:r>
              <a:rPr lang="en-IN" sz="1600" b="1" dirty="0"/>
              <a:t>6 PM (18:00)</a:t>
            </a:r>
            <a:r>
              <a:rPr lang="en-IN" sz="1600" dirty="0"/>
              <a:t> → 12,397 rides</a:t>
            </a:r>
          </a:p>
          <a:p>
            <a:pPr marL="285750" indent="-285750">
              <a:buFont typeface="Arial" panose="020B0604020202020204" pitchFamily="34" charset="0"/>
              <a:buChar char="•"/>
            </a:pPr>
            <a:r>
              <a:rPr lang="en-IN" sz="1600" b="1" dirty="0"/>
              <a:t>7 PM (19:00)</a:t>
            </a:r>
            <a:r>
              <a:rPr lang="en-IN" sz="1600" dirty="0"/>
              <a:t> → 11,047 rides</a:t>
            </a:r>
          </a:p>
          <a:p>
            <a:pPr marL="285750" indent="-285750">
              <a:buFont typeface="Arial" panose="020B0604020202020204" pitchFamily="34" charset="0"/>
              <a:buChar char="•"/>
            </a:pPr>
            <a:r>
              <a:rPr lang="en-IN" sz="1600" b="1" dirty="0"/>
              <a:t>5 PM (17:00)</a:t>
            </a:r>
            <a:r>
              <a:rPr lang="en-IN" sz="1600" dirty="0"/>
              <a:t> → 11,044 rides</a:t>
            </a:r>
          </a:p>
          <a:p>
            <a:endParaRPr lang="en-IN" sz="1600" dirty="0"/>
          </a:p>
          <a:p>
            <a:r>
              <a:rPr lang="en-IN" sz="1600" b="1" dirty="0"/>
              <a:t>Insight:</a:t>
            </a:r>
            <a:r>
              <a:rPr lang="en-IN" sz="1600" dirty="0"/>
              <a:t> Evening peak (5 PM–8 PM) is the dominant demand zone in NCR.</a:t>
            </a:r>
          </a:p>
          <a:p>
            <a:endParaRPr lang="en-US" dirty="0"/>
          </a:p>
        </p:txBody>
      </p:sp>
    </p:spTree>
    <p:extLst>
      <p:ext uri="{BB962C8B-B14F-4D97-AF65-F5344CB8AC3E}">
        <p14:creationId xmlns:p14="http://schemas.microsoft.com/office/powerpoint/2010/main" val="2321764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3D6DA29-05A3-D711-CC29-810A570F5F89}"/>
              </a:ext>
            </a:extLst>
          </p:cNvPr>
          <p:cNvGraphicFramePr>
            <a:graphicFrameLocks noGrp="1"/>
          </p:cNvGraphicFramePr>
          <p:nvPr>
            <p:extLst>
              <p:ext uri="{D42A27DB-BD31-4B8C-83A1-F6EECF244321}">
                <p14:modId xmlns:p14="http://schemas.microsoft.com/office/powerpoint/2010/main" val="3509573112"/>
              </p:ext>
            </p:extLst>
          </p:nvPr>
        </p:nvGraphicFramePr>
        <p:xfrm>
          <a:off x="443090" y="981907"/>
          <a:ext cx="9242778" cy="2011680"/>
        </p:xfrm>
        <a:graphic>
          <a:graphicData uri="http://schemas.openxmlformats.org/drawingml/2006/table">
            <a:tbl>
              <a:tblPr/>
              <a:tblGrid>
                <a:gridCol w="3080926">
                  <a:extLst>
                    <a:ext uri="{9D8B030D-6E8A-4147-A177-3AD203B41FA5}">
                      <a16:colId xmlns:a16="http://schemas.microsoft.com/office/drawing/2014/main" val="89079540"/>
                    </a:ext>
                  </a:extLst>
                </a:gridCol>
                <a:gridCol w="3080926">
                  <a:extLst>
                    <a:ext uri="{9D8B030D-6E8A-4147-A177-3AD203B41FA5}">
                      <a16:colId xmlns:a16="http://schemas.microsoft.com/office/drawing/2014/main" val="1754905356"/>
                    </a:ext>
                  </a:extLst>
                </a:gridCol>
                <a:gridCol w="3080926">
                  <a:extLst>
                    <a:ext uri="{9D8B030D-6E8A-4147-A177-3AD203B41FA5}">
                      <a16:colId xmlns:a16="http://schemas.microsoft.com/office/drawing/2014/main" val="1442530512"/>
                    </a:ext>
                  </a:extLst>
                </a:gridCol>
              </a:tblGrid>
              <a:tr h="310603">
                <a:tc>
                  <a:txBody>
                    <a:bodyPr/>
                    <a:lstStyle/>
                    <a:p>
                      <a:pPr>
                        <a:buNone/>
                      </a:pPr>
                      <a:r>
                        <a:rPr lang="en-IN" sz="1600" b="1"/>
                        <a:t>Status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Count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Share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848191"/>
                  </a:ext>
                </a:extLst>
              </a:tr>
              <a:tr h="310603">
                <a:tc>
                  <a:txBody>
                    <a:bodyPr/>
                    <a:lstStyle/>
                    <a:p>
                      <a:pPr>
                        <a:buNone/>
                      </a:pPr>
                      <a:r>
                        <a:rPr lang="en-IN" sz="1600" b="1" dirty="0"/>
                        <a:t>Completed</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93,000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62%</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5902303"/>
                  </a:ext>
                </a:extLst>
              </a:tr>
              <a:tr h="310603">
                <a:tc>
                  <a:txBody>
                    <a:bodyPr/>
                    <a:lstStyle/>
                    <a:p>
                      <a:pPr>
                        <a:buNone/>
                      </a:pPr>
                      <a:r>
                        <a:rPr lang="en-IN" sz="1600" b="1" dirty="0"/>
                        <a:t>Cancelled by Driver</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18%</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7039850"/>
                  </a:ext>
                </a:extLst>
              </a:tr>
              <a:tr h="310603">
                <a:tc>
                  <a:txBody>
                    <a:bodyPr/>
                    <a:lstStyle/>
                    <a:p>
                      <a:pPr>
                        <a:buNone/>
                      </a:pPr>
                      <a:r>
                        <a:rPr lang="en-IN" sz="1600" b="1"/>
                        <a:t>No Driver Found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7%</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0546087"/>
                  </a:ext>
                </a:extLst>
              </a:tr>
              <a:tr h="310603">
                <a:tc>
                  <a:txBody>
                    <a:bodyPr/>
                    <a:lstStyle/>
                    <a:p>
                      <a:pPr>
                        <a:buNone/>
                      </a:pPr>
                      <a:r>
                        <a:rPr lang="en-IN" sz="1600" b="1" dirty="0"/>
                        <a:t>Cancelled by Customer</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7%</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2825334"/>
                  </a:ext>
                </a:extLst>
              </a:tr>
              <a:tr h="310603">
                <a:tc>
                  <a:txBody>
                    <a:bodyPr/>
                    <a:lstStyle/>
                    <a:p>
                      <a:pPr>
                        <a:buNone/>
                      </a:pPr>
                      <a:r>
                        <a:rPr lang="en-IN" sz="1600" b="1" dirty="0"/>
                        <a:t>Incomplete</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9,000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6%</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613807"/>
                  </a:ext>
                </a:extLst>
              </a:tr>
            </a:tbl>
          </a:graphicData>
        </a:graphic>
      </p:graphicFrame>
      <p:sp>
        <p:nvSpPr>
          <p:cNvPr id="4" name="TextBox 3">
            <a:extLst>
              <a:ext uri="{FF2B5EF4-FFF2-40B4-BE49-F238E27FC236}">
                <a16:creationId xmlns:a16="http://schemas.microsoft.com/office/drawing/2014/main" id="{C19CDDEB-3291-3299-BB90-5AE346FF02DA}"/>
              </a:ext>
            </a:extLst>
          </p:cNvPr>
          <p:cNvSpPr txBox="1"/>
          <p:nvPr/>
        </p:nvSpPr>
        <p:spPr>
          <a:xfrm>
            <a:off x="443090" y="304799"/>
            <a:ext cx="3103735" cy="677108"/>
          </a:xfrm>
          <a:prstGeom prst="rect">
            <a:avLst/>
          </a:prstGeom>
          <a:noFill/>
        </p:spPr>
        <p:txBody>
          <a:bodyPr wrap="none" rtlCol="0">
            <a:spAutoFit/>
          </a:bodyPr>
          <a:lstStyle/>
          <a:p>
            <a:r>
              <a:rPr lang="en-IN" sz="2000" b="1" dirty="0">
                <a:solidFill>
                  <a:srgbClr val="166A3F"/>
                </a:solidFill>
              </a:rPr>
              <a:t>Ride Status Distribution</a:t>
            </a:r>
          </a:p>
          <a:p>
            <a:endParaRPr lang="en-US" dirty="0"/>
          </a:p>
        </p:txBody>
      </p:sp>
      <p:sp>
        <p:nvSpPr>
          <p:cNvPr id="5" name="TextBox 4">
            <a:extLst>
              <a:ext uri="{FF2B5EF4-FFF2-40B4-BE49-F238E27FC236}">
                <a16:creationId xmlns:a16="http://schemas.microsoft.com/office/drawing/2014/main" id="{11F3A94A-337C-C7A7-19EE-CEB9A19784CD}"/>
              </a:ext>
            </a:extLst>
          </p:cNvPr>
          <p:cNvSpPr txBox="1"/>
          <p:nvPr/>
        </p:nvSpPr>
        <p:spPr>
          <a:xfrm>
            <a:off x="386615" y="3798402"/>
            <a:ext cx="5314275" cy="646331"/>
          </a:xfrm>
          <a:prstGeom prst="rect">
            <a:avLst/>
          </a:prstGeom>
          <a:noFill/>
        </p:spPr>
        <p:txBody>
          <a:bodyPr wrap="none" rtlCol="0">
            <a:spAutoFit/>
          </a:bodyPr>
          <a:lstStyle/>
          <a:p>
            <a:r>
              <a:rPr lang="en-IN" b="1" dirty="0">
                <a:solidFill>
                  <a:srgbClr val="166A3F"/>
                </a:solidFill>
              </a:rPr>
              <a:t>Driver vs Customer Cancellation Overview(1/2)</a:t>
            </a:r>
          </a:p>
          <a:p>
            <a:endParaRPr lang="en-US" dirty="0"/>
          </a:p>
        </p:txBody>
      </p:sp>
      <p:graphicFrame>
        <p:nvGraphicFramePr>
          <p:cNvPr id="7" name="Table 6">
            <a:extLst>
              <a:ext uri="{FF2B5EF4-FFF2-40B4-BE49-F238E27FC236}">
                <a16:creationId xmlns:a16="http://schemas.microsoft.com/office/drawing/2014/main" id="{0D47714C-27FD-6ED8-55CB-C43D4B177466}"/>
              </a:ext>
            </a:extLst>
          </p:cNvPr>
          <p:cNvGraphicFramePr>
            <a:graphicFrameLocks noGrp="1"/>
          </p:cNvGraphicFramePr>
          <p:nvPr>
            <p:extLst>
              <p:ext uri="{D42A27DB-BD31-4B8C-83A1-F6EECF244321}">
                <p14:modId xmlns:p14="http://schemas.microsoft.com/office/powerpoint/2010/main" val="32980432"/>
              </p:ext>
            </p:extLst>
          </p:nvPr>
        </p:nvGraphicFramePr>
        <p:xfrm>
          <a:off x="443090" y="4312728"/>
          <a:ext cx="10515600" cy="1005840"/>
        </p:xfrm>
        <a:graphic>
          <a:graphicData uri="http://schemas.openxmlformats.org/drawingml/2006/table">
            <a:tbl>
              <a:tblPr/>
              <a:tblGrid>
                <a:gridCol w="3505200">
                  <a:extLst>
                    <a:ext uri="{9D8B030D-6E8A-4147-A177-3AD203B41FA5}">
                      <a16:colId xmlns:a16="http://schemas.microsoft.com/office/drawing/2014/main" val="1134370015"/>
                    </a:ext>
                  </a:extLst>
                </a:gridCol>
                <a:gridCol w="3505200">
                  <a:extLst>
                    <a:ext uri="{9D8B030D-6E8A-4147-A177-3AD203B41FA5}">
                      <a16:colId xmlns:a16="http://schemas.microsoft.com/office/drawing/2014/main" val="263277492"/>
                    </a:ext>
                  </a:extLst>
                </a:gridCol>
                <a:gridCol w="3505200">
                  <a:extLst>
                    <a:ext uri="{9D8B030D-6E8A-4147-A177-3AD203B41FA5}">
                      <a16:colId xmlns:a16="http://schemas.microsoft.com/office/drawing/2014/main" val="2702676559"/>
                    </a:ext>
                  </a:extLst>
                </a:gridCol>
              </a:tblGrid>
              <a:tr h="0">
                <a:tc>
                  <a:txBody>
                    <a:bodyPr/>
                    <a:lstStyle/>
                    <a:p>
                      <a:pPr>
                        <a:buNone/>
                      </a:pPr>
                      <a:r>
                        <a:rPr lang="en-IN" sz="1600" b="1"/>
                        <a:t>Type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Count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Share of All Cancellations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2385473"/>
                  </a:ext>
                </a:extLst>
              </a:tr>
              <a:tr h="0">
                <a:tc>
                  <a:txBody>
                    <a:bodyPr/>
                    <a:lstStyle/>
                    <a:p>
                      <a:pPr>
                        <a:buNone/>
                      </a:pPr>
                      <a:r>
                        <a:rPr lang="en-IN" sz="1600" b="1"/>
                        <a:t>Cancelled by Driver</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27,000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72%</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1254747"/>
                  </a:ext>
                </a:extLst>
              </a:tr>
              <a:tr h="0">
                <a:tc>
                  <a:txBody>
                    <a:bodyPr/>
                    <a:lstStyle/>
                    <a:p>
                      <a:pPr>
                        <a:buNone/>
                      </a:pPr>
                      <a:r>
                        <a:rPr lang="en-IN" sz="1600" b="1"/>
                        <a:t>Cancelled by Customer</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28%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6261508"/>
                  </a:ext>
                </a:extLst>
              </a:tr>
            </a:tbl>
          </a:graphicData>
        </a:graphic>
      </p:graphicFrame>
      <p:sp>
        <p:nvSpPr>
          <p:cNvPr id="8" name="TextBox 7">
            <a:extLst>
              <a:ext uri="{FF2B5EF4-FFF2-40B4-BE49-F238E27FC236}">
                <a16:creationId xmlns:a16="http://schemas.microsoft.com/office/drawing/2014/main" id="{32DD70CF-081E-0649-2826-6E75A3CBCAF2}"/>
              </a:ext>
            </a:extLst>
          </p:cNvPr>
          <p:cNvSpPr txBox="1"/>
          <p:nvPr/>
        </p:nvSpPr>
        <p:spPr>
          <a:xfrm>
            <a:off x="428273" y="5700889"/>
            <a:ext cx="4636206" cy="615553"/>
          </a:xfrm>
          <a:prstGeom prst="rect">
            <a:avLst/>
          </a:prstGeom>
          <a:noFill/>
        </p:spPr>
        <p:txBody>
          <a:bodyPr wrap="none" rtlCol="0">
            <a:spAutoFit/>
          </a:bodyPr>
          <a:lstStyle/>
          <a:p>
            <a:r>
              <a:rPr lang="en-IN" sz="1600" dirty="0"/>
              <a:t>(Driver cancels almost 3X more than customers.)</a:t>
            </a:r>
          </a:p>
          <a:p>
            <a:endParaRPr lang="en-US" dirty="0"/>
          </a:p>
        </p:txBody>
      </p:sp>
      <p:sp>
        <p:nvSpPr>
          <p:cNvPr id="9" name="TextBox 8">
            <a:extLst>
              <a:ext uri="{FF2B5EF4-FFF2-40B4-BE49-F238E27FC236}">
                <a16:creationId xmlns:a16="http://schemas.microsoft.com/office/drawing/2014/main" id="{0B70C2B3-53EE-8826-F5F1-C474B875DE1A}"/>
              </a:ext>
            </a:extLst>
          </p:cNvPr>
          <p:cNvSpPr txBox="1"/>
          <p:nvPr/>
        </p:nvSpPr>
        <p:spPr>
          <a:xfrm>
            <a:off x="386615" y="3192207"/>
            <a:ext cx="10377309" cy="492443"/>
          </a:xfrm>
          <a:prstGeom prst="rect">
            <a:avLst/>
          </a:prstGeom>
          <a:noFill/>
        </p:spPr>
        <p:txBody>
          <a:bodyPr wrap="square" rtlCol="0">
            <a:spAutoFit/>
          </a:bodyPr>
          <a:lstStyle/>
          <a:p>
            <a:r>
              <a:rPr lang="en-IN" sz="1300" b="1" dirty="0"/>
              <a:t>Incomplete rides </a:t>
            </a:r>
            <a:r>
              <a:rPr lang="en-IN" sz="1300" dirty="0"/>
              <a:t>:Rides where a driver was successfully assigned and arrived (typically within ~6 mins), but the trip ended prematurely without a standard 'Complete' status. This likely indicates app crashes, GPS signal loss, or disputes at the pickup point."</a:t>
            </a:r>
            <a:endParaRPr lang="en-US" sz="1300" dirty="0"/>
          </a:p>
        </p:txBody>
      </p:sp>
    </p:spTree>
    <p:extLst>
      <p:ext uri="{BB962C8B-B14F-4D97-AF65-F5344CB8AC3E}">
        <p14:creationId xmlns:p14="http://schemas.microsoft.com/office/powerpoint/2010/main" val="2921123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A4B448-D389-DD52-5CC3-5BA6289CED18}"/>
              </a:ext>
            </a:extLst>
          </p:cNvPr>
          <p:cNvSpPr txBox="1"/>
          <p:nvPr/>
        </p:nvSpPr>
        <p:spPr>
          <a:xfrm>
            <a:off x="462845" y="956734"/>
            <a:ext cx="8691803" cy="5262979"/>
          </a:xfrm>
          <a:prstGeom prst="rect">
            <a:avLst/>
          </a:prstGeom>
          <a:noFill/>
        </p:spPr>
        <p:txBody>
          <a:bodyPr wrap="none" rtlCol="0">
            <a:spAutoFit/>
          </a:bodyPr>
          <a:lstStyle/>
          <a:p>
            <a:r>
              <a:rPr lang="en-IN" b="1" dirty="0"/>
              <a:t>1. Driver cancellations dominate (72%)</a:t>
            </a:r>
          </a:p>
          <a:p>
            <a:endParaRPr lang="en-IN" dirty="0"/>
          </a:p>
          <a:p>
            <a:r>
              <a:rPr lang="en-IN" sz="1600" dirty="0"/>
              <a:t>Drivers cancel </a:t>
            </a:r>
            <a:r>
              <a:rPr lang="en-IN" sz="1600" b="1" dirty="0"/>
              <a:t>almost three-quarters</a:t>
            </a:r>
            <a:r>
              <a:rPr lang="en-IN" sz="1600" dirty="0"/>
              <a:t> of all cancelled rides — a major operational bottleneck.</a:t>
            </a:r>
            <a:br>
              <a:rPr lang="en-IN" dirty="0"/>
            </a:br>
            <a:endParaRPr lang="en-IN" dirty="0"/>
          </a:p>
          <a:p>
            <a:r>
              <a:rPr lang="en-IN" b="1" dirty="0"/>
              <a:t>2. Customer cancellations form the remaining 28%</a:t>
            </a:r>
          </a:p>
          <a:p>
            <a:endParaRPr lang="en-IN" dirty="0"/>
          </a:p>
          <a:p>
            <a:r>
              <a:rPr lang="en-IN" sz="1600" dirty="0"/>
              <a:t>These are comparatively low and may be driven by wait-time frustration or change in plans.</a:t>
            </a:r>
          </a:p>
          <a:p>
            <a:br>
              <a:rPr lang="en-IN" sz="1600" dirty="0"/>
            </a:br>
            <a:endParaRPr lang="en-IN" sz="1600" dirty="0"/>
          </a:p>
          <a:p>
            <a:r>
              <a:rPr lang="en-IN" b="1" dirty="0"/>
              <a:t>3. Imbalance indicates structural issues</a:t>
            </a:r>
          </a:p>
          <a:p>
            <a:pPr marL="285750" indent="-285750">
              <a:buFont typeface="Arial" panose="020B0604020202020204" pitchFamily="34" charset="0"/>
              <a:buChar char="•"/>
            </a:pPr>
            <a:endParaRPr lang="en-IN" sz="1600" dirty="0"/>
          </a:p>
          <a:p>
            <a:r>
              <a:rPr lang="en-IN" sz="1600" dirty="0"/>
              <a:t>High driver cancellations suggest:</a:t>
            </a:r>
          </a:p>
          <a:p>
            <a:endParaRPr lang="en-IN" sz="1600" dirty="0"/>
          </a:p>
          <a:p>
            <a:pPr marL="285750" indent="-285750">
              <a:buFont typeface="Arial" panose="020B0604020202020204" pitchFamily="34" charset="0"/>
              <a:buChar char="•"/>
            </a:pPr>
            <a:r>
              <a:rPr lang="en-IN" sz="1600" dirty="0"/>
              <a:t>long pickup distances</a:t>
            </a:r>
          </a:p>
          <a:p>
            <a:pPr marL="285750" indent="-285750">
              <a:buFont typeface="Arial" panose="020B0604020202020204" pitchFamily="34" charset="0"/>
              <a:buChar char="•"/>
            </a:pPr>
            <a:r>
              <a:rPr lang="en-IN" sz="1600" dirty="0"/>
              <a:t>trip unprofitability</a:t>
            </a:r>
          </a:p>
          <a:p>
            <a:pPr marL="285750" indent="-285750">
              <a:buFont typeface="Arial" panose="020B0604020202020204" pitchFamily="34" charset="0"/>
              <a:buChar char="•"/>
            </a:pPr>
            <a:r>
              <a:rPr lang="en-IN" sz="1600" dirty="0"/>
              <a:t>mismatch between driver supply &amp; location</a:t>
            </a:r>
          </a:p>
          <a:p>
            <a:pPr marL="285750" indent="-285750">
              <a:buFont typeface="Arial" panose="020B0604020202020204" pitchFamily="34" charset="0"/>
              <a:buChar char="•"/>
            </a:pPr>
            <a:r>
              <a:rPr lang="en-IN" sz="1600" dirty="0"/>
              <a:t>driver avoidance of low-rated customers</a:t>
            </a:r>
          </a:p>
          <a:p>
            <a:pPr marL="285750" indent="-285750">
              <a:buFont typeface="Arial" panose="020B0604020202020204" pitchFamily="34" charset="0"/>
              <a:buChar char="•"/>
            </a:pPr>
            <a:r>
              <a:rPr lang="en-IN" sz="1600" dirty="0"/>
              <a:t>lack of incentives</a:t>
            </a:r>
          </a:p>
          <a:p>
            <a:br>
              <a:rPr lang="en-IN" dirty="0"/>
            </a:br>
            <a:endParaRPr lang="en-US" dirty="0"/>
          </a:p>
        </p:txBody>
      </p:sp>
      <p:sp>
        <p:nvSpPr>
          <p:cNvPr id="3" name="TextBox 2">
            <a:extLst>
              <a:ext uri="{FF2B5EF4-FFF2-40B4-BE49-F238E27FC236}">
                <a16:creationId xmlns:a16="http://schemas.microsoft.com/office/drawing/2014/main" id="{20B8DB3D-D42D-1586-314B-3AC1DDE1AC91}"/>
              </a:ext>
            </a:extLst>
          </p:cNvPr>
          <p:cNvSpPr txBox="1"/>
          <p:nvPr/>
        </p:nvSpPr>
        <p:spPr>
          <a:xfrm>
            <a:off x="380214" y="310403"/>
            <a:ext cx="5314275" cy="646331"/>
          </a:xfrm>
          <a:prstGeom prst="rect">
            <a:avLst/>
          </a:prstGeom>
          <a:noFill/>
        </p:spPr>
        <p:txBody>
          <a:bodyPr wrap="none" rtlCol="0">
            <a:spAutoFit/>
          </a:bodyPr>
          <a:lstStyle/>
          <a:p>
            <a:r>
              <a:rPr lang="en-IN" b="1" dirty="0">
                <a:solidFill>
                  <a:srgbClr val="166A3F"/>
                </a:solidFill>
              </a:rPr>
              <a:t>Driver vs Customer Cancellation Overview(2/2)</a:t>
            </a:r>
          </a:p>
          <a:p>
            <a:endParaRPr lang="en-US" dirty="0"/>
          </a:p>
        </p:txBody>
      </p:sp>
    </p:spTree>
    <p:extLst>
      <p:ext uri="{BB962C8B-B14F-4D97-AF65-F5344CB8AC3E}">
        <p14:creationId xmlns:p14="http://schemas.microsoft.com/office/powerpoint/2010/main" val="4166280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5A0289-7F86-0125-D729-4D3B3FA25B25}"/>
              </a:ext>
            </a:extLst>
          </p:cNvPr>
          <p:cNvSpPr txBox="1"/>
          <p:nvPr/>
        </p:nvSpPr>
        <p:spPr>
          <a:xfrm>
            <a:off x="431800" y="270614"/>
            <a:ext cx="3788217" cy="646331"/>
          </a:xfrm>
          <a:prstGeom prst="rect">
            <a:avLst/>
          </a:prstGeom>
          <a:noFill/>
        </p:spPr>
        <p:txBody>
          <a:bodyPr wrap="none" rtlCol="0">
            <a:spAutoFit/>
          </a:bodyPr>
          <a:lstStyle/>
          <a:p>
            <a:r>
              <a:rPr lang="en-IN" b="1" dirty="0">
                <a:solidFill>
                  <a:srgbClr val="166A3F"/>
                </a:solidFill>
              </a:rPr>
              <a:t>Driver Cancellation Reasons(1/2)</a:t>
            </a:r>
          </a:p>
          <a:p>
            <a:endParaRPr lang="en-US" dirty="0"/>
          </a:p>
        </p:txBody>
      </p:sp>
      <p:graphicFrame>
        <p:nvGraphicFramePr>
          <p:cNvPr id="4" name="Table 3">
            <a:extLst>
              <a:ext uri="{FF2B5EF4-FFF2-40B4-BE49-F238E27FC236}">
                <a16:creationId xmlns:a16="http://schemas.microsoft.com/office/drawing/2014/main" id="{81642DA4-A552-3800-486D-D3D9289CD67C}"/>
              </a:ext>
            </a:extLst>
          </p:cNvPr>
          <p:cNvGraphicFramePr>
            <a:graphicFrameLocks noGrp="1"/>
          </p:cNvGraphicFramePr>
          <p:nvPr>
            <p:extLst>
              <p:ext uri="{D42A27DB-BD31-4B8C-83A1-F6EECF244321}">
                <p14:modId xmlns:p14="http://schemas.microsoft.com/office/powerpoint/2010/main" val="2458627308"/>
              </p:ext>
            </p:extLst>
          </p:nvPr>
        </p:nvGraphicFramePr>
        <p:xfrm>
          <a:off x="555978" y="1085778"/>
          <a:ext cx="10515600" cy="1676400"/>
        </p:xfrm>
        <a:graphic>
          <a:graphicData uri="http://schemas.openxmlformats.org/drawingml/2006/table">
            <a:tbl>
              <a:tblPr/>
              <a:tblGrid>
                <a:gridCol w="5257800">
                  <a:extLst>
                    <a:ext uri="{9D8B030D-6E8A-4147-A177-3AD203B41FA5}">
                      <a16:colId xmlns:a16="http://schemas.microsoft.com/office/drawing/2014/main" val="2505205007"/>
                    </a:ext>
                  </a:extLst>
                </a:gridCol>
                <a:gridCol w="5257800">
                  <a:extLst>
                    <a:ext uri="{9D8B030D-6E8A-4147-A177-3AD203B41FA5}">
                      <a16:colId xmlns:a16="http://schemas.microsoft.com/office/drawing/2014/main" val="841888334"/>
                    </a:ext>
                  </a:extLst>
                </a:gridCol>
              </a:tblGrid>
              <a:tr h="0">
                <a:tc>
                  <a:txBody>
                    <a:bodyPr/>
                    <a:lstStyle/>
                    <a:p>
                      <a:pPr>
                        <a:buNone/>
                      </a:pPr>
                      <a:r>
                        <a:rPr lang="en-IN" sz="1600" b="1"/>
                        <a:t>Reason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Count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3309950"/>
                  </a:ext>
                </a:extLst>
              </a:tr>
              <a:tr h="0">
                <a:tc>
                  <a:txBody>
                    <a:bodyPr/>
                    <a:lstStyle/>
                    <a:p>
                      <a:pPr>
                        <a:buNone/>
                      </a:pPr>
                      <a:r>
                        <a:rPr lang="en-IN" sz="1600" b="1"/>
                        <a:t>Customer related issue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6,837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5449360"/>
                  </a:ext>
                </a:extLst>
              </a:tr>
              <a:tr h="0">
                <a:tc>
                  <a:txBody>
                    <a:bodyPr/>
                    <a:lstStyle/>
                    <a:p>
                      <a:pPr>
                        <a:buNone/>
                      </a:pPr>
                      <a:r>
                        <a:rPr lang="en-IN" sz="1600" b="1"/>
                        <a:t>The customer was coughing/sick</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6,751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4768445"/>
                  </a:ext>
                </a:extLst>
              </a:tr>
              <a:tr h="0">
                <a:tc>
                  <a:txBody>
                    <a:bodyPr/>
                    <a:lstStyle/>
                    <a:p>
                      <a:pPr>
                        <a:buNone/>
                      </a:pPr>
                      <a:r>
                        <a:rPr lang="en-IN" sz="1600" b="1" dirty="0"/>
                        <a:t>Personal &amp; Car related issues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6,726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1285882"/>
                  </a:ext>
                </a:extLst>
              </a:tr>
              <a:tr h="0">
                <a:tc>
                  <a:txBody>
                    <a:bodyPr/>
                    <a:lstStyle/>
                    <a:p>
                      <a:pPr>
                        <a:buNone/>
                      </a:pPr>
                      <a:r>
                        <a:rPr lang="en-IN" sz="1600" b="1"/>
                        <a:t>More than permitted people in the vehicle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6,686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2135606"/>
                  </a:ext>
                </a:extLst>
              </a:tr>
            </a:tbl>
          </a:graphicData>
        </a:graphic>
      </p:graphicFrame>
      <p:sp>
        <p:nvSpPr>
          <p:cNvPr id="5" name="TextBox 4">
            <a:extLst>
              <a:ext uri="{FF2B5EF4-FFF2-40B4-BE49-F238E27FC236}">
                <a16:creationId xmlns:a16="http://schemas.microsoft.com/office/drawing/2014/main" id="{CBC61531-BC99-FD1F-DB7F-D4452702D775}"/>
              </a:ext>
            </a:extLst>
          </p:cNvPr>
          <p:cNvSpPr txBox="1"/>
          <p:nvPr/>
        </p:nvSpPr>
        <p:spPr>
          <a:xfrm>
            <a:off x="555978" y="3002845"/>
            <a:ext cx="5982728" cy="615553"/>
          </a:xfrm>
          <a:prstGeom prst="rect">
            <a:avLst/>
          </a:prstGeom>
          <a:noFill/>
        </p:spPr>
        <p:txBody>
          <a:bodyPr wrap="none" rtlCol="0">
            <a:spAutoFit/>
          </a:bodyPr>
          <a:lstStyle/>
          <a:p>
            <a:r>
              <a:rPr lang="en-IN" sz="1600" b="1" dirty="0"/>
              <a:t>All reasons are almost evenly distributed</a:t>
            </a:r>
            <a:r>
              <a:rPr lang="en-IN" sz="1600" dirty="0"/>
              <a:t>, around 6.7K each.</a:t>
            </a:r>
          </a:p>
          <a:p>
            <a:endParaRPr lang="en-US" dirty="0"/>
          </a:p>
        </p:txBody>
      </p:sp>
      <p:sp>
        <p:nvSpPr>
          <p:cNvPr id="6" name="TextBox 5">
            <a:extLst>
              <a:ext uri="{FF2B5EF4-FFF2-40B4-BE49-F238E27FC236}">
                <a16:creationId xmlns:a16="http://schemas.microsoft.com/office/drawing/2014/main" id="{E585FEB5-034A-D367-A01D-92BF4FF9D8D1}"/>
              </a:ext>
            </a:extLst>
          </p:cNvPr>
          <p:cNvSpPr txBox="1"/>
          <p:nvPr/>
        </p:nvSpPr>
        <p:spPr>
          <a:xfrm>
            <a:off x="555978" y="3746176"/>
            <a:ext cx="7058343" cy="2616101"/>
          </a:xfrm>
          <a:prstGeom prst="rect">
            <a:avLst/>
          </a:prstGeom>
          <a:noFill/>
        </p:spPr>
        <p:txBody>
          <a:bodyPr wrap="none" rtlCol="0">
            <a:spAutoFit/>
          </a:bodyPr>
          <a:lstStyle/>
          <a:p>
            <a:r>
              <a:rPr lang="en-IN" b="1" dirty="0">
                <a:solidFill>
                  <a:srgbClr val="166A3F"/>
                </a:solidFill>
              </a:rPr>
              <a:t>1. Customer-related problems form the top cancellation trigger</a:t>
            </a:r>
          </a:p>
          <a:p>
            <a:endParaRPr lang="en-IN" sz="1600" dirty="0"/>
          </a:p>
          <a:p>
            <a:r>
              <a:rPr lang="en-IN" sz="1600" dirty="0"/>
              <a:t>Drivers frequently cancel due to:</a:t>
            </a:r>
          </a:p>
          <a:p>
            <a:endParaRPr lang="en-IN" sz="1600" dirty="0"/>
          </a:p>
          <a:p>
            <a:pPr marL="285750" indent="-285750">
              <a:buFont typeface="Arial" panose="020B0604020202020204" pitchFamily="34" charset="0"/>
              <a:buChar char="•"/>
            </a:pPr>
            <a:r>
              <a:rPr lang="en-IN" sz="1600" dirty="0"/>
              <a:t>low-rated customers,</a:t>
            </a:r>
          </a:p>
          <a:p>
            <a:pPr marL="285750" indent="-285750">
              <a:buFont typeface="Arial" panose="020B0604020202020204" pitchFamily="34" charset="0"/>
              <a:buChar char="•"/>
            </a:pPr>
            <a:r>
              <a:rPr lang="en-IN" sz="1600" dirty="0"/>
              <a:t>wrong pickup instructions,</a:t>
            </a:r>
          </a:p>
          <a:p>
            <a:pPr marL="285750" indent="-285750">
              <a:buFont typeface="Arial" panose="020B0604020202020204" pitchFamily="34" charset="0"/>
              <a:buChar char="•"/>
            </a:pPr>
            <a:r>
              <a:rPr lang="en-IN" sz="1600" dirty="0"/>
              <a:t>unacceptable </a:t>
            </a:r>
            <a:r>
              <a:rPr lang="en-IN" sz="1600" dirty="0" err="1"/>
              <a:t>behavior</a:t>
            </a:r>
            <a:r>
              <a:rPr lang="en-IN" sz="1600" dirty="0"/>
              <a:t> or delays.</a:t>
            </a:r>
            <a:br>
              <a:rPr lang="en-IN" sz="1600" dirty="0"/>
            </a:br>
            <a:endParaRPr lang="en-IN" sz="1600" dirty="0"/>
          </a:p>
          <a:p>
            <a:r>
              <a:rPr lang="en-IN" sz="1600" dirty="0"/>
              <a:t>This aligns with real Uber patterns.</a:t>
            </a:r>
          </a:p>
          <a:p>
            <a:endParaRPr lang="en-US" dirty="0"/>
          </a:p>
        </p:txBody>
      </p:sp>
    </p:spTree>
    <p:extLst>
      <p:ext uri="{BB962C8B-B14F-4D97-AF65-F5344CB8AC3E}">
        <p14:creationId xmlns:p14="http://schemas.microsoft.com/office/powerpoint/2010/main" val="33378215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99B16-4A36-1EB6-C258-7C1029013EAF}"/>
              </a:ext>
            </a:extLst>
          </p:cNvPr>
          <p:cNvSpPr txBox="1"/>
          <p:nvPr/>
        </p:nvSpPr>
        <p:spPr>
          <a:xfrm>
            <a:off x="361245" y="674400"/>
            <a:ext cx="9403644" cy="5509200"/>
          </a:xfrm>
          <a:prstGeom prst="rect">
            <a:avLst/>
          </a:prstGeom>
          <a:noFill/>
        </p:spPr>
        <p:txBody>
          <a:bodyPr wrap="square" rtlCol="0">
            <a:spAutoFit/>
          </a:bodyPr>
          <a:lstStyle/>
          <a:p>
            <a:r>
              <a:rPr lang="en-IN" sz="1600" b="1" dirty="0"/>
              <a:t>2. “Customer was coughing/sick” is the second-largest reason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post-pandemic driver caution,</a:t>
            </a:r>
          </a:p>
          <a:p>
            <a:pPr marL="285750" indent="-285750">
              <a:buFont typeface="Arial" panose="020B0604020202020204" pitchFamily="34" charset="0"/>
              <a:buChar char="•"/>
            </a:pPr>
            <a:r>
              <a:rPr lang="en-IN" sz="1600" dirty="0"/>
              <a:t>safety and hygiene concerns,</a:t>
            </a:r>
          </a:p>
          <a:p>
            <a:pPr marL="285750" indent="-285750">
              <a:buFont typeface="Arial" panose="020B0604020202020204" pitchFamily="34" charset="0"/>
              <a:buChar char="•"/>
            </a:pPr>
            <a:r>
              <a:rPr lang="en-IN" sz="1600" dirty="0"/>
              <a:t>potential health-risk filtering by drivers.</a:t>
            </a:r>
          </a:p>
          <a:p>
            <a:endParaRPr lang="en-IN" sz="1600" dirty="0"/>
          </a:p>
          <a:p>
            <a:r>
              <a:rPr lang="en-IN" sz="1600" dirty="0"/>
              <a:t>This is a unique and strong operational insight.</a:t>
            </a:r>
          </a:p>
          <a:p>
            <a:endParaRPr lang="en-IN" sz="1600" dirty="0"/>
          </a:p>
          <a:p>
            <a:r>
              <a:rPr lang="en-IN" sz="1600" b="1" dirty="0"/>
              <a:t>3. “Personal &amp; Car related issues” indicates operational constraints</a:t>
            </a:r>
          </a:p>
          <a:p>
            <a:endParaRPr lang="en-IN" sz="1600" dirty="0"/>
          </a:p>
          <a:p>
            <a:pPr marL="285750" indent="-285750">
              <a:buFont typeface="Arial" panose="020B0604020202020204" pitchFamily="34" charset="0"/>
              <a:buChar char="•"/>
            </a:pPr>
            <a:r>
              <a:rPr lang="en-IN" sz="1600" dirty="0"/>
              <a:t>minor breakdowns</a:t>
            </a:r>
          </a:p>
          <a:p>
            <a:pPr marL="285750" indent="-285750">
              <a:buFont typeface="Arial" panose="020B0604020202020204" pitchFamily="34" charset="0"/>
              <a:buChar char="•"/>
            </a:pPr>
            <a:r>
              <a:rPr lang="en-IN" sz="1600" dirty="0"/>
              <a:t>petrol issues</a:t>
            </a:r>
          </a:p>
          <a:p>
            <a:pPr marL="285750" indent="-285750">
              <a:buFont typeface="Arial" panose="020B0604020202020204" pitchFamily="34" charset="0"/>
              <a:buChar char="•"/>
            </a:pPr>
            <a:r>
              <a:rPr lang="en-IN" sz="1600" dirty="0"/>
              <a:t>drivers needing a break</a:t>
            </a:r>
          </a:p>
          <a:p>
            <a:pPr marL="285750" indent="-285750">
              <a:buFont typeface="Arial" panose="020B0604020202020204" pitchFamily="34" charset="0"/>
              <a:buChar char="•"/>
            </a:pPr>
            <a:r>
              <a:rPr lang="en-IN" sz="1600" dirty="0"/>
              <a:t>unexpected personal situations</a:t>
            </a:r>
          </a:p>
          <a:p>
            <a:endParaRPr lang="en-IN" sz="1600" dirty="0"/>
          </a:p>
          <a:p>
            <a:r>
              <a:rPr lang="en-IN" sz="1600" dirty="0"/>
              <a:t>This is usually uncontrollable by Uber but contributes significantly.</a:t>
            </a:r>
          </a:p>
          <a:p>
            <a:endParaRPr lang="en-IN" sz="1600" dirty="0"/>
          </a:p>
          <a:p>
            <a:r>
              <a:rPr lang="en-IN" sz="1600" b="1" dirty="0"/>
              <a:t>4. Overcrowding (“More than permitted people”) is a recurring issue</a:t>
            </a:r>
          </a:p>
          <a:p>
            <a:endParaRPr lang="en-IN" sz="1600" dirty="0"/>
          </a:p>
          <a:p>
            <a:r>
              <a:rPr lang="en-IN" sz="1600" dirty="0"/>
              <a:t>Customers often try to overload smaller vehicles, especially:</a:t>
            </a:r>
          </a:p>
          <a:p>
            <a:pPr marL="285750" indent="-285750">
              <a:buFont typeface="Arial" panose="020B0604020202020204" pitchFamily="34" charset="0"/>
              <a:buChar char="•"/>
            </a:pPr>
            <a:r>
              <a:rPr lang="en-IN" sz="1600" dirty="0"/>
              <a:t>autos</a:t>
            </a:r>
          </a:p>
          <a:p>
            <a:pPr marL="285750" indent="-285750">
              <a:buFont typeface="Arial" panose="020B0604020202020204" pitchFamily="34" charset="0"/>
              <a:buChar char="•"/>
            </a:pPr>
            <a:r>
              <a:rPr lang="en-IN" sz="1600" dirty="0"/>
              <a:t>cars</a:t>
            </a:r>
          </a:p>
        </p:txBody>
      </p:sp>
      <p:sp>
        <p:nvSpPr>
          <p:cNvPr id="3" name="TextBox 2">
            <a:extLst>
              <a:ext uri="{FF2B5EF4-FFF2-40B4-BE49-F238E27FC236}">
                <a16:creationId xmlns:a16="http://schemas.microsoft.com/office/drawing/2014/main" id="{7BC8035F-974C-4910-BF94-62135A9EEECA}"/>
              </a:ext>
            </a:extLst>
          </p:cNvPr>
          <p:cNvSpPr txBox="1"/>
          <p:nvPr/>
        </p:nvSpPr>
        <p:spPr>
          <a:xfrm>
            <a:off x="259645" y="135467"/>
            <a:ext cx="3788217" cy="646331"/>
          </a:xfrm>
          <a:prstGeom prst="rect">
            <a:avLst/>
          </a:prstGeom>
          <a:noFill/>
        </p:spPr>
        <p:txBody>
          <a:bodyPr wrap="none" rtlCol="0">
            <a:spAutoFit/>
          </a:bodyPr>
          <a:lstStyle/>
          <a:p>
            <a:r>
              <a:rPr lang="en-IN" b="1" dirty="0">
                <a:solidFill>
                  <a:srgbClr val="166A3F"/>
                </a:solidFill>
              </a:rPr>
              <a:t>Driver Cancellation Reasons(2/2)</a:t>
            </a:r>
          </a:p>
          <a:p>
            <a:endParaRPr lang="en-US" dirty="0"/>
          </a:p>
        </p:txBody>
      </p:sp>
    </p:spTree>
    <p:extLst>
      <p:ext uri="{BB962C8B-B14F-4D97-AF65-F5344CB8AC3E}">
        <p14:creationId xmlns:p14="http://schemas.microsoft.com/office/powerpoint/2010/main" val="3239603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370BBA-3893-6A13-0F33-F8102DF04C15}"/>
              </a:ext>
            </a:extLst>
          </p:cNvPr>
          <p:cNvSpPr txBox="1"/>
          <p:nvPr/>
        </p:nvSpPr>
        <p:spPr>
          <a:xfrm>
            <a:off x="462845" y="203200"/>
            <a:ext cx="3826689" cy="646331"/>
          </a:xfrm>
          <a:prstGeom prst="rect">
            <a:avLst/>
          </a:prstGeom>
          <a:noFill/>
        </p:spPr>
        <p:txBody>
          <a:bodyPr wrap="none" rtlCol="0">
            <a:spAutoFit/>
          </a:bodyPr>
          <a:lstStyle/>
          <a:p>
            <a:r>
              <a:rPr lang="en-IN" b="1" dirty="0">
                <a:solidFill>
                  <a:srgbClr val="166A3F"/>
                </a:solidFill>
              </a:rPr>
              <a:t>Driver Cancellations by Hour(1/2)</a:t>
            </a:r>
          </a:p>
          <a:p>
            <a:endParaRPr lang="en-US" dirty="0"/>
          </a:p>
        </p:txBody>
      </p:sp>
      <p:graphicFrame>
        <p:nvGraphicFramePr>
          <p:cNvPr id="4" name="Table 3">
            <a:extLst>
              <a:ext uri="{FF2B5EF4-FFF2-40B4-BE49-F238E27FC236}">
                <a16:creationId xmlns:a16="http://schemas.microsoft.com/office/drawing/2014/main" id="{B2A3833A-DD9C-26A0-EFB4-70C0BA99309A}"/>
              </a:ext>
            </a:extLst>
          </p:cNvPr>
          <p:cNvGraphicFramePr>
            <a:graphicFrameLocks noGrp="1"/>
          </p:cNvGraphicFramePr>
          <p:nvPr>
            <p:extLst>
              <p:ext uri="{D42A27DB-BD31-4B8C-83A1-F6EECF244321}">
                <p14:modId xmlns:p14="http://schemas.microsoft.com/office/powerpoint/2010/main" val="3014766447"/>
              </p:ext>
            </p:extLst>
          </p:nvPr>
        </p:nvGraphicFramePr>
        <p:xfrm>
          <a:off x="555977" y="762320"/>
          <a:ext cx="10515600" cy="2011680"/>
        </p:xfrm>
        <a:graphic>
          <a:graphicData uri="http://schemas.openxmlformats.org/drawingml/2006/table">
            <a:tbl>
              <a:tblPr/>
              <a:tblGrid>
                <a:gridCol w="5257800">
                  <a:extLst>
                    <a:ext uri="{9D8B030D-6E8A-4147-A177-3AD203B41FA5}">
                      <a16:colId xmlns:a16="http://schemas.microsoft.com/office/drawing/2014/main" val="603708294"/>
                    </a:ext>
                  </a:extLst>
                </a:gridCol>
                <a:gridCol w="5257800">
                  <a:extLst>
                    <a:ext uri="{9D8B030D-6E8A-4147-A177-3AD203B41FA5}">
                      <a16:colId xmlns:a16="http://schemas.microsoft.com/office/drawing/2014/main" val="3006725646"/>
                    </a:ext>
                  </a:extLst>
                </a:gridCol>
              </a:tblGrid>
              <a:tr h="0">
                <a:tc>
                  <a:txBody>
                    <a:bodyPr/>
                    <a:lstStyle/>
                    <a:p>
                      <a:pPr>
                        <a:buNone/>
                      </a:pPr>
                      <a:r>
                        <a:rPr lang="en-IN" sz="1600" b="1"/>
                        <a:t>Hour</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Cancellations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581095"/>
                  </a:ext>
                </a:extLst>
              </a:tr>
              <a:tr h="0">
                <a:tc>
                  <a:txBody>
                    <a:bodyPr/>
                    <a:lstStyle/>
                    <a:p>
                      <a:pPr>
                        <a:buNone/>
                      </a:pPr>
                      <a:r>
                        <a:rPr lang="en-IN" sz="1600" b="1"/>
                        <a:t>18 (6 PM)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2,257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2771708"/>
                  </a:ext>
                </a:extLst>
              </a:tr>
              <a:tr h="0">
                <a:tc>
                  <a:txBody>
                    <a:bodyPr/>
                    <a:lstStyle/>
                    <a:p>
                      <a:pPr>
                        <a:buNone/>
                      </a:pPr>
                      <a:r>
                        <a:rPr lang="en-IN" sz="1600" b="1"/>
                        <a:t>17 (5 PM)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3181493"/>
                  </a:ext>
                </a:extLst>
              </a:tr>
              <a:tr h="0">
                <a:tc>
                  <a:txBody>
                    <a:bodyPr/>
                    <a:lstStyle/>
                    <a:p>
                      <a:pPr>
                        <a:buNone/>
                      </a:pPr>
                      <a:r>
                        <a:rPr lang="en-IN" sz="1600" b="1"/>
                        <a:t>19 (7 PM)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1,998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8031020"/>
                  </a:ext>
                </a:extLst>
              </a:tr>
              <a:tr h="0">
                <a:tc>
                  <a:txBody>
                    <a:bodyPr/>
                    <a:lstStyle/>
                    <a:p>
                      <a:pPr>
                        <a:buNone/>
                      </a:pPr>
                      <a:r>
                        <a:rPr lang="en-IN" sz="1600" b="1"/>
                        <a:t>20 (8 PM)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1,735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7422213"/>
                  </a:ext>
                </a:extLst>
              </a:tr>
              <a:tr h="0">
                <a:tc>
                  <a:txBody>
                    <a:bodyPr/>
                    <a:lstStyle/>
                    <a:p>
                      <a:pPr>
                        <a:buNone/>
                      </a:pPr>
                      <a:r>
                        <a:rPr lang="en-IN" sz="1600" b="1"/>
                        <a:t>16 (4 PM)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1,728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5337065"/>
                  </a:ext>
                </a:extLst>
              </a:tr>
            </a:tbl>
          </a:graphicData>
        </a:graphic>
      </p:graphicFrame>
      <p:sp>
        <p:nvSpPr>
          <p:cNvPr id="5" name="TextBox 4">
            <a:extLst>
              <a:ext uri="{FF2B5EF4-FFF2-40B4-BE49-F238E27FC236}">
                <a16:creationId xmlns:a16="http://schemas.microsoft.com/office/drawing/2014/main" id="{1F91B704-0755-B6FF-E5A2-17E089A4F815}"/>
              </a:ext>
            </a:extLst>
          </p:cNvPr>
          <p:cNvSpPr txBox="1"/>
          <p:nvPr/>
        </p:nvSpPr>
        <p:spPr>
          <a:xfrm>
            <a:off x="462845" y="3121223"/>
            <a:ext cx="7268721" cy="615553"/>
          </a:xfrm>
          <a:prstGeom prst="rect">
            <a:avLst/>
          </a:prstGeom>
          <a:noFill/>
        </p:spPr>
        <p:txBody>
          <a:bodyPr wrap="none" rtlCol="0">
            <a:spAutoFit/>
          </a:bodyPr>
          <a:lstStyle/>
          <a:p>
            <a:r>
              <a:rPr lang="en-IN" sz="1600" dirty="0"/>
              <a:t>After that, cancellations stay high from </a:t>
            </a:r>
            <a:r>
              <a:rPr lang="en-IN" sz="1600" b="1" dirty="0"/>
              <a:t>10 AM to 3 PM</a:t>
            </a:r>
            <a:r>
              <a:rPr lang="en-IN" sz="1600" dirty="0"/>
              <a:t>, then drop late at night.</a:t>
            </a:r>
          </a:p>
          <a:p>
            <a:endParaRPr lang="en-US" dirty="0"/>
          </a:p>
        </p:txBody>
      </p:sp>
      <p:graphicFrame>
        <p:nvGraphicFramePr>
          <p:cNvPr id="7" name="Table 6">
            <a:extLst>
              <a:ext uri="{FF2B5EF4-FFF2-40B4-BE49-F238E27FC236}">
                <a16:creationId xmlns:a16="http://schemas.microsoft.com/office/drawing/2014/main" id="{9B2DAAC8-4794-9605-209C-065CEA2C8C82}"/>
              </a:ext>
            </a:extLst>
          </p:cNvPr>
          <p:cNvGraphicFramePr>
            <a:graphicFrameLocks noGrp="1"/>
          </p:cNvGraphicFramePr>
          <p:nvPr>
            <p:extLst>
              <p:ext uri="{D42A27DB-BD31-4B8C-83A1-F6EECF244321}">
                <p14:modId xmlns:p14="http://schemas.microsoft.com/office/powerpoint/2010/main" val="1654348917"/>
              </p:ext>
            </p:extLst>
          </p:nvPr>
        </p:nvGraphicFramePr>
        <p:xfrm>
          <a:off x="555977" y="3775341"/>
          <a:ext cx="10515600" cy="2346960"/>
        </p:xfrm>
        <a:graphic>
          <a:graphicData uri="http://schemas.openxmlformats.org/drawingml/2006/table">
            <a:tbl>
              <a:tblPr/>
              <a:tblGrid>
                <a:gridCol w="5257800">
                  <a:extLst>
                    <a:ext uri="{9D8B030D-6E8A-4147-A177-3AD203B41FA5}">
                      <a16:colId xmlns:a16="http://schemas.microsoft.com/office/drawing/2014/main" val="382376667"/>
                    </a:ext>
                  </a:extLst>
                </a:gridCol>
                <a:gridCol w="5257800">
                  <a:extLst>
                    <a:ext uri="{9D8B030D-6E8A-4147-A177-3AD203B41FA5}">
                      <a16:colId xmlns:a16="http://schemas.microsoft.com/office/drawing/2014/main" val="3605357736"/>
                    </a:ext>
                  </a:extLst>
                </a:gridCol>
              </a:tblGrid>
              <a:tr h="0">
                <a:tc>
                  <a:txBody>
                    <a:bodyPr/>
                    <a:lstStyle/>
                    <a:p>
                      <a:pPr>
                        <a:buNone/>
                      </a:pPr>
                      <a:r>
                        <a:rPr lang="en-IN" sz="1600" b="1" dirty="0"/>
                        <a:t>Hour</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Cancellations</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7564718"/>
                  </a:ext>
                </a:extLst>
              </a:tr>
              <a:tr h="0">
                <a:tc>
                  <a:txBody>
                    <a:bodyPr/>
                    <a:lstStyle/>
                    <a:p>
                      <a:pPr>
                        <a:buNone/>
                      </a:pPr>
                      <a:r>
                        <a:rPr lang="en-IN" sz="1600" b="1" dirty="0"/>
                        <a:t>23 (11 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5491342"/>
                  </a:ext>
                </a:extLst>
              </a:tr>
              <a:tr h="0">
                <a:tc>
                  <a:txBody>
                    <a:bodyPr/>
                    <a:lstStyle/>
                    <a:p>
                      <a:pPr>
                        <a:buNone/>
                      </a:pPr>
                      <a:r>
                        <a:rPr lang="en-IN" sz="1600" b="1" dirty="0"/>
                        <a:t>3 (3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8716298"/>
                  </a:ext>
                </a:extLst>
              </a:tr>
              <a:tr h="0">
                <a:tc>
                  <a:txBody>
                    <a:bodyPr/>
                    <a:lstStyle/>
                    <a:p>
                      <a:pPr>
                        <a:buNone/>
                      </a:pPr>
                      <a:r>
                        <a:rPr lang="en-IN" sz="1600" b="1" dirty="0"/>
                        <a:t>1 (1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2561464"/>
                  </a:ext>
                </a:extLst>
              </a:tr>
              <a:tr h="0">
                <a:tc>
                  <a:txBody>
                    <a:bodyPr/>
                    <a:lstStyle/>
                    <a:p>
                      <a:pPr>
                        <a:buNone/>
                      </a:pPr>
                      <a:r>
                        <a:rPr lang="en-IN" sz="1600" b="1" dirty="0"/>
                        <a:t>0 (12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638291"/>
                  </a:ext>
                </a:extLst>
              </a:tr>
              <a:tr h="0">
                <a:tc>
                  <a:txBody>
                    <a:bodyPr/>
                    <a:lstStyle/>
                    <a:p>
                      <a:pPr>
                        <a:buNone/>
                      </a:pPr>
                      <a:r>
                        <a:rPr lang="en-IN" sz="1600" b="1" dirty="0"/>
                        <a:t>4 (4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1970031"/>
                  </a:ext>
                </a:extLst>
              </a:tr>
              <a:tr h="0">
                <a:tc>
                  <a:txBody>
                    <a:bodyPr/>
                    <a:lstStyle/>
                    <a:p>
                      <a:pPr>
                        <a:buNone/>
                      </a:pPr>
                      <a:r>
                        <a:rPr lang="en-IN" sz="1600" b="1" dirty="0"/>
                        <a:t>2 (2 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6222292"/>
                  </a:ext>
                </a:extLst>
              </a:tr>
            </a:tbl>
          </a:graphicData>
        </a:graphic>
      </p:graphicFrame>
    </p:spTree>
    <p:extLst>
      <p:ext uri="{BB962C8B-B14F-4D97-AF65-F5344CB8AC3E}">
        <p14:creationId xmlns:p14="http://schemas.microsoft.com/office/powerpoint/2010/main" val="1670029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189A73-4CF9-BB5B-3EC1-6DEE3B5659BF}"/>
              </a:ext>
            </a:extLst>
          </p:cNvPr>
          <p:cNvSpPr txBox="1"/>
          <p:nvPr/>
        </p:nvSpPr>
        <p:spPr>
          <a:xfrm>
            <a:off x="361214" y="646331"/>
            <a:ext cx="10716780" cy="5909310"/>
          </a:xfrm>
          <a:prstGeom prst="rect">
            <a:avLst/>
          </a:prstGeom>
          <a:noFill/>
        </p:spPr>
        <p:txBody>
          <a:bodyPr wrap="none" rtlCol="0">
            <a:spAutoFit/>
          </a:bodyPr>
          <a:lstStyle/>
          <a:p>
            <a:r>
              <a:rPr lang="en-IN" sz="1600" b="1" dirty="0"/>
              <a:t>1. Driver cancellations spike during the evening rush (5 PM – 8 PM)</a:t>
            </a:r>
          </a:p>
          <a:p>
            <a:endParaRPr lang="en-IN" sz="1600" dirty="0"/>
          </a:p>
          <a:p>
            <a:r>
              <a:rPr lang="en-IN" sz="1500" dirty="0"/>
              <a:t>Traffic congestion, long pickups, and low profitability during dense traffic likely cause drivers to decline or cancel more rides.</a:t>
            </a:r>
          </a:p>
          <a:p>
            <a:r>
              <a:rPr lang="en-IN" sz="1500" b="1" dirty="0"/>
              <a:t>6 PM is the absolute cancellation peak</a:t>
            </a:r>
            <a:r>
              <a:rPr lang="en-IN" sz="1500" dirty="0"/>
              <a:t>, aligning with heavy NCR traffic.</a:t>
            </a:r>
          </a:p>
          <a:p>
            <a:endParaRPr lang="en-IN" sz="1500" dirty="0"/>
          </a:p>
          <a:p>
            <a:r>
              <a:rPr lang="en-IN" sz="1500" b="1" dirty="0"/>
              <a:t>2. Secondary peak during late morning (10 AM – 1 PM)</a:t>
            </a:r>
          </a:p>
          <a:p>
            <a:endParaRPr lang="en-IN" sz="1500" dirty="0"/>
          </a:p>
          <a:p>
            <a:r>
              <a:rPr lang="en-IN" sz="1500" dirty="0"/>
              <a:t>This period shows medium activity:</a:t>
            </a:r>
          </a:p>
          <a:p>
            <a:pPr marL="285750" indent="-285750">
              <a:buFont typeface="Arial" panose="020B0604020202020204" pitchFamily="34" charset="0"/>
              <a:buChar char="•"/>
            </a:pPr>
            <a:r>
              <a:rPr lang="en-IN" sz="1500" dirty="0"/>
              <a:t>Moderate traffic</a:t>
            </a:r>
          </a:p>
          <a:p>
            <a:pPr marL="285750" indent="-285750">
              <a:buFont typeface="Arial" panose="020B0604020202020204" pitchFamily="34" charset="0"/>
              <a:buChar char="•"/>
            </a:pPr>
            <a:r>
              <a:rPr lang="en-IN" sz="1500" dirty="0"/>
              <a:t>Drivers may selectively cancel if the pickup is far or unprofitable.</a:t>
            </a:r>
          </a:p>
          <a:p>
            <a:endParaRPr lang="en-IN" sz="1500" dirty="0"/>
          </a:p>
          <a:p>
            <a:r>
              <a:rPr lang="en-IN" sz="1500" b="1" dirty="0"/>
              <a:t>3. Night hours show the lowest cancellations</a:t>
            </a:r>
          </a:p>
          <a:p>
            <a:endParaRPr lang="en-IN" sz="1500" dirty="0"/>
          </a:p>
          <a:p>
            <a:r>
              <a:rPr lang="en-IN" sz="1500" dirty="0"/>
              <a:t>Post 10 PM, cancellations drop sharply—suggesting:</a:t>
            </a:r>
          </a:p>
          <a:p>
            <a:pPr marL="285750" indent="-285750">
              <a:buFont typeface="Arial" panose="020B0604020202020204" pitchFamily="34" charset="0"/>
              <a:buChar char="•"/>
            </a:pPr>
            <a:r>
              <a:rPr lang="en-IN" sz="1500" dirty="0"/>
              <a:t>Lower traffic</a:t>
            </a:r>
          </a:p>
          <a:p>
            <a:pPr marL="285750" indent="-285750">
              <a:buFont typeface="Arial" panose="020B0604020202020204" pitchFamily="34" charset="0"/>
              <a:buChar char="•"/>
            </a:pPr>
            <a:r>
              <a:rPr lang="en-IN" sz="1500" dirty="0"/>
              <a:t>Fewer ride requests</a:t>
            </a:r>
          </a:p>
          <a:p>
            <a:pPr marL="285750" indent="-285750">
              <a:buFont typeface="Arial" panose="020B0604020202020204" pitchFamily="34" charset="0"/>
              <a:buChar char="•"/>
            </a:pPr>
            <a:r>
              <a:rPr lang="en-IN" sz="1500" dirty="0"/>
              <a:t>Drivers accepting more rides due to lower wait times</a:t>
            </a:r>
          </a:p>
          <a:p>
            <a:endParaRPr lang="en-IN" sz="1500" dirty="0"/>
          </a:p>
          <a:p>
            <a:r>
              <a:rPr lang="en-IN" sz="1500" b="1" dirty="0"/>
              <a:t>4. Cancellation trend nearly mirrors demand trend</a:t>
            </a:r>
          </a:p>
          <a:p>
            <a:endParaRPr lang="en-IN" sz="1500" dirty="0"/>
          </a:p>
          <a:p>
            <a:r>
              <a:rPr lang="en-IN" sz="1500" dirty="0"/>
              <a:t>The hours with most bookings (5 PM–8 PM) also have:</a:t>
            </a:r>
          </a:p>
          <a:p>
            <a:pPr marL="285750" indent="-285750">
              <a:buFont typeface="Arial" panose="020B0604020202020204" pitchFamily="34" charset="0"/>
              <a:buChar char="•"/>
            </a:pPr>
            <a:r>
              <a:rPr lang="en-IN" sz="1500" dirty="0"/>
              <a:t>Highest driver cancellations</a:t>
            </a:r>
          </a:p>
          <a:p>
            <a:pPr marL="285750" indent="-285750">
              <a:buFont typeface="Arial" panose="020B0604020202020204" pitchFamily="34" charset="0"/>
              <a:buChar char="•"/>
            </a:pPr>
            <a:r>
              <a:rPr lang="en-IN" sz="1500" dirty="0"/>
              <a:t>Highest rush-hour pressure</a:t>
            </a:r>
          </a:p>
          <a:p>
            <a:pPr marL="285750" indent="-285750">
              <a:buFont typeface="Arial" panose="020B0604020202020204" pitchFamily="34" charset="0"/>
              <a:buChar char="•"/>
            </a:pPr>
            <a:r>
              <a:rPr lang="en-IN" sz="1500" dirty="0"/>
              <a:t>This strongly points to </a:t>
            </a:r>
            <a:r>
              <a:rPr lang="en-IN" sz="1500" b="1" dirty="0"/>
              <a:t>supply-demand imbalance in peak hours</a:t>
            </a:r>
            <a:r>
              <a:rPr lang="en-IN" sz="1500" dirty="0"/>
              <a:t>.</a:t>
            </a:r>
          </a:p>
          <a:p>
            <a:endParaRPr lang="en-US" sz="1600" dirty="0"/>
          </a:p>
        </p:txBody>
      </p:sp>
      <p:sp>
        <p:nvSpPr>
          <p:cNvPr id="3" name="TextBox 2">
            <a:extLst>
              <a:ext uri="{FF2B5EF4-FFF2-40B4-BE49-F238E27FC236}">
                <a16:creationId xmlns:a16="http://schemas.microsoft.com/office/drawing/2014/main" id="{B23BE487-7A7F-C297-40E3-C97A70D90A60}"/>
              </a:ext>
            </a:extLst>
          </p:cNvPr>
          <p:cNvSpPr txBox="1"/>
          <p:nvPr/>
        </p:nvSpPr>
        <p:spPr>
          <a:xfrm>
            <a:off x="361214" y="135467"/>
            <a:ext cx="3826689" cy="646331"/>
          </a:xfrm>
          <a:prstGeom prst="rect">
            <a:avLst/>
          </a:prstGeom>
          <a:noFill/>
        </p:spPr>
        <p:txBody>
          <a:bodyPr wrap="none" rtlCol="0">
            <a:spAutoFit/>
          </a:bodyPr>
          <a:lstStyle/>
          <a:p>
            <a:r>
              <a:rPr lang="en-IN" b="1" dirty="0">
                <a:solidFill>
                  <a:srgbClr val="166A3F"/>
                </a:solidFill>
              </a:rPr>
              <a:t>Driver Cancellations by Hour(2/2)</a:t>
            </a:r>
          </a:p>
          <a:p>
            <a:endParaRPr lang="en-US" dirty="0"/>
          </a:p>
        </p:txBody>
      </p:sp>
    </p:spTree>
    <p:extLst>
      <p:ext uri="{BB962C8B-B14F-4D97-AF65-F5344CB8AC3E}">
        <p14:creationId xmlns:p14="http://schemas.microsoft.com/office/powerpoint/2010/main" val="8966144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053124-5C58-917A-98E5-B69A65C055FF}"/>
              </a:ext>
            </a:extLst>
          </p:cNvPr>
          <p:cNvSpPr txBox="1"/>
          <p:nvPr/>
        </p:nvSpPr>
        <p:spPr>
          <a:xfrm>
            <a:off x="462845" y="270933"/>
            <a:ext cx="4198585" cy="646331"/>
          </a:xfrm>
          <a:prstGeom prst="rect">
            <a:avLst/>
          </a:prstGeom>
          <a:noFill/>
        </p:spPr>
        <p:txBody>
          <a:bodyPr wrap="none" rtlCol="0">
            <a:spAutoFit/>
          </a:bodyPr>
          <a:lstStyle/>
          <a:p>
            <a:r>
              <a:rPr lang="en-IN" b="1" dirty="0">
                <a:solidFill>
                  <a:srgbClr val="166A3F"/>
                </a:solidFill>
              </a:rPr>
              <a:t>Customer Cancellation Reasons(1/2)</a:t>
            </a:r>
          </a:p>
          <a:p>
            <a:endParaRPr lang="en-US" dirty="0"/>
          </a:p>
        </p:txBody>
      </p:sp>
      <p:graphicFrame>
        <p:nvGraphicFramePr>
          <p:cNvPr id="4" name="Table 3">
            <a:extLst>
              <a:ext uri="{FF2B5EF4-FFF2-40B4-BE49-F238E27FC236}">
                <a16:creationId xmlns:a16="http://schemas.microsoft.com/office/drawing/2014/main" id="{5EDDD9F5-F191-2198-E1AD-1515486EB47E}"/>
              </a:ext>
            </a:extLst>
          </p:cNvPr>
          <p:cNvGraphicFramePr>
            <a:graphicFrameLocks noGrp="1"/>
          </p:cNvGraphicFramePr>
          <p:nvPr>
            <p:extLst>
              <p:ext uri="{D42A27DB-BD31-4B8C-83A1-F6EECF244321}">
                <p14:modId xmlns:p14="http://schemas.microsoft.com/office/powerpoint/2010/main" val="4078132649"/>
              </p:ext>
            </p:extLst>
          </p:nvPr>
        </p:nvGraphicFramePr>
        <p:xfrm>
          <a:off x="558800" y="818764"/>
          <a:ext cx="10515600" cy="2011680"/>
        </p:xfrm>
        <a:graphic>
          <a:graphicData uri="http://schemas.openxmlformats.org/drawingml/2006/table">
            <a:tbl>
              <a:tblPr/>
              <a:tblGrid>
                <a:gridCol w="5257800">
                  <a:extLst>
                    <a:ext uri="{9D8B030D-6E8A-4147-A177-3AD203B41FA5}">
                      <a16:colId xmlns:a16="http://schemas.microsoft.com/office/drawing/2014/main" val="250329090"/>
                    </a:ext>
                  </a:extLst>
                </a:gridCol>
                <a:gridCol w="5257800">
                  <a:extLst>
                    <a:ext uri="{9D8B030D-6E8A-4147-A177-3AD203B41FA5}">
                      <a16:colId xmlns:a16="http://schemas.microsoft.com/office/drawing/2014/main" val="942660666"/>
                    </a:ext>
                  </a:extLst>
                </a:gridCol>
              </a:tblGrid>
              <a:tr h="0">
                <a:tc>
                  <a:txBody>
                    <a:bodyPr/>
                    <a:lstStyle/>
                    <a:p>
                      <a:pPr>
                        <a:buNone/>
                      </a:pPr>
                      <a:r>
                        <a:rPr lang="en-IN" sz="1600" b="1"/>
                        <a:t>Reason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Count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9082629"/>
                  </a:ext>
                </a:extLst>
              </a:tr>
              <a:tr h="0">
                <a:tc>
                  <a:txBody>
                    <a:bodyPr/>
                    <a:lstStyle/>
                    <a:p>
                      <a:pPr>
                        <a:buNone/>
                      </a:pPr>
                      <a:r>
                        <a:rPr lang="en-IN" sz="1600" b="1"/>
                        <a:t>Wrong Address Entered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2,362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7951680"/>
                  </a:ext>
                </a:extLst>
              </a:tr>
              <a:tr h="0">
                <a:tc>
                  <a:txBody>
                    <a:bodyPr/>
                    <a:lstStyle/>
                    <a:p>
                      <a:pPr>
                        <a:buNone/>
                      </a:pPr>
                      <a:r>
                        <a:rPr lang="en-IN" sz="1600" b="1"/>
                        <a:t>Change of Plans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2,353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1482172"/>
                  </a:ext>
                </a:extLst>
              </a:tr>
              <a:tr h="0">
                <a:tc>
                  <a:txBody>
                    <a:bodyPr/>
                    <a:lstStyle/>
                    <a:p>
                      <a:pPr>
                        <a:buNone/>
                      </a:pPr>
                      <a:r>
                        <a:rPr lang="en-IN" sz="1600" b="1"/>
                        <a:t>Driver Not Moving Towards Pickup</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969648"/>
                  </a:ext>
                </a:extLst>
              </a:tr>
              <a:tr h="0">
                <a:tc>
                  <a:txBody>
                    <a:bodyPr/>
                    <a:lstStyle/>
                    <a:p>
                      <a:pPr>
                        <a:buNone/>
                      </a:pPr>
                      <a:r>
                        <a:rPr lang="en-IN" sz="1600" b="1"/>
                        <a:t>Driver Asked Customer to Cancel</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2,295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0367965"/>
                  </a:ext>
                </a:extLst>
              </a:tr>
              <a:tr h="0">
                <a:tc>
                  <a:txBody>
                    <a:bodyPr/>
                    <a:lstStyle/>
                    <a:p>
                      <a:pPr>
                        <a:buNone/>
                      </a:pPr>
                      <a:r>
                        <a:rPr lang="en-IN" sz="1600" b="1"/>
                        <a:t>AC Not Working</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1,155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5918154"/>
                  </a:ext>
                </a:extLst>
              </a:tr>
            </a:tbl>
          </a:graphicData>
        </a:graphic>
      </p:graphicFrame>
      <p:sp>
        <p:nvSpPr>
          <p:cNvPr id="5" name="TextBox 4">
            <a:extLst>
              <a:ext uri="{FF2B5EF4-FFF2-40B4-BE49-F238E27FC236}">
                <a16:creationId xmlns:a16="http://schemas.microsoft.com/office/drawing/2014/main" id="{0D8C7A14-9E11-166C-E35A-07D20A48E997}"/>
              </a:ext>
            </a:extLst>
          </p:cNvPr>
          <p:cNvSpPr txBox="1"/>
          <p:nvPr/>
        </p:nvSpPr>
        <p:spPr>
          <a:xfrm>
            <a:off x="558800" y="3378275"/>
            <a:ext cx="8662949" cy="2585323"/>
          </a:xfrm>
          <a:prstGeom prst="rect">
            <a:avLst/>
          </a:prstGeom>
          <a:noFill/>
        </p:spPr>
        <p:txBody>
          <a:bodyPr wrap="none" rtlCol="0">
            <a:spAutoFit/>
          </a:bodyPr>
          <a:lstStyle/>
          <a:p>
            <a:r>
              <a:rPr lang="en-IN" sz="1600" b="1" dirty="0"/>
              <a:t>1. Wrong address &amp; change of plans dominate customer cancellations</a:t>
            </a:r>
          </a:p>
          <a:p>
            <a:endParaRPr lang="en-IN" sz="1600" dirty="0"/>
          </a:p>
          <a:p>
            <a:pPr marL="285750" indent="-285750">
              <a:buFont typeface="Arial" panose="020B0604020202020204" pitchFamily="34" charset="0"/>
              <a:buChar char="•"/>
            </a:pPr>
            <a:r>
              <a:rPr lang="en-IN" sz="1600" dirty="0"/>
              <a:t>These two reasons together contribute almost </a:t>
            </a:r>
            <a:r>
              <a:rPr lang="en-IN" sz="1600" b="1" dirty="0"/>
              <a:t>40% of customer cancellations</a:t>
            </a:r>
            <a:r>
              <a:rPr lang="en-IN" sz="1600" dirty="0"/>
              <a:t>, indicating:</a:t>
            </a:r>
          </a:p>
          <a:p>
            <a:pPr marL="285750" indent="-285750">
              <a:buFont typeface="Arial" panose="020B0604020202020204" pitchFamily="34" charset="0"/>
              <a:buChar char="•"/>
            </a:pPr>
            <a:r>
              <a:rPr lang="en-IN" sz="1600" dirty="0"/>
              <a:t>poor input accuracy,</a:t>
            </a:r>
          </a:p>
          <a:p>
            <a:pPr marL="285750" indent="-285750">
              <a:buFont typeface="Arial" panose="020B0604020202020204" pitchFamily="34" charset="0"/>
              <a:buChar char="•"/>
            </a:pPr>
            <a:r>
              <a:rPr lang="en-IN" sz="1600" dirty="0"/>
              <a:t>last-minute plan changes,</a:t>
            </a:r>
          </a:p>
          <a:p>
            <a:pPr marL="285750" indent="-285750">
              <a:buFont typeface="Arial" panose="020B0604020202020204" pitchFamily="34" charset="0"/>
              <a:buChar char="•"/>
            </a:pPr>
            <a:r>
              <a:rPr lang="en-IN" sz="1600" dirty="0"/>
              <a:t>or app-side friction during location entry.</a:t>
            </a:r>
          </a:p>
          <a:p>
            <a:br>
              <a:rPr lang="en-IN" sz="1600" dirty="0"/>
            </a:br>
            <a:endParaRPr lang="en-IN" sz="1600" dirty="0"/>
          </a:p>
          <a:p>
            <a:r>
              <a:rPr lang="en-IN" sz="1600" dirty="0"/>
              <a:t>This suggests a need for </a:t>
            </a:r>
            <a:r>
              <a:rPr lang="en-IN" sz="1600" b="1" dirty="0"/>
              <a:t>better address auto-correction</a:t>
            </a:r>
            <a:r>
              <a:rPr lang="en-IN" sz="1600" dirty="0"/>
              <a:t> or </a:t>
            </a:r>
            <a:r>
              <a:rPr lang="en-IN" sz="1600" b="1" dirty="0"/>
              <a:t>pickup confirmation prompts</a:t>
            </a:r>
            <a:r>
              <a:rPr lang="en-IN" sz="1600" dirty="0"/>
              <a:t>.</a:t>
            </a:r>
          </a:p>
          <a:p>
            <a:endParaRPr lang="en-US" dirty="0"/>
          </a:p>
        </p:txBody>
      </p:sp>
    </p:spTree>
    <p:extLst>
      <p:ext uri="{BB962C8B-B14F-4D97-AF65-F5344CB8AC3E}">
        <p14:creationId xmlns:p14="http://schemas.microsoft.com/office/powerpoint/2010/main" val="3187821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951262-D0D5-CC9D-FE05-CB4BF1275DAF}"/>
              </a:ext>
            </a:extLst>
          </p:cNvPr>
          <p:cNvSpPr txBox="1"/>
          <p:nvPr/>
        </p:nvSpPr>
        <p:spPr>
          <a:xfrm>
            <a:off x="395111" y="180622"/>
            <a:ext cx="4198585" cy="646331"/>
          </a:xfrm>
          <a:prstGeom prst="rect">
            <a:avLst/>
          </a:prstGeom>
          <a:noFill/>
        </p:spPr>
        <p:txBody>
          <a:bodyPr wrap="none" rtlCol="0">
            <a:spAutoFit/>
          </a:bodyPr>
          <a:lstStyle/>
          <a:p>
            <a:r>
              <a:rPr lang="en-IN" b="1" dirty="0">
                <a:solidFill>
                  <a:srgbClr val="166A3F"/>
                </a:solidFill>
              </a:rPr>
              <a:t>Customer Cancellation Reasons(2/2)</a:t>
            </a:r>
          </a:p>
          <a:p>
            <a:endParaRPr lang="en-US" dirty="0"/>
          </a:p>
        </p:txBody>
      </p:sp>
      <p:sp>
        <p:nvSpPr>
          <p:cNvPr id="3" name="TextBox 2">
            <a:extLst>
              <a:ext uri="{FF2B5EF4-FFF2-40B4-BE49-F238E27FC236}">
                <a16:creationId xmlns:a16="http://schemas.microsoft.com/office/drawing/2014/main" id="{3546BB6A-B443-E271-9D2F-86B0103BE9E3}"/>
              </a:ext>
            </a:extLst>
          </p:cNvPr>
          <p:cNvSpPr txBox="1"/>
          <p:nvPr/>
        </p:nvSpPr>
        <p:spPr>
          <a:xfrm>
            <a:off x="553155" y="620889"/>
            <a:ext cx="6641562" cy="6370975"/>
          </a:xfrm>
          <a:prstGeom prst="rect">
            <a:avLst/>
          </a:prstGeom>
          <a:noFill/>
        </p:spPr>
        <p:txBody>
          <a:bodyPr wrap="none" rtlCol="0">
            <a:spAutoFit/>
          </a:bodyPr>
          <a:lstStyle/>
          <a:p>
            <a:r>
              <a:rPr lang="en-IN" sz="1500" b="1" dirty="0"/>
              <a:t>2. Operational issues also drive cancellations</a:t>
            </a:r>
          </a:p>
          <a:p>
            <a:endParaRPr lang="en-IN" sz="1500" dirty="0"/>
          </a:p>
          <a:p>
            <a:r>
              <a:rPr lang="en-IN" sz="1500" dirty="0"/>
              <a:t>“Driver not moving towards pickup” (</a:t>
            </a:r>
            <a:r>
              <a:rPr lang="en-IN" sz="1500" b="1" dirty="0"/>
              <a:t>2,335 cases</a:t>
            </a:r>
            <a:r>
              <a:rPr lang="en-IN" sz="1500" dirty="0"/>
              <a:t>) signals:</a:t>
            </a:r>
          </a:p>
          <a:p>
            <a:pPr marL="285750" indent="-285750">
              <a:buFont typeface="Arial" panose="020B0604020202020204" pitchFamily="34" charset="0"/>
              <a:buChar char="•"/>
            </a:pPr>
            <a:r>
              <a:rPr lang="en-IN" sz="1500" dirty="0"/>
              <a:t>driver hesitancy,</a:t>
            </a:r>
          </a:p>
          <a:p>
            <a:pPr marL="285750" indent="-285750">
              <a:buFont typeface="Arial" panose="020B0604020202020204" pitchFamily="34" charset="0"/>
              <a:buChar char="•"/>
            </a:pPr>
            <a:r>
              <a:rPr lang="en-IN" sz="1500" dirty="0"/>
              <a:t>long pickup distances,</a:t>
            </a:r>
          </a:p>
          <a:p>
            <a:pPr marL="285750" indent="-285750">
              <a:buFont typeface="Arial" panose="020B0604020202020204" pitchFamily="34" charset="0"/>
              <a:buChar char="•"/>
            </a:pPr>
            <a:r>
              <a:rPr lang="en-IN" sz="1500" dirty="0"/>
              <a:t>traffic bottlenecks,</a:t>
            </a:r>
          </a:p>
          <a:p>
            <a:pPr marL="285750" indent="-285750">
              <a:buFont typeface="Arial" panose="020B0604020202020204" pitchFamily="34" charset="0"/>
              <a:buChar char="•"/>
            </a:pPr>
            <a:r>
              <a:rPr lang="en-IN" sz="1500" dirty="0"/>
              <a:t>or drivers waiting for more profitable rides.</a:t>
            </a:r>
          </a:p>
          <a:p>
            <a:endParaRPr lang="en-IN" sz="1500" dirty="0"/>
          </a:p>
          <a:p>
            <a:r>
              <a:rPr lang="en-IN" sz="1500" dirty="0"/>
              <a:t>This aligns with the high driver cancellation rates in the same time windows.</a:t>
            </a:r>
          </a:p>
          <a:p>
            <a:endParaRPr lang="en-IN" sz="1500" dirty="0"/>
          </a:p>
          <a:p>
            <a:r>
              <a:rPr lang="en-IN" sz="1500" b="1" dirty="0"/>
              <a:t>3. Driver-induced customer cancellations remain high</a:t>
            </a:r>
            <a:br>
              <a:rPr lang="en-IN" sz="1500" dirty="0"/>
            </a:br>
            <a:endParaRPr lang="en-IN" sz="1500" dirty="0"/>
          </a:p>
          <a:p>
            <a:r>
              <a:rPr lang="en-IN" sz="1500" dirty="0"/>
              <a:t>“Driver asked to cancel” (</a:t>
            </a:r>
            <a:r>
              <a:rPr lang="en-IN" sz="1500" b="1" dirty="0"/>
              <a:t>2,295 cases</a:t>
            </a:r>
            <a:r>
              <a:rPr lang="en-IN" sz="1500" dirty="0"/>
              <a:t>) is a common pattern in ride-hailing:</a:t>
            </a:r>
          </a:p>
          <a:p>
            <a:pPr marL="285750" indent="-285750">
              <a:buFont typeface="Arial" panose="020B0604020202020204" pitchFamily="34" charset="0"/>
              <a:buChar char="•"/>
            </a:pPr>
            <a:r>
              <a:rPr lang="en-IN" sz="1500" dirty="0"/>
              <a:t>Drivers avoid unprofitable trips</a:t>
            </a:r>
          </a:p>
          <a:p>
            <a:pPr marL="285750" indent="-285750">
              <a:buFont typeface="Arial" panose="020B0604020202020204" pitchFamily="34" charset="0"/>
              <a:buChar char="•"/>
            </a:pPr>
            <a:r>
              <a:rPr lang="en-IN" sz="1500" dirty="0"/>
              <a:t>Surge mismatch</a:t>
            </a:r>
          </a:p>
          <a:p>
            <a:pPr marL="285750" indent="-285750">
              <a:buFont typeface="Arial" panose="020B0604020202020204" pitchFamily="34" charset="0"/>
              <a:buChar char="•"/>
            </a:pPr>
            <a:r>
              <a:rPr lang="en-IN" sz="1500" dirty="0"/>
              <a:t>Destination bias</a:t>
            </a:r>
          </a:p>
          <a:p>
            <a:pPr marL="285750" indent="-285750">
              <a:buFont typeface="Arial" panose="020B0604020202020204" pitchFamily="34" charset="0"/>
              <a:buChar char="•"/>
            </a:pPr>
            <a:r>
              <a:rPr lang="en-IN" sz="1500" dirty="0"/>
              <a:t>Long pickup issues</a:t>
            </a:r>
          </a:p>
          <a:p>
            <a:endParaRPr lang="en-IN" sz="1500" dirty="0"/>
          </a:p>
          <a:p>
            <a:r>
              <a:rPr lang="en-IN" sz="1500" b="1" dirty="0"/>
              <a:t>4. Comfort concerns (AC not working) also appear significantly</a:t>
            </a:r>
            <a:br>
              <a:rPr lang="en-IN" sz="1500" dirty="0"/>
            </a:br>
            <a:endParaRPr lang="en-IN" sz="1500" dirty="0"/>
          </a:p>
          <a:p>
            <a:r>
              <a:rPr lang="en-IN" sz="1500" dirty="0"/>
              <a:t>Even </a:t>
            </a:r>
            <a:r>
              <a:rPr lang="en-IN" sz="1500" b="1" dirty="0"/>
              <a:t>1,155 cancellations</a:t>
            </a:r>
            <a:r>
              <a:rPr lang="en-IN" sz="1500" dirty="0"/>
              <a:t> due to AC issues reflect:</a:t>
            </a:r>
          </a:p>
          <a:p>
            <a:pPr marL="285750" indent="-285750">
              <a:buFont typeface="Arial" panose="020B0604020202020204" pitchFamily="34" charset="0"/>
              <a:buChar char="•"/>
            </a:pPr>
            <a:r>
              <a:rPr lang="en-IN" sz="1500" dirty="0"/>
              <a:t>quality expectations</a:t>
            </a:r>
          </a:p>
          <a:p>
            <a:pPr marL="285750" indent="-285750">
              <a:buFont typeface="Arial" panose="020B0604020202020204" pitchFamily="34" charset="0"/>
              <a:buChar char="•"/>
            </a:pPr>
            <a:r>
              <a:rPr lang="en-IN" sz="1500" dirty="0"/>
              <a:t>poor vehicle upkeep</a:t>
            </a:r>
          </a:p>
          <a:p>
            <a:pPr marL="285750" indent="-285750">
              <a:buFont typeface="Arial" panose="020B0604020202020204" pitchFamily="34" charset="0"/>
              <a:buChar char="•"/>
            </a:pPr>
            <a:r>
              <a:rPr lang="en-IN" sz="1500" dirty="0"/>
              <a:t>discomfort during NCR weather</a:t>
            </a:r>
          </a:p>
          <a:p>
            <a:endParaRPr lang="en-IN" sz="1500" dirty="0"/>
          </a:p>
          <a:p>
            <a:endParaRPr lang="en-US" dirty="0"/>
          </a:p>
        </p:txBody>
      </p:sp>
    </p:spTree>
    <p:extLst>
      <p:ext uri="{BB962C8B-B14F-4D97-AF65-F5344CB8AC3E}">
        <p14:creationId xmlns:p14="http://schemas.microsoft.com/office/powerpoint/2010/main" val="357261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FC1A05-113F-0A13-4DE8-C6CB26FD558E}"/>
              </a:ext>
            </a:extLst>
          </p:cNvPr>
          <p:cNvSpPr txBox="1"/>
          <p:nvPr/>
        </p:nvSpPr>
        <p:spPr>
          <a:xfrm>
            <a:off x="485422" y="541867"/>
            <a:ext cx="8589211" cy="6340197"/>
          </a:xfrm>
          <a:prstGeom prst="rect">
            <a:avLst/>
          </a:prstGeom>
          <a:noFill/>
        </p:spPr>
        <p:txBody>
          <a:bodyPr wrap="none" rtlCol="0">
            <a:spAutoFit/>
          </a:bodyPr>
          <a:lstStyle/>
          <a:p>
            <a:r>
              <a:rPr lang="en-IN" sz="1400" b="1" dirty="0"/>
              <a:t>1. Customer cancellations peak in the same evening window as driver cancellations (5–8 PM)</a:t>
            </a:r>
          </a:p>
          <a:p>
            <a:endParaRPr lang="en-IN" sz="1400" dirty="0"/>
          </a:p>
          <a:p>
            <a:r>
              <a:rPr lang="en-IN" sz="1400" dirty="0"/>
              <a:t>Customers are more likely to cancel during heavy traffic or long wait times.</a:t>
            </a:r>
          </a:p>
          <a:p>
            <a:r>
              <a:rPr lang="en-IN" sz="1400" dirty="0"/>
              <a:t>This aligns perfectly with driver cancellations → </a:t>
            </a:r>
            <a:r>
              <a:rPr lang="en-IN" sz="1400" b="1" dirty="0"/>
              <a:t>demand &amp; supply strain converge in the same hours.</a:t>
            </a:r>
            <a:endParaRPr lang="en-IN" sz="1400" dirty="0"/>
          </a:p>
          <a:p>
            <a:endParaRPr lang="en-IN" sz="1400" dirty="0"/>
          </a:p>
          <a:p>
            <a:r>
              <a:rPr lang="en-IN" sz="1400" b="1" dirty="0"/>
              <a:t>2. Secondary cancellation surge in mid-morning (10–11 AM)</a:t>
            </a:r>
          </a:p>
          <a:p>
            <a:endParaRPr lang="en-IN" sz="1400" dirty="0"/>
          </a:p>
          <a:p>
            <a:r>
              <a:rPr lang="en-IN" sz="1400" dirty="0"/>
              <a:t>This often correlates with:</a:t>
            </a:r>
          </a:p>
          <a:p>
            <a:pPr marL="285750" indent="-285750">
              <a:buFont typeface="Arial" panose="020B0604020202020204" pitchFamily="34" charset="0"/>
              <a:buChar char="•"/>
            </a:pPr>
            <a:r>
              <a:rPr lang="en-IN" sz="1400" dirty="0"/>
              <a:t>late pickups,</a:t>
            </a:r>
          </a:p>
          <a:p>
            <a:pPr marL="285750" indent="-285750">
              <a:buFont typeface="Arial" panose="020B0604020202020204" pitchFamily="34" charset="0"/>
              <a:buChar char="•"/>
            </a:pPr>
            <a:r>
              <a:rPr lang="en-IN" sz="1400" dirty="0"/>
              <a:t>incorrect addresses,</a:t>
            </a:r>
          </a:p>
          <a:p>
            <a:pPr marL="285750" indent="-285750">
              <a:buFont typeface="Arial" panose="020B0604020202020204" pitchFamily="34" charset="0"/>
              <a:buChar char="•"/>
            </a:pPr>
            <a:r>
              <a:rPr lang="en-IN" sz="1400" dirty="0"/>
              <a:t>changing plans.</a:t>
            </a:r>
          </a:p>
          <a:p>
            <a:endParaRPr lang="en-IN" sz="1400" dirty="0"/>
          </a:p>
          <a:p>
            <a:r>
              <a:rPr lang="en-IN" sz="1400" b="1" dirty="0"/>
              <a:t>3. Customer </a:t>
            </a:r>
            <a:r>
              <a:rPr lang="en-IN" sz="1400" b="1" dirty="0" err="1"/>
              <a:t>behavior</a:t>
            </a:r>
            <a:r>
              <a:rPr lang="en-IN" sz="1400" b="1" dirty="0"/>
              <a:t> is reactive to driver </a:t>
            </a:r>
            <a:r>
              <a:rPr lang="en-IN" sz="1400" b="1" dirty="0" err="1"/>
              <a:t>behavior</a:t>
            </a:r>
            <a:endParaRPr lang="en-IN" sz="1400" b="1" dirty="0"/>
          </a:p>
          <a:p>
            <a:endParaRPr lang="en-IN" sz="1400" dirty="0"/>
          </a:p>
          <a:p>
            <a:r>
              <a:rPr lang="en-IN" sz="1400" dirty="0"/>
              <a:t>The third-highest reason (“Driver not moving towards pickup”) heavily contributes to 5–8 PM cancellations.</a:t>
            </a:r>
          </a:p>
          <a:p>
            <a:r>
              <a:rPr lang="en-IN" sz="1400" dirty="0"/>
              <a:t>In other words:</a:t>
            </a:r>
          </a:p>
          <a:p>
            <a:pPr marL="285750" indent="-285750">
              <a:buFont typeface="Arial" panose="020B0604020202020204" pitchFamily="34" charset="0"/>
              <a:buChar char="•"/>
            </a:pPr>
            <a:r>
              <a:rPr lang="en-IN" sz="1400" dirty="0"/>
              <a:t>When drivers hesitate during peak traffic, customers cancel too.</a:t>
            </a:r>
          </a:p>
          <a:p>
            <a:pPr marL="285750" indent="-285750">
              <a:buFont typeface="Arial" panose="020B0604020202020204" pitchFamily="34" charset="0"/>
              <a:buChar char="•"/>
            </a:pPr>
            <a:r>
              <a:rPr lang="en-IN" sz="1400" dirty="0"/>
              <a:t>This mirrors the operational problem found earlier.</a:t>
            </a:r>
            <a:br>
              <a:rPr lang="en-IN" sz="1400" dirty="0"/>
            </a:br>
            <a:endParaRPr lang="en-IN" sz="1400" dirty="0"/>
          </a:p>
          <a:p>
            <a:r>
              <a:rPr lang="en-IN" sz="1400" b="1" dirty="0"/>
              <a:t>4. Very low cancellations after midnight (12AM–4 AM)</a:t>
            </a:r>
          </a:p>
          <a:p>
            <a:endParaRPr lang="en-IN" sz="1400" dirty="0"/>
          </a:p>
          <a:p>
            <a:r>
              <a:rPr lang="en-IN" sz="1400" dirty="0"/>
              <a:t>At night:</a:t>
            </a:r>
          </a:p>
          <a:p>
            <a:pPr marL="285750" indent="-285750">
              <a:buFont typeface="Arial" panose="020B0604020202020204" pitchFamily="34" charset="0"/>
              <a:buChar char="•"/>
            </a:pPr>
            <a:r>
              <a:rPr lang="en-IN" sz="1400" dirty="0"/>
              <a:t>less traffic</a:t>
            </a:r>
          </a:p>
          <a:p>
            <a:pPr marL="285750" indent="-285750">
              <a:buFont typeface="Arial" panose="020B0604020202020204" pitchFamily="34" charset="0"/>
              <a:buChar char="•"/>
            </a:pPr>
            <a:r>
              <a:rPr lang="en-IN" sz="1400" dirty="0"/>
              <a:t>quicker pickups</a:t>
            </a:r>
          </a:p>
          <a:p>
            <a:pPr marL="285750" indent="-285750">
              <a:buFont typeface="Arial" panose="020B0604020202020204" pitchFamily="34" charset="0"/>
              <a:buChar char="•"/>
            </a:pPr>
            <a:r>
              <a:rPr lang="en-IN" sz="1400" dirty="0"/>
              <a:t>fewer plan changes</a:t>
            </a:r>
          </a:p>
          <a:p>
            <a:pPr marL="285750" indent="-285750">
              <a:buFont typeface="Arial" panose="020B0604020202020204" pitchFamily="34" charset="0"/>
              <a:buChar char="•"/>
            </a:pPr>
            <a:r>
              <a:rPr lang="en-IN" sz="1400" dirty="0"/>
              <a:t>lower cancellation pressure</a:t>
            </a:r>
            <a:br>
              <a:rPr lang="en-IN" sz="1400" dirty="0"/>
            </a:br>
            <a:endParaRPr lang="en-IN" sz="1400" dirty="0"/>
          </a:p>
          <a:p>
            <a:endParaRPr lang="en-US" sz="1400" dirty="0"/>
          </a:p>
        </p:txBody>
      </p:sp>
      <p:sp>
        <p:nvSpPr>
          <p:cNvPr id="3" name="TextBox 2">
            <a:extLst>
              <a:ext uri="{FF2B5EF4-FFF2-40B4-BE49-F238E27FC236}">
                <a16:creationId xmlns:a16="http://schemas.microsoft.com/office/drawing/2014/main" id="{EE406F2C-9912-41E9-B60D-6E0579785842}"/>
              </a:ext>
            </a:extLst>
          </p:cNvPr>
          <p:cNvSpPr txBox="1"/>
          <p:nvPr/>
        </p:nvSpPr>
        <p:spPr>
          <a:xfrm>
            <a:off x="485422" y="93513"/>
            <a:ext cx="3762568" cy="369332"/>
          </a:xfrm>
          <a:prstGeom prst="rect">
            <a:avLst/>
          </a:prstGeom>
          <a:noFill/>
        </p:spPr>
        <p:txBody>
          <a:bodyPr wrap="none" rtlCol="0">
            <a:spAutoFit/>
          </a:bodyPr>
          <a:lstStyle/>
          <a:p>
            <a:r>
              <a:rPr lang="en-IN" b="1" dirty="0">
                <a:solidFill>
                  <a:srgbClr val="166A3F"/>
                </a:solidFill>
              </a:rPr>
              <a:t>Customer Cancellations by Hour</a:t>
            </a:r>
            <a:endParaRPr lang="en-US" dirty="0"/>
          </a:p>
        </p:txBody>
      </p:sp>
    </p:spTree>
    <p:extLst>
      <p:ext uri="{BB962C8B-B14F-4D97-AF65-F5344CB8AC3E}">
        <p14:creationId xmlns:p14="http://schemas.microsoft.com/office/powerpoint/2010/main" val="861034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BB8D10-B130-F96B-A51D-35BC39B383BF}"/>
              </a:ext>
            </a:extLst>
          </p:cNvPr>
          <p:cNvSpPr txBox="1"/>
          <p:nvPr/>
        </p:nvSpPr>
        <p:spPr>
          <a:xfrm>
            <a:off x="406400" y="203200"/>
            <a:ext cx="3890873" cy="646331"/>
          </a:xfrm>
          <a:prstGeom prst="rect">
            <a:avLst/>
          </a:prstGeom>
          <a:noFill/>
        </p:spPr>
        <p:txBody>
          <a:bodyPr wrap="none" rtlCol="0">
            <a:spAutoFit/>
          </a:bodyPr>
          <a:lstStyle/>
          <a:p>
            <a:r>
              <a:rPr lang="en-IN" b="1" dirty="0">
                <a:solidFill>
                  <a:srgbClr val="166A3F"/>
                </a:solidFill>
              </a:rPr>
              <a:t>No Driver Found — Time Analysis</a:t>
            </a:r>
          </a:p>
          <a:p>
            <a:endParaRPr lang="en-US" dirty="0"/>
          </a:p>
        </p:txBody>
      </p:sp>
      <p:sp>
        <p:nvSpPr>
          <p:cNvPr id="3" name="TextBox 2">
            <a:extLst>
              <a:ext uri="{FF2B5EF4-FFF2-40B4-BE49-F238E27FC236}">
                <a16:creationId xmlns:a16="http://schemas.microsoft.com/office/drawing/2014/main" id="{7778AE69-F8B5-CC0F-A149-6C2FCD87E75D}"/>
              </a:ext>
            </a:extLst>
          </p:cNvPr>
          <p:cNvSpPr txBox="1"/>
          <p:nvPr/>
        </p:nvSpPr>
        <p:spPr>
          <a:xfrm>
            <a:off x="455303" y="666044"/>
            <a:ext cx="8016938" cy="5970865"/>
          </a:xfrm>
          <a:prstGeom prst="rect">
            <a:avLst/>
          </a:prstGeom>
          <a:noFill/>
        </p:spPr>
        <p:txBody>
          <a:bodyPr wrap="none" rtlCol="0">
            <a:spAutoFit/>
          </a:bodyPr>
          <a:lstStyle/>
          <a:p>
            <a:r>
              <a:rPr lang="en-IN" sz="1300" b="1" dirty="0"/>
              <a:t>1. Supply shortages peak during the evening commute (5 PM – 8 PM)</a:t>
            </a:r>
            <a:br>
              <a:rPr lang="en-IN" sz="1300" dirty="0"/>
            </a:br>
            <a:endParaRPr lang="en-IN" sz="1300" dirty="0"/>
          </a:p>
          <a:p>
            <a:pPr marL="171450" indent="-171450">
              <a:buFont typeface="Arial" panose="020B0604020202020204" pitchFamily="34" charset="0"/>
              <a:buChar char="•"/>
            </a:pPr>
            <a:r>
              <a:rPr lang="en-IN" sz="1300" dirty="0"/>
              <a:t>peak demand</a:t>
            </a:r>
          </a:p>
          <a:p>
            <a:pPr marL="171450" indent="-171450">
              <a:buFont typeface="Arial" panose="020B0604020202020204" pitchFamily="34" charset="0"/>
              <a:buChar char="•"/>
            </a:pPr>
            <a:r>
              <a:rPr lang="en-IN" sz="1300" dirty="0"/>
              <a:t>peak driver cancellations</a:t>
            </a:r>
          </a:p>
          <a:p>
            <a:pPr marL="171450" indent="-171450">
              <a:buFont typeface="Arial" panose="020B0604020202020204" pitchFamily="34" charset="0"/>
              <a:buChar char="•"/>
            </a:pPr>
            <a:r>
              <a:rPr lang="en-IN" sz="1300" dirty="0"/>
              <a:t>peak customer cancellations</a:t>
            </a:r>
            <a:br>
              <a:rPr lang="en-IN" sz="1300" dirty="0"/>
            </a:br>
            <a:endParaRPr lang="en-IN" sz="1300" dirty="0"/>
          </a:p>
          <a:p>
            <a:r>
              <a:rPr lang="en-IN" sz="1300" b="1" dirty="0"/>
              <a:t>Three different metrics all point to the same operational bottleneck.</a:t>
            </a:r>
            <a:endParaRPr lang="en-IN" sz="1300" dirty="0"/>
          </a:p>
          <a:p>
            <a:r>
              <a:rPr lang="en-IN" sz="1300" dirty="0"/>
              <a:t>This is the strongest evidence of </a:t>
            </a:r>
            <a:r>
              <a:rPr lang="en-IN" sz="1300" b="1" dirty="0"/>
              <a:t>demand &gt; supply</a:t>
            </a:r>
            <a:r>
              <a:rPr lang="en-IN" sz="1300" dirty="0"/>
              <a:t> during evenings in NCR.</a:t>
            </a:r>
            <a:br>
              <a:rPr lang="en-IN" sz="1300" dirty="0"/>
            </a:br>
            <a:endParaRPr lang="en-IN" sz="1300" dirty="0"/>
          </a:p>
          <a:p>
            <a:r>
              <a:rPr lang="en-IN" sz="1300" b="1" dirty="0"/>
              <a:t>2. Morning shortages exist but are smaller (9 AM – 11 AM)</a:t>
            </a:r>
            <a:br>
              <a:rPr lang="en-IN" sz="1300" dirty="0"/>
            </a:br>
            <a:endParaRPr lang="en-IN" sz="1300" dirty="0"/>
          </a:p>
          <a:p>
            <a:pPr marL="171450" indent="-171450">
              <a:buFont typeface="Arial" panose="020B0604020202020204" pitchFamily="34" charset="0"/>
              <a:buChar char="•"/>
            </a:pPr>
            <a:r>
              <a:rPr lang="en-IN" sz="1300" dirty="0"/>
              <a:t>office rollout timing,</a:t>
            </a:r>
          </a:p>
          <a:p>
            <a:pPr marL="171450" indent="-171450">
              <a:buFont typeface="Arial" panose="020B0604020202020204" pitchFamily="34" charset="0"/>
              <a:buChar char="•"/>
            </a:pPr>
            <a:r>
              <a:rPr lang="en-IN" sz="1300" dirty="0"/>
              <a:t>school commute,</a:t>
            </a:r>
          </a:p>
          <a:p>
            <a:pPr marL="171450" indent="-171450">
              <a:buFont typeface="Arial" panose="020B0604020202020204" pitchFamily="34" charset="0"/>
              <a:buChar char="•"/>
            </a:pPr>
            <a:r>
              <a:rPr lang="en-IN" sz="1300" dirty="0"/>
              <a:t>drivers selectively accepting only profitable rides in the morning.</a:t>
            </a:r>
          </a:p>
          <a:p>
            <a:r>
              <a:rPr lang="en-IN" sz="1300" dirty="0"/>
              <a:t>Supply is tight but not as broken as in the evening.</a:t>
            </a:r>
          </a:p>
          <a:p>
            <a:endParaRPr lang="en-IN" sz="1300" dirty="0"/>
          </a:p>
          <a:p>
            <a:r>
              <a:rPr lang="en-IN" sz="1300" b="1" dirty="0"/>
              <a:t>3. Night hours show almost no supply issues</a:t>
            </a:r>
            <a:br>
              <a:rPr lang="en-IN" sz="1300" dirty="0"/>
            </a:br>
            <a:endParaRPr lang="en-IN" sz="1300" dirty="0"/>
          </a:p>
          <a:p>
            <a:r>
              <a:rPr lang="en-IN" sz="1300" dirty="0"/>
              <a:t>Between 11 PM and 4 AM, shortage cases drop to double digits.</a:t>
            </a:r>
          </a:p>
          <a:p>
            <a:endParaRPr lang="en-IN" sz="1300" dirty="0"/>
          </a:p>
          <a:p>
            <a:pPr marL="171450" indent="-171450">
              <a:buFont typeface="Arial" panose="020B0604020202020204" pitchFamily="34" charset="0"/>
              <a:buChar char="•"/>
            </a:pPr>
            <a:r>
              <a:rPr lang="en-IN" sz="1300" dirty="0"/>
              <a:t>Lower demand</a:t>
            </a:r>
          </a:p>
          <a:p>
            <a:pPr marL="171450" indent="-171450">
              <a:buFont typeface="Arial" panose="020B0604020202020204" pitchFamily="34" charset="0"/>
              <a:buChar char="•"/>
            </a:pPr>
            <a:r>
              <a:rPr lang="en-IN" sz="1300" dirty="0"/>
              <a:t>Available drivers are enough</a:t>
            </a:r>
          </a:p>
          <a:p>
            <a:pPr marL="171450" indent="-171450">
              <a:buFont typeface="Arial" panose="020B0604020202020204" pitchFamily="34" charset="0"/>
              <a:buChar char="•"/>
            </a:pPr>
            <a:r>
              <a:rPr lang="en-IN" sz="1300" dirty="0"/>
              <a:t>Faster pickups due to no traffic</a:t>
            </a:r>
          </a:p>
          <a:p>
            <a:endParaRPr lang="en-IN" sz="1300" dirty="0"/>
          </a:p>
          <a:p>
            <a:r>
              <a:rPr lang="en-IN" sz="1300" b="1" dirty="0"/>
              <a:t>4. No Driver Found always aligns with driver cancellation patterns</a:t>
            </a:r>
            <a:br>
              <a:rPr lang="en-IN" sz="1300" dirty="0"/>
            </a:br>
            <a:endParaRPr lang="en-IN" sz="1300" dirty="0"/>
          </a:p>
          <a:p>
            <a:r>
              <a:rPr lang="en-IN" sz="1300" dirty="0"/>
              <a:t>When drivers cancel more aggressively, the system also fails to assign replacement drivers.</a:t>
            </a:r>
          </a:p>
          <a:p>
            <a:r>
              <a:rPr lang="en-IN" sz="1300" dirty="0"/>
              <a:t>This reinforces:   </a:t>
            </a:r>
            <a:r>
              <a:rPr lang="en-IN" sz="1300" b="1" dirty="0"/>
              <a:t>Evening traffic + low driver willingness → systemic supply collapse in peak hours.</a:t>
            </a:r>
            <a:endParaRPr lang="en-IN" sz="1300" dirty="0"/>
          </a:p>
          <a:p>
            <a:endParaRPr lang="en-US" dirty="0"/>
          </a:p>
        </p:txBody>
      </p:sp>
    </p:spTree>
    <p:extLst>
      <p:ext uri="{BB962C8B-B14F-4D97-AF65-F5344CB8AC3E}">
        <p14:creationId xmlns:p14="http://schemas.microsoft.com/office/powerpoint/2010/main" val="3380805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5DD2B4-A399-9AEF-8D36-1231F28658B6}"/>
              </a:ext>
            </a:extLst>
          </p:cNvPr>
          <p:cNvSpPr txBox="1"/>
          <p:nvPr/>
        </p:nvSpPr>
        <p:spPr>
          <a:xfrm>
            <a:off x="372533" y="304800"/>
            <a:ext cx="3360728" cy="369332"/>
          </a:xfrm>
          <a:prstGeom prst="rect">
            <a:avLst/>
          </a:prstGeom>
          <a:noFill/>
        </p:spPr>
        <p:txBody>
          <a:bodyPr wrap="none" rtlCol="0">
            <a:spAutoFit/>
          </a:bodyPr>
          <a:lstStyle/>
          <a:p>
            <a:r>
              <a:rPr lang="en-US" b="1" dirty="0">
                <a:solidFill>
                  <a:srgbClr val="166A3F"/>
                </a:solidFill>
              </a:rPr>
              <a:t>Top 10 Pickup Locations(1/2)</a:t>
            </a:r>
          </a:p>
        </p:txBody>
      </p:sp>
      <p:sp>
        <p:nvSpPr>
          <p:cNvPr id="3" name="TextBox 2">
            <a:extLst>
              <a:ext uri="{FF2B5EF4-FFF2-40B4-BE49-F238E27FC236}">
                <a16:creationId xmlns:a16="http://schemas.microsoft.com/office/drawing/2014/main" id="{E573DE5B-303E-E959-C589-83AACE85D425}"/>
              </a:ext>
            </a:extLst>
          </p:cNvPr>
          <p:cNvSpPr txBox="1"/>
          <p:nvPr/>
        </p:nvSpPr>
        <p:spPr>
          <a:xfrm>
            <a:off x="485422" y="869244"/>
            <a:ext cx="7179734" cy="5539978"/>
          </a:xfrm>
          <a:prstGeom prst="rect">
            <a:avLst/>
          </a:prstGeom>
          <a:noFill/>
        </p:spPr>
        <p:txBody>
          <a:bodyPr wrap="square" rtlCol="0">
            <a:spAutoFit/>
          </a:bodyPr>
          <a:lstStyle/>
          <a:p>
            <a:r>
              <a:rPr lang="en-IN" sz="1400" b="1" dirty="0"/>
              <a:t>1. Demand is highly decentralized across NCR</a:t>
            </a:r>
          </a:p>
          <a:p>
            <a:endParaRPr lang="en-IN" sz="1400" dirty="0"/>
          </a:p>
          <a:p>
            <a:r>
              <a:rPr lang="en-IN" sz="1400" dirty="0"/>
              <a:t>The top locations span:</a:t>
            </a:r>
          </a:p>
          <a:p>
            <a:endParaRPr lang="en-IN" sz="1400" dirty="0"/>
          </a:p>
          <a:p>
            <a:pPr marL="285750" indent="-285750">
              <a:buFont typeface="Arial" panose="020B0604020202020204" pitchFamily="34" charset="0"/>
              <a:buChar char="•"/>
            </a:pPr>
            <a:r>
              <a:rPr lang="en-IN" sz="1400" dirty="0"/>
              <a:t>Central Delhi (</a:t>
            </a:r>
            <a:r>
              <a:rPr lang="en-IN" sz="1400" dirty="0" err="1"/>
              <a:t>Barakhamba</a:t>
            </a:r>
            <a:r>
              <a:rPr lang="en-IN" sz="1400" dirty="0"/>
              <a:t> Road, Pragati Maidan)</a:t>
            </a:r>
          </a:p>
          <a:p>
            <a:pPr marL="285750" indent="-285750">
              <a:buFont typeface="Arial" panose="020B0604020202020204" pitchFamily="34" charset="0"/>
              <a:buChar char="•"/>
            </a:pPr>
            <a:r>
              <a:rPr lang="en-IN" sz="1400" dirty="0"/>
              <a:t>South Delhi (Saket, AIIMS, Mehrauli)</a:t>
            </a:r>
          </a:p>
          <a:p>
            <a:pPr marL="285750" indent="-285750">
              <a:buFont typeface="Arial" panose="020B0604020202020204" pitchFamily="34" charset="0"/>
              <a:buChar char="•"/>
            </a:pPr>
            <a:r>
              <a:rPr lang="en-IN" sz="1400" dirty="0"/>
              <a:t>Gurgaon (</a:t>
            </a:r>
            <a:r>
              <a:rPr lang="en-IN" sz="1400" dirty="0" err="1"/>
              <a:t>Khandsa</a:t>
            </a:r>
            <a:r>
              <a:rPr lang="en-IN" sz="1400" dirty="0"/>
              <a:t>, Pataudi Chowk)</a:t>
            </a:r>
          </a:p>
          <a:p>
            <a:pPr marL="285750" indent="-285750">
              <a:buFont typeface="Arial" panose="020B0604020202020204" pitchFamily="34" charset="0"/>
              <a:buChar char="•"/>
            </a:pPr>
            <a:r>
              <a:rPr lang="en-IN" sz="1400" dirty="0"/>
              <a:t>West Delhi (Madipur)</a:t>
            </a:r>
          </a:p>
          <a:p>
            <a:endParaRPr lang="en-IN" sz="1400" dirty="0"/>
          </a:p>
          <a:p>
            <a:r>
              <a:rPr lang="en-IN" sz="1400" dirty="0"/>
              <a:t>This shows Uber demand is not restricted to a single hub — </a:t>
            </a:r>
            <a:r>
              <a:rPr lang="en-IN" sz="1400" b="1" dirty="0"/>
              <a:t>it is spread across multiple micro-markets</a:t>
            </a:r>
            <a:r>
              <a:rPr lang="en-IN" sz="1400" dirty="0"/>
              <a:t>.</a:t>
            </a:r>
          </a:p>
          <a:p>
            <a:endParaRPr lang="en-IN" sz="1400" dirty="0"/>
          </a:p>
          <a:p>
            <a:r>
              <a:rPr lang="en-IN" sz="1400" b="1" dirty="0"/>
              <a:t>2. </a:t>
            </a:r>
            <a:r>
              <a:rPr lang="en-IN" sz="1400" b="1" dirty="0" err="1"/>
              <a:t>Khandsa</a:t>
            </a:r>
            <a:r>
              <a:rPr lang="en-IN" sz="1400" b="1" dirty="0"/>
              <a:t> leads, indicating strong Gurgaon demand</a:t>
            </a:r>
          </a:p>
          <a:p>
            <a:endParaRPr lang="en-IN" sz="1400" dirty="0"/>
          </a:p>
          <a:p>
            <a:r>
              <a:rPr lang="en-IN" sz="1400" dirty="0"/>
              <a:t>Gurgaon (</a:t>
            </a:r>
            <a:r>
              <a:rPr lang="en-IN" sz="1400" dirty="0" err="1"/>
              <a:t>Khandsa</a:t>
            </a:r>
            <a:r>
              <a:rPr lang="en-IN" sz="1400" dirty="0"/>
              <a:t> + Pataudi Chowk) appears twice in the top 10, reflecting:</a:t>
            </a:r>
          </a:p>
          <a:p>
            <a:endParaRPr lang="en-IN" sz="1400" dirty="0"/>
          </a:p>
          <a:p>
            <a:pPr marL="285750" indent="-285750">
              <a:buFont typeface="Arial" panose="020B0604020202020204" pitchFamily="34" charset="0"/>
              <a:buChar char="•"/>
            </a:pPr>
            <a:r>
              <a:rPr lang="en-IN" sz="1400" dirty="0"/>
              <a:t>corporate cluster movement</a:t>
            </a:r>
          </a:p>
          <a:p>
            <a:pPr marL="285750" indent="-285750">
              <a:buFont typeface="Arial" panose="020B0604020202020204" pitchFamily="34" charset="0"/>
              <a:buChar char="•"/>
            </a:pPr>
            <a:r>
              <a:rPr lang="en-IN" sz="1400" dirty="0"/>
              <a:t>residential commuting</a:t>
            </a:r>
          </a:p>
          <a:p>
            <a:pPr marL="285750" indent="-285750">
              <a:buFont typeface="Arial" panose="020B0604020202020204" pitchFamily="34" charset="0"/>
              <a:buChar char="•"/>
            </a:pPr>
            <a:r>
              <a:rPr lang="en-IN" sz="1400" dirty="0"/>
              <a:t>office-hour traffic</a:t>
            </a:r>
          </a:p>
          <a:p>
            <a:endParaRPr lang="en-IN" sz="1400" dirty="0"/>
          </a:p>
          <a:p>
            <a:r>
              <a:rPr lang="en-IN" sz="1400" dirty="0"/>
              <a:t>This aligns with NCR working population patterns.</a:t>
            </a:r>
            <a:br>
              <a:rPr lang="en-IN" sz="1400" dirty="0"/>
            </a:br>
            <a:endParaRPr lang="en-IN" sz="1400" dirty="0"/>
          </a:p>
          <a:p>
            <a:endParaRPr lang="en-IN" sz="1400" dirty="0"/>
          </a:p>
          <a:p>
            <a:endParaRPr lang="en-IN" sz="1400" dirty="0"/>
          </a:p>
          <a:p>
            <a:endParaRPr lang="en-US" dirty="0"/>
          </a:p>
        </p:txBody>
      </p:sp>
      <p:pic>
        <p:nvPicPr>
          <p:cNvPr id="4" name="Picture 3" descr="A screenshot of a computer&#10;&#10;AI-generated content may be incorrect.">
            <a:extLst>
              <a:ext uri="{FF2B5EF4-FFF2-40B4-BE49-F238E27FC236}">
                <a16:creationId xmlns:a16="http://schemas.microsoft.com/office/drawing/2014/main" id="{80E2595B-1C39-AB7F-0A04-6D83752C1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9068" y="1220153"/>
            <a:ext cx="4199466" cy="3566336"/>
          </a:xfrm>
          <a:prstGeom prst="rect">
            <a:avLst/>
          </a:prstGeom>
        </p:spPr>
      </p:pic>
    </p:spTree>
    <p:extLst>
      <p:ext uri="{BB962C8B-B14F-4D97-AF65-F5344CB8AC3E}">
        <p14:creationId xmlns:p14="http://schemas.microsoft.com/office/powerpoint/2010/main" val="3728034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5DDE04-CA2D-14E3-E9B6-9D1EC0DFFD22}"/>
              </a:ext>
            </a:extLst>
          </p:cNvPr>
          <p:cNvSpPr txBox="1"/>
          <p:nvPr/>
        </p:nvSpPr>
        <p:spPr>
          <a:xfrm>
            <a:off x="395111" y="936977"/>
            <a:ext cx="8417689" cy="5324535"/>
          </a:xfrm>
          <a:prstGeom prst="rect">
            <a:avLst/>
          </a:prstGeom>
          <a:noFill/>
        </p:spPr>
        <p:txBody>
          <a:bodyPr wrap="none" rtlCol="0">
            <a:spAutoFit/>
          </a:bodyPr>
          <a:lstStyle/>
          <a:p>
            <a:r>
              <a:rPr lang="en-IN" sz="1400" b="1" dirty="0"/>
              <a:t>3. High traffic corridors dominate (</a:t>
            </a:r>
            <a:r>
              <a:rPr lang="en-IN" sz="1400" b="1" dirty="0" err="1"/>
              <a:t>Barakhamba</a:t>
            </a:r>
            <a:r>
              <a:rPr lang="en-IN" sz="1400" b="1" dirty="0"/>
              <a:t>, Badarpur, Pragati Maidan)</a:t>
            </a:r>
          </a:p>
          <a:p>
            <a:endParaRPr lang="en-IN" sz="1400" dirty="0"/>
          </a:p>
          <a:p>
            <a:r>
              <a:rPr lang="en-IN" sz="1400" dirty="0"/>
              <a:t>These are:</a:t>
            </a:r>
          </a:p>
          <a:p>
            <a:pPr marL="285750" indent="-285750">
              <a:buFont typeface="Arial" panose="020B0604020202020204" pitchFamily="34" charset="0"/>
              <a:buChar char="•"/>
            </a:pPr>
            <a:r>
              <a:rPr lang="en-IN" sz="1400" dirty="0"/>
              <a:t>metro station zones</a:t>
            </a:r>
          </a:p>
          <a:p>
            <a:pPr marL="285750" indent="-285750">
              <a:buFont typeface="Arial" panose="020B0604020202020204" pitchFamily="34" charset="0"/>
              <a:buChar char="•"/>
            </a:pPr>
            <a:r>
              <a:rPr lang="en-IN" sz="1400" dirty="0"/>
              <a:t>office clusters</a:t>
            </a:r>
          </a:p>
          <a:p>
            <a:pPr marL="285750" indent="-285750">
              <a:buFont typeface="Arial" panose="020B0604020202020204" pitchFamily="34" charset="0"/>
              <a:buChar char="•"/>
            </a:pPr>
            <a:r>
              <a:rPr lang="en-IN" sz="1400" dirty="0"/>
              <a:t>highway connectors</a:t>
            </a:r>
          </a:p>
          <a:p>
            <a:endParaRPr lang="en-IN" sz="1400" dirty="0"/>
          </a:p>
          <a:p>
            <a:r>
              <a:rPr lang="en-IN" sz="1400" dirty="0"/>
              <a:t>High ride volume here suggests strong first-mile / last-mile dependency on Uber.</a:t>
            </a:r>
          </a:p>
          <a:p>
            <a:endParaRPr lang="en-IN" sz="1400" dirty="0"/>
          </a:p>
          <a:p>
            <a:r>
              <a:rPr lang="en-IN" sz="1400" b="1" dirty="0"/>
              <a:t>4. Metro connectivity drives Uber usage</a:t>
            </a:r>
          </a:p>
          <a:p>
            <a:endParaRPr lang="en-IN" sz="1400" dirty="0"/>
          </a:p>
          <a:p>
            <a:r>
              <a:rPr lang="en-IN" sz="1400" dirty="0"/>
              <a:t>Locations like:</a:t>
            </a:r>
          </a:p>
          <a:p>
            <a:pPr marL="285750" indent="-285750">
              <a:buFont typeface="Arial" panose="020B0604020202020204" pitchFamily="34" charset="0"/>
              <a:buChar char="•"/>
            </a:pPr>
            <a:r>
              <a:rPr lang="en-IN" sz="1400" dirty="0"/>
              <a:t>Saket</a:t>
            </a:r>
          </a:p>
          <a:p>
            <a:pPr marL="285750" indent="-285750">
              <a:buFont typeface="Arial" panose="020B0604020202020204" pitchFamily="34" charset="0"/>
              <a:buChar char="•"/>
            </a:pPr>
            <a:r>
              <a:rPr lang="en-IN" sz="1400" dirty="0"/>
              <a:t>AIIMS</a:t>
            </a:r>
          </a:p>
          <a:p>
            <a:pPr marL="285750" indent="-285750">
              <a:buFont typeface="Arial" panose="020B0604020202020204" pitchFamily="34" charset="0"/>
              <a:buChar char="•"/>
            </a:pPr>
            <a:r>
              <a:rPr lang="en-IN" sz="1400" dirty="0"/>
              <a:t>Dwarka Sector 21</a:t>
            </a:r>
          </a:p>
          <a:p>
            <a:pPr marL="285750" indent="-285750">
              <a:buFont typeface="Arial" panose="020B0604020202020204" pitchFamily="34" charset="0"/>
              <a:buChar char="•"/>
            </a:pPr>
            <a:r>
              <a:rPr lang="en-IN" sz="1400" dirty="0"/>
              <a:t>are major metro stations.</a:t>
            </a:r>
            <a:br>
              <a:rPr lang="en-IN" sz="1400" dirty="0"/>
            </a:br>
            <a:endParaRPr lang="en-IN" sz="1400" dirty="0"/>
          </a:p>
          <a:p>
            <a:r>
              <a:rPr lang="en-IN" sz="1400" dirty="0"/>
              <a:t>This indicates Uber is often used as a </a:t>
            </a:r>
            <a:r>
              <a:rPr lang="en-IN" sz="1400" b="1" dirty="0"/>
              <a:t>feeder service</a:t>
            </a:r>
            <a:r>
              <a:rPr lang="en-IN" sz="1400" dirty="0"/>
              <a:t> to the metro network.</a:t>
            </a:r>
          </a:p>
          <a:p>
            <a:endParaRPr lang="en-IN" sz="1400" dirty="0"/>
          </a:p>
          <a:p>
            <a:r>
              <a:rPr lang="en-IN" sz="1400" b="1" dirty="0"/>
              <a:t>5. All top locations have ~900+ rides</a:t>
            </a:r>
          </a:p>
          <a:p>
            <a:endParaRPr lang="en-IN" sz="1400" dirty="0"/>
          </a:p>
          <a:p>
            <a:r>
              <a:rPr lang="en-IN" sz="1400" dirty="0"/>
              <a:t>No single location dominates.</a:t>
            </a:r>
          </a:p>
          <a:p>
            <a:r>
              <a:rPr lang="en-IN" sz="1400" dirty="0"/>
              <a:t>This means </a:t>
            </a:r>
            <a:r>
              <a:rPr lang="en-IN" sz="1400" b="1" dirty="0"/>
              <a:t>demand is evenly distributed across NCR</a:t>
            </a:r>
            <a:r>
              <a:rPr lang="en-IN" sz="1400" dirty="0"/>
              <a:t>, a sign of a mature and diversified ride market.</a:t>
            </a:r>
          </a:p>
          <a:p>
            <a:endParaRPr lang="en-US" dirty="0"/>
          </a:p>
        </p:txBody>
      </p:sp>
      <p:sp>
        <p:nvSpPr>
          <p:cNvPr id="3" name="TextBox 2">
            <a:extLst>
              <a:ext uri="{FF2B5EF4-FFF2-40B4-BE49-F238E27FC236}">
                <a16:creationId xmlns:a16="http://schemas.microsoft.com/office/drawing/2014/main" id="{FDD307D0-2261-F319-779C-F9676C400AB2}"/>
              </a:ext>
            </a:extLst>
          </p:cNvPr>
          <p:cNvSpPr txBox="1"/>
          <p:nvPr/>
        </p:nvSpPr>
        <p:spPr>
          <a:xfrm>
            <a:off x="395111" y="383822"/>
            <a:ext cx="3360728" cy="646331"/>
          </a:xfrm>
          <a:prstGeom prst="rect">
            <a:avLst/>
          </a:prstGeom>
          <a:noFill/>
        </p:spPr>
        <p:txBody>
          <a:bodyPr wrap="none" rtlCol="0">
            <a:spAutoFit/>
          </a:bodyPr>
          <a:lstStyle/>
          <a:p>
            <a:r>
              <a:rPr lang="en-US" b="1" dirty="0">
                <a:solidFill>
                  <a:srgbClr val="166A3F"/>
                </a:solidFill>
              </a:rPr>
              <a:t>Top 10 Pickup Locations(2/2)</a:t>
            </a:r>
          </a:p>
          <a:p>
            <a:endParaRPr lang="en-US" dirty="0"/>
          </a:p>
        </p:txBody>
      </p:sp>
    </p:spTree>
    <p:extLst>
      <p:ext uri="{BB962C8B-B14F-4D97-AF65-F5344CB8AC3E}">
        <p14:creationId xmlns:p14="http://schemas.microsoft.com/office/powerpoint/2010/main" val="20462333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D39596-EE79-D967-CEB1-B947B1E7F062}"/>
              </a:ext>
            </a:extLst>
          </p:cNvPr>
          <p:cNvPicPr>
            <a:picLocks noChangeAspect="1"/>
          </p:cNvPicPr>
          <p:nvPr/>
        </p:nvPicPr>
        <p:blipFill>
          <a:blip r:embed="rId2"/>
          <a:stretch>
            <a:fillRect/>
          </a:stretch>
        </p:blipFill>
        <p:spPr>
          <a:xfrm>
            <a:off x="7416094" y="1253067"/>
            <a:ext cx="4064706" cy="3759199"/>
          </a:xfrm>
          <a:prstGeom prst="rect">
            <a:avLst/>
          </a:prstGeom>
        </p:spPr>
      </p:pic>
      <p:sp>
        <p:nvSpPr>
          <p:cNvPr id="4" name="TextBox 3">
            <a:extLst>
              <a:ext uri="{FF2B5EF4-FFF2-40B4-BE49-F238E27FC236}">
                <a16:creationId xmlns:a16="http://schemas.microsoft.com/office/drawing/2014/main" id="{4A5C6D5C-B5CD-BF00-05F5-BCC94404C3EE}"/>
              </a:ext>
            </a:extLst>
          </p:cNvPr>
          <p:cNvSpPr txBox="1"/>
          <p:nvPr/>
        </p:nvSpPr>
        <p:spPr>
          <a:xfrm>
            <a:off x="451556" y="259644"/>
            <a:ext cx="3142720" cy="646331"/>
          </a:xfrm>
          <a:prstGeom prst="rect">
            <a:avLst/>
          </a:prstGeom>
          <a:noFill/>
        </p:spPr>
        <p:txBody>
          <a:bodyPr wrap="none" rtlCol="0">
            <a:spAutoFit/>
          </a:bodyPr>
          <a:lstStyle/>
          <a:p>
            <a:r>
              <a:rPr lang="en-IN" b="1" dirty="0">
                <a:solidFill>
                  <a:srgbClr val="166A3F"/>
                </a:solidFill>
              </a:rPr>
              <a:t>Top 10 Drop Locations(1/2)</a:t>
            </a:r>
          </a:p>
          <a:p>
            <a:endParaRPr lang="en-US" dirty="0"/>
          </a:p>
        </p:txBody>
      </p:sp>
      <p:sp>
        <p:nvSpPr>
          <p:cNvPr id="5" name="TextBox 4">
            <a:extLst>
              <a:ext uri="{FF2B5EF4-FFF2-40B4-BE49-F238E27FC236}">
                <a16:creationId xmlns:a16="http://schemas.microsoft.com/office/drawing/2014/main" id="{E3D76FD9-4802-DBBA-50D9-8FBBC1D9FFD0}"/>
              </a:ext>
            </a:extLst>
          </p:cNvPr>
          <p:cNvSpPr txBox="1"/>
          <p:nvPr/>
        </p:nvSpPr>
        <p:spPr>
          <a:xfrm>
            <a:off x="451556" y="797510"/>
            <a:ext cx="6491111" cy="5262979"/>
          </a:xfrm>
          <a:prstGeom prst="rect">
            <a:avLst/>
          </a:prstGeom>
          <a:noFill/>
        </p:spPr>
        <p:txBody>
          <a:bodyPr wrap="square" rtlCol="0">
            <a:spAutoFit/>
          </a:bodyPr>
          <a:lstStyle/>
          <a:p>
            <a:r>
              <a:rPr lang="en-IN" sz="1600" b="1" dirty="0"/>
              <a:t>1. Drop demand is strongly business + commuter oriented</a:t>
            </a:r>
          </a:p>
          <a:p>
            <a:endParaRPr lang="en-IN" sz="1600" dirty="0"/>
          </a:p>
          <a:p>
            <a:r>
              <a:rPr lang="en-IN" sz="1600" dirty="0"/>
              <a:t>Cyber Hub, Udyog Vihar, Nehru Place, and Kalkaji are </a:t>
            </a:r>
            <a:r>
              <a:rPr lang="en-IN" sz="1600" b="1" dirty="0"/>
              <a:t>office and commercial hubs</a:t>
            </a:r>
            <a:r>
              <a:rPr lang="en-IN" sz="1600" dirty="0"/>
              <a:t>.</a:t>
            </a:r>
          </a:p>
          <a:p>
            <a:pPr marL="285750" indent="-285750">
              <a:buFont typeface="Arial" panose="020B0604020202020204" pitchFamily="34" charset="0"/>
              <a:buChar char="•"/>
            </a:pPr>
            <a:r>
              <a:rPr lang="en-IN" sz="1600" dirty="0"/>
              <a:t>High drop volume indicates heavy:</a:t>
            </a:r>
          </a:p>
          <a:p>
            <a:pPr marL="285750" indent="-285750">
              <a:buFont typeface="Arial" panose="020B0604020202020204" pitchFamily="34" charset="0"/>
              <a:buChar char="•"/>
            </a:pPr>
            <a:r>
              <a:rPr lang="en-IN" sz="1600" dirty="0"/>
              <a:t>office commute traffic</a:t>
            </a:r>
          </a:p>
          <a:p>
            <a:pPr marL="285750" indent="-285750">
              <a:buFont typeface="Arial" panose="020B0604020202020204" pitchFamily="34" charset="0"/>
              <a:buChar char="•"/>
            </a:pPr>
            <a:r>
              <a:rPr lang="en-IN" sz="1600" dirty="0"/>
              <a:t>business travel</a:t>
            </a:r>
          </a:p>
          <a:p>
            <a:pPr marL="285750" indent="-285750">
              <a:buFont typeface="Arial" panose="020B0604020202020204" pitchFamily="34" charset="0"/>
              <a:buChar char="•"/>
            </a:pPr>
            <a:r>
              <a:rPr lang="en-IN" sz="1600" dirty="0"/>
              <a:t>metro-feeder rides</a:t>
            </a:r>
          </a:p>
          <a:p>
            <a:endParaRPr lang="en-IN" sz="1600" dirty="0"/>
          </a:p>
          <a:p>
            <a:r>
              <a:rPr lang="en-IN" sz="1600" dirty="0"/>
              <a:t>This matches NCR’s working population </a:t>
            </a:r>
            <a:r>
              <a:rPr lang="en-IN" sz="1600" dirty="0" err="1"/>
              <a:t>behavior</a:t>
            </a:r>
            <a:r>
              <a:rPr lang="en-IN" sz="1600" dirty="0"/>
              <a:t>.</a:t>
            </a:r>
          </a:p>
          <a:p>
            <a:br>
              <a:rPr lang="en-IN" sz="1600" dirty="0"/>
            </a:br>
            <a:endParaRPr lang="en-IN" sz="1600" dirty="0"/>
          </a:p>
          <a:p>
            <a:r>
              <a:rPr lang="en-IN" sz="1600" b="1" dirty="0"/>
              <a:t>2. Intercity transit hubs also appear (Kashmere Gate ISBT)</a:t>
            </a:r>
          </a:p>
          <a:p>
            <a:endParaRPr lang="en-IN" sz="1600" dirty="0"/>
          </a:p>
          <a:p>
            <a:r>
              <a:rPr lang="en-IN" sz="1600" dirty="0"/>
              <a:t>People use Uber </a:t>
            </a:r>
            <a:r>
              <a:rPr lang="en-IN" sz="1600" b="1" dirty="0"/>
              <a:t>as first and last-mile connectivity</a:t>
            </a:r>
            <a:r>
              <a:rPr lang="en-IN" sz="1600" dirty="0"/>
              <a:t> to:</a:t>
            </a:r>
          </a:p>
          <a:p>
            <a:pPr marL="285750" indent="-285750">
              <a:buFont typeface="Arial" panose="020B0604020202020204" pitchFamily="34" charset="0"/>
              <a:buChar char="•"/>
            </a:pPr>
            <a:r>
              <a:rPr lang="en-IN" sz="1600" dirty="0"/>
              <a:t>ISBT</a:t>
            </a:r>
          </a:p>
          <a:p>
            <a:pPr marL="285750" indent="-285750">
              <a:buFont typeface="Arial" panose="020B0604020202020204" pitchFamily="34" charset="0"/>
              <a:buChar char="•"/>
            </a:pPr>
            <a:r>
              <a:rPr lang="en-IN" sz="1600" dirty="0"/>
              <a:t>Metro stations</a:t>
            </a:r>
          </a:p>
          <a:p>
            <a:pPr marL="285750" indent="-285750">
              <a:buFont typeface="Arial" panose="020B0604020202020204" pitchFamily="34" charset="0"/>
              <a:buChar char="•"/>
            </a:pPr>
            <a:r>
              <a:rPr lang="en-IN" sz="1600" dirty="0"/>
              <a:t>High-footfall transportation points</a:t>
            </a:r>
          </a:p>
          <a:p>
            <a:endParaRPr lang="en-IN" sz="1600" dirty="0"/>
          </a:p>
          <a:p>
            <a:r>
              <a:rPr lang="en-IN" sz="1600" dirty="0"/>
              <a:t>This strengthens the trend we saw in pickup locations.</a:t>
            </a:r>
          </a:p>
          <a:p>
            <a:endParaRPr lang="en-US" sz="1600" dirty="0"/>
          </a:p>
        </p:txBody>
      </p:sp>
    </p:spTree>
    <p:extLst>
      <p:ext uri="{BB962C8B-B14F-4D97-AF65-F5344CB8AC3E}">
        <p14:creationId xmlns:p14="http://schemas.microsoft.com/office/powerpoint/2010/main" val="21422321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5A6BBC-EC7A-65FC-20C6-8AEE1F28D637}"/>
              </a:ext>
            </a:extLst>
          </p:cNvPr>
          <p:cNvSpPr txBox="1"/>
          <p:nvPr/>
        </p:nvSpPr>
        <p:spPr>
          <a:xfrm>
            <a:off x="338667" y="259645"/>
            <a:ext cx="3142720" cy="646331"/>
          </a:xfrm>
          <a:prstGeom prst="rect">
            <a:avLst/>
          </a:prstGeom>
          <a:noFill/>
        </p:spPr>
        <p:txBody>
          <a:bodyPr wrap="none" rtlCol="0">
            <a:spAutoFit/>
          </a:bodyPr>
          <a:lstStyle/>
          <a:p>
            <a:r>
              <a:rPr lang="en-IN" b="1" dirty="0">
                <a:solidFill>
                  <a:srgbClr val="166A3F"/>
                </a:solidFill>
              </a:rPr>
              <a:t>Top 10 Drop Locations(2/2)</a:t>
            </a:r>
          </a:p>
          <a:p>
            <a:endParaRPr lang="en-US" dirty="0"/>
          </a:p>
        </p:txBody>
      </p:sp>
      <p:sp>
        <p:nvSpPr>
          <p:cNvPr id="3" name="TextBox 2">
            <a:extLst>
              <a:ext uri="{FF2B5EF4-FFF2-40B4-BE49-F238E27FC236}">
                <a16:creationId xmlns:a16="http://schemas.microsoft.com/office/drawing/2014/main" id="{3845FBA1-C1D6-62F1-0994-775D9C9AD615}"/>
              </a:ext>
            </a:extLst>
          </p:cNvPr>
          <p:cNvSpPr txBox="1"/>
          <p:nvPr/>
        </p:nvSpPr>
        <p:spPr>
          <a:xfrm>
            <a:off x="417690" y="766732"/>
            <a:ext cx="8741496" cy="5678478"/>
          </a:xfrm>
          <a:prstGeom prst="rect">
            <a:avLst/>
          </a:prstGeom>
          <a:noFill/>
        </p:spPr>
        <p:txBody>
          <a:bodyPr wrap="none" rtlCol="0">
            <a:spAutoFit/>
          </a:bodyPr>
          <a:lstStyle/>
          <a:p>
            <a:r>
              <a:rPr lang="en-IN" sz="1500" b="1" dirty="0"/>
              <a:t>3. Some residential clusters dominate (</a:t>
            </a:r>
            <a:r>
              <a:rPr lang="en-IN" sz="1500" b="1" dirty="0" err="1"/>
              <a:t>Basai</a:t>
            </a:r>
            <a:r>
              <a:rPr lang="en-IN" sz="1500" b="1" dirty="0"/>
              <a:t> </a:t>
            </a:r>
            <a:r>
              <a:rPr lang="en-IN" sz="1500" b="1" dirty="0" err="1"/>
              <a:t>Dhankot</a:t>
            </a:r>
            <a:r>
              <a:rPr lang="en-IN" sz="1500" b="1" dirty="0"/>
              <a:t>, </a:t>
            </a:r>
            <a:r>
              <a:rPr lang="en-IN" sz="1500" b="1" dirty="0" err="1"/>
              <a:t>Narsinghpur</a:t>
            </a:r>
            <a:r>
              <a:rPr lang="en-IN" sz="1500" b="1" dirty="0"/>
              <a:t>, Lajpat Nagar)</a:t>
            </a:r>
          </a:p>
          <a:p>
            <a:endParaRPr lang="en-IN" sz="1500" dirty="0"/>
          </a:p>
          <a:p>
            <a:r>
              <a:rPr lang="en-IN" sz="1500" dirty="0"/>
              <a:t>These indicate:</a:t>
            </a:r>
          </a:p>
          <a:p>
            <a:pPr marL="285750" indent="-285750">
              <a:buFont typeface="Arial" panose="020B0604020202020204" pitchFamily="34" charset="0"/>
              <a:buChar char="•"/>
            </a:pPr>
            <a:r>
              <a:rPr lang="en-IN" sz="1500" dirty="0"/>
              <a:t>heavy inbound (return-home) ride activity</a:t>
            </a:r>
          </a:p>
          <a:p>
            <a:pPr marL="285750" indent="-285750">
              <a:buFont typeface="Arial" panose="020B0604020202020204" pitchFamily="34" charset="0"/>
              <a:buChar char="•"/>
            </a:pPr>
            <a:r>
              <a:rPr lang="en-IN" sz="1500" dirty="0"/>
              <a:t>balanced two-way demand</a:t>
            </a:r>
          </a:p>
          <a:p>
            <a:pPr marL="285750" indent="-285750">
              <a:buFont typeface="Arial" panose="020B0604020202020204" pitchFamily="34" charset="0"/>
              <a:buChar char="•"/>
            </a:pPr>
            <a:r>
              <a:rPr lang="en-IN" sz="1500" dirty="0"/>
              <a:t>dense residential population zones</a:t>
            </a:r>
          </a:p>
          <a:p>
            <a:endParaRPr lang="en-IN" sz="1500" dirty="0"/>
          </a:p>
          <a:p>
            <a:r>
              <a:rPr lang="en-IN" sz="1500" dirty="0"/>
              <a:t>Homes → Offices, or Offices → Homes patterns are visible.</a:t>
            </a:r>
          </a:p>
          <a:p>
            <a:endParaRPr lang="en-IN" sz="1500" dirty="0"/>
          </a:p>
          <a:p>
            <a:r>
              <a:rPr lang="en-IN" sz="1500" b="1" dirty="0"/>
              <a:t>4. Lok Kalyan Marg and Ashram show mixed demand</a:t>
            </a:r>
          </a:p>
          <a:p>
            <a:endParaRPr lang="en-IN" sz="1500" dirty="0"/>
          </a:p>
          <a:p>
            <a:r>
              <a:rPr lang="en-IN" sz="1500" dirty="0"/>
              <a:t>Lok Kalyan Marg (VIP zone + central connectivity)</a:t>
            </a:r>
          </a:p>
          <a:p>
            <a:r>
              <a:rPr lang="en-IN" sz="1500" dirty="0"/>
              <a:t>Ashram (key junction in South Delhi)</a:t>
            </a:r>
          </a:p>
          <a:p>
            <a:endParaRPr lang="en-IN" sz="1500" dirty="0"/>
          </a:p>
          <a:p>
            <a:r>
              <a:rPr lang="en-IN" sz="1500" dirty="0"/>
              <a:t>These areas show:</a:t>
            </a:r>
          </a:p>
          <a:p>
            <a:pPr marL="285750" indent="-285750">
              <a:buFont typeface="Arial" panose="020B0604020202020204" pitchFamily="34" charset="0"/>
              <a:buChar char="•"/>
            </a:pPr>
            <a:r>
              <a:rPr lang="en-IN" sz="1500" dirty="0"/>
              <a:t>strong tourist movement</a:t>
            </a:r>
          </a:p>
          <a:p>
            <a:pPr marL="285750" indent="-285750">
              <a:buFont typeface="Arial" panose="020B0604020202020204" pitchFamily="34" charset="0"/>
              <a:buChar char="•"/>
            </a:pPr>
            <a:r>
              <a:rPr lang="en-IN" sz="1500" dirty="0"/>
              <a:t>intra-city routing</a:t>
            </a:r>
          </a:p>
          <a:p>
            <a:pPr marL="285750" indent="-285750">
              <a:buFont typeface="Arial" panose="020B0604020202020204" pitchFamily="34" charset="0"/>
              <a:buChar char="•"/>
            </a:pPr>
            <a:r>
              <a:rPr lang="en-IN" sz="1500" dirty="0"/>
              <a:t>strategic intersection usage</a:t>
            </a:r>
          </a:p>
          <a:p>
            <a:endParaRPr lang="en-IN" sz="1500" dirty="0"/>
          </a:p>
          <a:p>
            <a:r>
              <a:rPr lang="en-IN" sz="1500" b="1" dirty="0"/>
              <a:t>5. Distribution is evenly spread (~900 rides each)</a:t>
            </a:r>
          </a:p>
          <a:p>
            <a:endParaRPr lang="en-IN" sz="1500" dirty="0"/>
          </a:p>
          <a:p>
            <a:r>
              <a:rPr lang="en-IN" sz="1500" dirty="0"/>
              <a:t>Just like pickup locations, no single drop location dominates.</a:t>
            </a:r>
          </a:p>
          <a:p>
            <a:r>
              <a:rPr lang="en-IN" sz="1500" dirty="0"/>
              <a:t>This reinforces that </a:t>
            </a:r>
            <a:r>
              <a:rPr lang="en-IN" sz="1500" b="1" dirty="0"/>
              <a:t>NCR ride demand is well-distributed across multiple hubs</a:t>
            </a:r>
            <a:r>
              <a:rPr lang="en-IN" sz="1500" dirty="0"/>
              <a:t>, not concentrated.</a:t>
            </a:r>
          </a:p>
          <a:p>
            <a:endParaRPr lang="en-US" dirty="0"/>
          </a:p>
        </p:txBody>
      </p:sp>
    </p:spTree>
    <p:extLst>
      <p:ext uri="{BB962C8B-B14F-4D97-AF65-F5344CB8AC3E}">
        <p14:creationId xmlns:p14="http://schemas.microsoft.com/office/powerpoint/2010/main" val="1267545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7B6CF8-1257-EE98-0637-33E22E8E92D2}"/>
              </a:ext>
            </a:extLst>
          </p:cNvPr>
          <p:cNvSpPr txBox="1"/>
          <p:nvPr/>
        </p:nvSpPr>
        <p:spPr>
          <a:xfrm>
            <a:off x="485422" y="383822"/>
            <a:ext cx="4438010" cy="646331"/>
          </a:xfrm>
          <a:prstGeom prst="rect">
            <a:avLst/>
          </a:prstGeom>
          <a:noFill/>
        </p:spPr>
        <p:txBody>
          <a:bodyPr wrap="none" rtlCol="0">
            <a:spAutoFit/>
          </a:bodyPr>
          <a:lstStyle/>
          <a:p>
            <a:r>
              <a:rPr lang="en-IN" b="1" dirty="0">
                <a:solidFill>
                  <a:srgbClr val="166A3F"/>
                </a:solidFill>
              </a:rPr>
              <a:t> Vehicle Type Demand Distribution(1/2)</a:t>
            </a:r>
          </a:p>
          <a:p>
            <a:endParaRPr lang="en-US" dirty="0"/>
          </a:p>
        </p:txBody>
      </p:sp>
      <p:pic>
        <p:nvPicPr>
          <p:cNvPr id="3" name="Picture 2">
            <a:extLst>
              <a:ext uri="{FF2B5EF4-FFF2-40B4-BE49-F238E27FC236}">
                <a16:creationId xmlns:a16="http://schemas.microsoft.com/office/drawing/2014/main" id="{48ADA555-E462-7E0E-B1BE-57A6D4906668}"/>
              </a:ext>
            </a:extLst>
          </p:cNvPr>
          <p:cNvPicPr>
            <a:picLocks noChangeAspect="1"/>
          </p:cNvPicPr>
          <p:nvPr/>
        </p:nvPicPr>
        <p:blipFill>
          <a:blip r:embed="rId2"/>
          <a:stretch>
            <a:fillRect/>
          </a:stretch>
        </p:blipFill>
        <p:spPr>
          <a:xfrm>
            <a:off x="7917744" y="1919817"/>
            <a:ext cx="3784600" cy="2476500"/>
          </a:xfrm>
          <a:prstGeom prst="rect">
            <a:avLst/>
          </a:prstGeom>
        </p:spPr>
      </p:pic>
      <p:sp>
        <p:nvSpPr>
          <p:cNvPr id="4" name="TextBox 3">
            <a:extLst>
              <a:ext uri="{FF2B5EF4-FFF2-40B4-BE49-F238E27FC236}">
                <a16:creationId xmlns:a16="http://schemas.microsoft.com/office/drawing/2014/main" id="{4D6E6619-BEDD-65CD-D842-9DDFCD523276}"/>
              </a:ext>
            </a:extLst>
          </p:cNvPr>
          <p:cNvSpPr txBox="1"/>
          <p:nvPr/>
        </p:nvSpPr>
        <p:spPr>
          <a:xfrm>
            <a:off x="609599" y="936978"/>
            <a:ext cx="6449201" cy="5047536"/>
          </a:xfrm>
          <a:prstGeom prst="rect">
            <a:avLst/>
          </a:prstGeom>
          <a:noFill/>
        </p:spPr>
        <p:txBody>
          <a:bodyPr wrap="none" rtlCol="0">
            <a:spAutoFit/>
          </a:bodyPr>
          <a:lstStyle/>
          <a:p>
            <a:r>
              <a:rPr lang="en-IN" sz="1400" b="1" dirty="0"/>
              <a:t>1. Auto dominates NCR mobility (most affordable option)</a:t>
            </a:r>
          </a:p>
          <a:p>
            <a:endParaRPr lang="en-IN" sz="1400" dirty="0"/>
          </a:p>
          <a:p>
            <a:r>
              <a:rPr lang="en-IN" sz="1400" dirty="0"/>
              <a:t>NCR sees the highest ride volume from </a:t>
            </a:r>
            <a:r>
              <a:rPr lang="en-IN" sz="1400" b="1" dirty="0"/>
              <a:t>Autos (37,419 rides)</a:t>
            </a:r>
            <a:r>
              <a:rPr lang="en-IN" sz="1400" dirty="0"/>
              <a:t>.</a:t>
            </a:r>
          </a:p>
          <a:p>
            <a:r>
              <a:rPr lang="en-IN" sz="1400" dirty="0"/>
              <a:t>This fits NCR’s:</a:t>
            </a:r>
          </a:p>
          <a:p>
            <a:pPr marL="285750" indent="-285750">
              <a:buFont typeface="Arial" panose="020B0604020202020204" pitchFamily="34" charset="0"/>
              <a:buChar char="•"/>
            </a:pPr>
            <a:r>
              <a:rPr lang="en-IN" sz="1400" dirty="0"/>
              <a:t>short intra-city trips</a:t>
            </a:r>
          </a:p>
          <a:p>
            <a:pPr marL="285750" indent="-285750">
              <a:buFont typeface="Arial" panose="020B0604020202020204" pitchFamily="34" charset="0"/>
              <a:buChar char="•"/>
            </a:pPr>
            <a:r>
              <a:rPr lang="en-IN" sz="1400" dirty="0"/>
              <a:t>affordability preference</a:t>
            </a:r>
          </a:p>
          <a:p>
            <a:pPr marL="285750" indent="-285750">
              <a:buFont typeface="Arial" panose="020B0604020202020204" pitchFamily="34" charset="0"/>
              <a:buChar char="•"/>
            </a:pPr>
            <a:r>
              <a:rPr lang="en-IN" sz="1400" dirty="0"/>
              <a:t>metro-feeder patterns</a:t>
            </a:r>
          </a:p>
          <a:p>
            <a:pPr marL="285750" indent="-285750">
              <a:buFont typeface="Arial" panose="020B0604020202020204" pitchFamily="34" charset="0"/>
              <a:buChar char="•"/>
            </a:pPr>
            <a:r>
              <a:rPr lang="en-IN" sz="1400" dirty="0"/>
              <a:t>traffic-friendly nature</a:t>
            </a:r>
          </a:p>
          <a:p>
            <a:endParaRPr lang="en-IN" sz="1400" dirty="0"/>
          </a:p>
          <a:p>
            <a:r>
              <a:rPr lang="en-IN" sz="1400" dirty="0"/>
              <a:t>Autos are the backbone of daily mobility.</a:t>
            </a:r>
          </a:p>
          <a:p>
            <a:br>
              <a:rPr lang="en-IN" sz="1400" dirty="0"/>
            </a:br>
            <a:endParaRPr lang="en-IN" sz="1400" dirty="0"/>
          </a:p>
          <a:p>
            <a:r>
              <a:rPr lang="en-IN" sz="1400" b="1" dirty="0"/>
              <a:t>2. Go Mini &amp; Go Sedan are the preferred 4-wheeler choices</a:t>
            </a:r>
          </a:p>
          <a:p>
            <a:br>
              <a:rPr lang="en-IN" sz="1400" dirty="0"/>
            </a:br>
            <a:endParaRPr lang="en-IN" sz="1400" dirty="0"/>
          </a:p>
          <a:p>
            <a:r>
              <a:rPr lang="en-IN" sz="1400" dirty="0"/>
              <a:t>Together, </a:t>
            </a:r>
            <a:r>
              <a:rPr lang="en-IN" sz="1400" b="1" dirty="0"/>
              <a:t>56,947 rides</a:t>
            </a:r>
            <a:r>
              <a:rPr lang="en-IN" sz="1400" dirty="0"/>
              <a:t>, showing:</a:t>
            </a:r>
          </a:p>
          <a:p>
            <a:pPr marL="285750" indent="-285750">
              <a:buFont typeface="Arial" panose="020B0604020202020204" pitchFamily="34" charset="0"/>
              <a:buChar char="•"/>
            </a:pPr>
            <a:r>
              <a:rPr lang="en-IN" sz="1400" dirty="0"/>
              <a:t>stable cab demand</a:t>
            </a:r>
          </a:p>
          <a:p>
            <a:pPr marL="285750" indent="-285750">
              <a:buFont typeface="Arial" panose="020B0604020202020204" pitchFamily="34" charset="0"/>
              <a:buChar char="•"/>
            </a:pPr>
            <a:r>
              <a:rPr lang="en-IN" sz="1400" dirty="0"/>
              <a:t>preference for budget car rides</a:t>
            </a:r>
          </a:p>
          <a:p>
            <a:pPr marL="285750" indent="-285750">
              <a:buFont typeface="Arial" panose="020B0604020202020204" pitchFamily="34" charset="0"/>
              <a:buChar char="•"/>
            </a:pPr>
            <a:r>
              <a:rPr lang="en-IN" sz="1400" dirty="0"/>
              <a:t>competitive pricing as a key factor</a:t>
            </a:r>
          </a:p>
          <a:p>
            <a:br>
              <a:rPr lang="en-IN" sz="1400" dirty="0"/>
            </a:br>
            <a:endParaRPr lang="en-IN" sz="1400" dirty="0"/>
          </a:p>
          <a:p>
            <a:r>
              <a:rPr lang="en-IN" sz="1400" dirty="0"/>
              <a:t>This reinforces the role of Uber as a commuter service, not just premium travel.</a:t>
            </a:r>
          </a:p>
          <a:p>
            <a:endParaRPr lang="en-US" sz="1400" dirty="0"/>
          </a:p>
        </p:txBody>
      </p:sp>
    </p:spTree>
    <p:extLst>
      <p:ext uri="{BB962C8B-B14F-4D97-AF65-F5344CB8AC3E}">
        <p14:creationId xmlns:p14="http://schemas.microsoft.com/office/powerpoint/2010/main" val="1177029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0EF422-F094-F448-5B28-4E247EE17181}"/>
              </a:ext>
            </a:extLst>
          </p:cNvPr>
          <p:cNvSpPr txBox="1"/>
          <p:nvPr/>
        </p:nvSpPr>
        <p:spPr>
          <a:xfrm>
            <a:off x="496711" y="381045"/>
            <a:ext cx="4438010" cy="646331"/>
          </a:xfrm>
          <a:prstGeom prst="rect">
            <a:avLst/>
          </a:prstGeom>
          <a:noFill/>
        </p:spPr>
        <p:txBody>
          <a:bodyPr wrap="none" rtlCol="0">
            <a:spAutoFit/>
          </a:bodyPr>
          <a:lstStyle/>
          <a:p>
            <a:r>
              <a:rPr lang="en-IN" b="1" dirty="0">
                <a:solidFill>
                  <a:srgbClr val="166A3F"/>
                </a:solidFill>
              </a:rPr>
              <a:t> Vehicle Type Demand Distribution(2/2)</a:t>
            </a:r>
          </a:p>
          <a:p>
            <a:endParaRPr lang="en-US" dirty="0"/>
          </a:p>
        </p:txBody>
      </p:sp>
      <p:sp>
        <p:nvSpPr>
          <p:cNvPr id="3" name="TextBox 2">
            <a:extLst>
              <a:ext uri="{FF2B5EF4-FFF2-40B4-BE49-F238E27FC236}">
                <a16:creationId xmlns:a16="http://schemas.microsoft.com/office/drawing/2014/main" id="{7AB54507-0FCA-4BC6-FCD7-918E63D748BA}"/>
              </a:ext>
            </a:extLst>
          </p:cNvPr>
          <p:cNvSpPr txBox="1"/>
          <p:nvPr/>
        </p:nvSpPr>
        <p:spPr>
          <a:xfrm>
            <a:off x="609599" y="936977"/>
            <a:ext cx="5726248" cy="5539978"/>
          </a:xfrm>
          <a:prstGeom prst="rect">
            <a:avLst/>
          </a:prstGeom>
          <a:noFill/>
        </p:spPr>
        <p:txBody>
          <a:bodyPr wrap="none" rtlCol="0">
            <a:spAutoFit/>
          </a:bodyPr>
          <a:lstStyle/>
          <a:p>
            <a:r>
              <a:rPr lang="en-IN" sz="1400" b="1" dirty="0"/>
              <a:t>3. Bikes and </a:t>
            </a:r>
            <a:r>
              <a:rPr lang="en-IN" sz="1400" b="1" dirty="0" err="1"/>
              <a:t>eBikes</a:t>
            </a:r>
            <a:r>
              <a:rPr lang="en-IN" sz="1400" b="1" dirty="0"/>
              <a:t> form a significant demand block (33K+ rides)</a:t>
            </a:r>
            <a:br>
              <a:rPr lang="en-IN" sz="1400" dirty="0"/>
            </a:br>
            <a:endParaRPr lang="en-IN" sz="1400" dirty="0"/>
          </a:p>
          <a:p>
            <a:r>
              <a:rPr lang="en-IN" sz="1400" dirty="0"/>
              <a:t>High adoption due to:</a:t>
            </a:r>
          </a:p>
          <a:p>
            <a:pPr marL="285750" indent="-285750">
              <a:buFont typeface="Arial" panose="020B0604020202020204" pitchFamily="34" charset="0"/>
              <a:buChar char="•"/>
            </a:pPr>
            <a:r>
              <a:rPr lang="en-IN" sz="1400" dirty="0"/>
              <a:t>low fares</a:t>
            </a:r>
          </a:p>
          <a:p>
            <a:pPr marL="285750" indent="-285750">
              <a:buFont typeface="Arial" panose="020B0604020202020204" pitchFamily="34" charset="0"/>
              <a:buChar char="•"/>
            </a:pPr>
            <a:r>
              <a:rPr lang="en-IN" sz="1400" dirty="0"/>
              <a:t>fastest movement in NCR traffic</a:t>
            </a:r>
          </a:p>
          <a:p>
            <a:pPr marL="285750" indent="-285750">
              <a:buFont typeface="Arial" panose="020B0604020202020204" pitchFamily="34" charset="0"/>
              <a:buChar char="•"/>
            </a:pPr>
            <a:r>
              <a:rPr lang="en-IN" sz="1400" dirty="0"/>
              <a:t>ideal for single riders</a:t>
            </a:r>
          </a:p>
          <a:p>
            <a:pPr marL="285750" indent="-285750">
              <a:buFont typeface="Arial" panose="020B0604020202020204" pitchFamily="34" charset="0"/>
              <a:buChar char="•"/>
            </a:pPr>
            <a:r>
              <a:rPr lang="en-IN" sz="1400" dirty="0"/>
              <a:t>last-mile flexibility</a:t>
            </a:r>
            <a:br>
              <a:rPr lang="en-IN" sz="1400" dirty="0"/>
            </a:br>
            <a:endParaRPr lang="en-IN" sz="1400" dirty="0"/>
          </a:p>
          <a:p>
            <a:r>
              <a:rPr lang="en-IN" sz="1400" dirty="0"/>
              <a:t>A strong sign of micro-mobility trend in NCR.</a:t>
            </a:r>
          </a:p>
          <a:p>
            <a:endParaRPr lang="en-IN" sz="1400" dirty="0"/>
          </a:p>
          <a:p>
            <a:r>
              <a:rPr lang="en-IN" sz="1400" b="1" dirty="0"/>
              <a:t>4. Premier Sedan sees strong usage (18,111 rides)</a:t>
            </a:r>
          </a:p>
          <a:p>
            <a:endParaRPr lang="en-IN" sz="1400" dirty="0"/>
          </a:p>
          <a:p>
            <a:r>
              <a:rPr lang="en-IN" sz="1400" dirty="0"/>
              <a:t>This suggests:</a:t>
            </a:r>
          </a:p>
          <a:p>
            <a:pPr marL="285750" indent="-285750">
              <a:buFont typeface="Arial" panose="020B0604020202020204" pitchFamily="34" charset="0"/>
              <a:buChar char="•"/>
            </a:pPr>
            <a:r>
              <a:rPr lang="en-IN" sz="1400" dirty="0"/>
              <a:t>business </a:t>
            </a:r>
            <a:r>
              <a:rPr lang="en-IN" sz="1400" dirty="0" err="1"/>
              <a:t>travelers</a:t>
            </a:r>
            <a:endParaRPr lang="en-IN" sz="1400" dirty="0"/>
          </a:p>
          <a:p>
            <a:pPr marL="285750" indent="-285750">
              <a:buFont typeface="Arial" panose="020B0604020202020204" pitchFamily="34" charset="0"/>
              <a:buChar char="•"/>
            </a:pPr>
            <a:r>
              <a:rPr lang="en-IN" sz="1400" dirty="0"/>
              <a:t>airport/office corridor routes</a:t>
            </a:r>
          </a:p>
          <a:p>
            <a:pPr marL="285750" indent="-285750">
              <a:buFont typeface="Arial" panose="020B0604020202020204" pitchFamily="34" charset="0"/>
              <a:buChar char="•"/>
            </a:pPr>
            <a:r>
              <a:rPr lang="en-IN" sz="1400" dirty="0"/>
              <a:t>customers wanting comfort during long rides</a:t>
            </a:r>
            <a:br>
              <a:rPr lang="en-IN" sz="1400" dirty="0"/>
            </a:br>
            <a:endParaRPr lang="en-IN" sz="1400" dirty="0"/>
          </a:p>
          <a:p>
            <a:r>
              <a:rPr lang="en-IN" sz="1400" b="1" dirty="0"/>
              <a:t>5. Uber XL is niche (4,449 rides)</a:t>
            </a:r>
          </a:p>
          <a:p>
            <a:endParaRPr lang="en-IN" sz="1400" dirty="0"/>
          </a:p>
          <a:p>
            <a:r>
              <a:rPr lang="en-IN" sz="1400" dirty="0"/>
              <a:t>Used primarily for:</a:t>
            </a:r>
          </a:p>
          <a:p>
            <a:pPr marL="285750" indent="-285750">
              <a:buFont typeface="Arial" panose="020B0604020202020204" pitchFamily="34" charset="0"/>
              <a:buChar char="•"/>
            </a:pPr>
            <a:r>
              <a:rPr lang="en-IN" sz="1400" dirty="0"/>
              <a:t>group travel</a:t>
            </a:r>
          </a:p>
          <a:p>
            <a:pPr marL="285750" indent="-285750">
              <a:buFont typeface="Arial" panose="020B0604020202020204" pitchFamily="34" charset="0"/>
              <a:buChar char="•"/>
            </a:pPr>
            <a:r>
              <a:rPr lang="en-IN" sz="1400" dirty="0"/>
              <a:t>luggage-heavy trips</a:t>
            </a:r>
          </a:p>
          <a:p>
            <a:pPr marL="285750" indent="-285750">
              <a:buFont typeface="Arial" panose="020B0604020202020204" pitchFamily="34" charset="0"/>
              <a:buChar char="•"/>
            </a:pPr>
            <a:r>
              <a:rPr lang="en-IN" sz="1400" dirty="0"/>
              <a:t>airport routes</a:t>
            </a:r>
          </a:p>
          <a:p>
            <a:pPr marL="285750" indent="-285750">
              <a:buFont typeface="Arial" panose="020B0604020202020204" pitchFamily="34" charset="0"/>
              <a:buChar char="•"/>
            </a:pPr>
            <a:r>
              <a:rPr lang="en-IN" sz="1400" dirty="0"/>
              <a:t>long-distance movements</a:t>
            </a:r>
            <a:br>
              <a:rPr lang="en-IN" sz="1400" dirty="0"/>
            </a:br>
            <a:endParaRPr lang="en-US" dirty="0"/>
          </a:p>
        </p:txBody>
      </p:sp>
    </p:spTree>
    <p:extLst>
      <p:ext uri="{BB962C8B-B14F-4D97-AF65-F5344CB8AC3E}">
        <p14:creationId xmlns:p14="http://schemas.microsoft.com/office/powerpoint/2010/main" val="451817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820AB4-9427-40B0-51FF-EBF370789057}"/>
              </a:ext>
            </a:extLst>
          </p:cNvPr>
          <p:cNvPicPr>
            <a:picLocks noChangeAspect="1"/>
          </p:cNvPicPr>
          <p:nvPr/>
        </p:nvPicPr>
        <p:blipFill>
          <a:blip r:embed="rId2"/>
          <a:stretch>
            <a:fillRect/>
          </a:stretch>
        </p:blipFill>
        <p:spPr>
          <a:xfrm>
            <a:off x="7836543" y="1595777"/>
            <a:ext cx="3924300" cy="2489200"/>
          </a:xfrm>
          <a:prstGeom prst="rect">
            <a:avLst/>
          </a:prstGeom>
        </p:spPr>
      </p:pic>
      <p:sp>
        <p:nvSpPr>
          <p:cNvPr id="4" name="TextBox 3">
            <a:extLst>
              <a:ext uri="{FF2B5EF4-FFF2-40B4-BE49-F238E27FC236}">
                <a16:creationId xmlns:a16="http://schemas.microsoft.com/office/drawing/2014/main" id="{444D9B1B-DF85-4188-8EF4-2D4A097F5040}"/>
              </a:ext>
            </a:extLst>
          </p:cNvPr>
          <p:cNvSpPr txBox="1"/>
          <p:nvPr/>
        </p:nvSpPr>
        <p:spPr>
          <a:xfrm>
            <a:off x="541867" y="304800"/>
            <a:ext cx="3937873" cy="646331"/>
          </a:xfrm>
          <a:prstGeom prst="rect">
            <a:avLst/>
          </a:prstGeom>
          <a:noFill/>
        </p:spPr>
        <p:txBody>
          <a:bodyPr wrap="none" rtlCol="0">
            <a:spAutoFit/>
          </a:bodyPr>
          <a:lstStyle/>
          <a:p>
            <a:r>
              <a:rPr lang="en-IN" b="1" dirty="0">
                <a:solidFill>
                  <a:srgbClr val="166A3F"/>
                </a:solidFill>
              </a:rPr>
              <a:t>Cancellations by Vehicle Type(1/2)</a:t>
            </a:r>
          </a:p>
          <a:p>
            <a:endParaRPr lang="en-US" dirty="0"/>
          </a:p>
        </p:txBody>
      </p:sp>
      <p:sp>
        <p:nvSpPr>
          <p:cNvPr id="5" name="TextBox 4">
            <a:extLst>
              <a:ext uri="{FF2B5EF4-FFF2-40B4-BE49-F238E27FC236}">
                <a16:creationId xmlns:a16="http://schemas.microsoft.com/office/drawing/2014/main" id="{9EA1FB88-1E5E-5811-0A70-A3A33DBA237F}"/>
              </a:ext>
            </a:extLst>
          </p:cNvPr>
          <p:cNvSpPr txBox="1"/>
          <p:nvPr/>
        </p:nvSpPr>
        <p:spPr>
          <a:xfrm>
            <a:off x="506537" y="951131"/>
            <a:ext cx="6997428" cy="5324535"/>
          </a:xfrm>
          <a:prstGeom prst="rect">
            <a:avLst/>
          </a:prstGeom>
          <a:noFill/>
        </p:spPr>
        <p:txBody>
          <a:bodyPr wrap="none" rtlCol="0">
            <a:spAutoFit/>
          </a:bodyPr>
          <a:lstStyle/>
          <a:p>
            <a:r>
              <a:rPr lang="en-IN" sz="1400" b="1" dirty="0"/>
              <a:t>1. Auto rides have the highest cancellations (9.3K+)</a:t>
            </a:r>
          </a:p>
          <a:p>
            <a:endParaRPr lang="en-IN" sz="1400" dirty="0"/>
          </a:p>
          <a:p>
            <a:r>
              <a:rPr lang="en-IN" sz="1400" dirty="0"/>
              <a:t>This is expected because Autos:</a:t>
            </a:r>
          </a:p>
          <a:p>
            <a:r>
              <a:rPr lang="en-IN" sz="1400" dirty="0"/>
              <a:t>operate more casually</a:t>
            </a:r>
          </a:p>
          <a:p>
            <a:r>
              <a:rPr lang="en-IN" sz="1400" dirty="0"/>
              <a:t>face more traffic restrictions</a:t>
            </a:r>
          </a:p>
          <a:p>
            <a:r>
              <a:rPr lang="en-IN" sz="1400" dirty="0"/>
              <a:t>often reject long pickups</a:t>
            </a:r>
          </a:p>
          <a:p>
            <a:r>
              <a:rPr lang="en-IN" sz="1400" dirty="0"/>
              <a:t>are prone to fare negotiations or customer issues</a:t>
            </a:r>
          </a:p>
          <a:p>
            <a:br>
              <a:rPr lang="en-IN" sz="1400" dirty="0"/>
            </a:br>
            <a:endParaRPr lang="en-IN" sz="1400" dirty="0"/>
          </a:p>
          <a:p>
            <a:r>
              <a:rPr lang="en-IN" sz="1400" dirty="0"/>
              <a:t>Autos are the </a:t>
            </a:r>
            <a:r>
              <a:rPr lang="en-IN" sz="1400" b="1" dirty="0"/>
              <a:t>most used</a:t>
            </a:r>
            <a:r>
              <a:rPr lang="en-IN" sz="1400" dirty="0"/>
              <a:t>, but also the </a:t>
            </a:r>
            <a:r>
              <a:rPr lang="en-IN" sz="1400" b="1" dirty="0"/>
              <a:t>most cancelled</a:t>
            </a:r>
            <a:r>
              <a:rPr lang="en-IN" sz="1400" dirty="0"/>
              <a:t>.</a:t>
            </a:r>
          </a:p>
          <a:p>
            <a:br>
              <a:rPr lang="en-IN" sz="1400" dirty="0"/>
            </a:br>
            <a:endParaRPr lang="en-IN" sz="1400" dirty="0"/>
          </a:p>
          <a:p>
            <a:r>
              <a:rPr lang="en-IN" sz="1400" b="1" dirty="0"/>
              <a:t>2. Mini &amp; Sedan (Go Mini + Go Sedan) show large cancellation volumes</a:t>
            </a:r>
          </a:p>
          <a:p>
            <a:br>
              <a:rPr lang="en-IN" sz="1400" dirty="0"/>
            </a:br>
            <a:endParaRPr lang="en-IN" sz="1400" dirty="0"/>
          </a:p>
          <a:p>
            <a:r>
              <a:rPr lang="en-IN" sz="1400" dirty="0"/>
              <a:t>Over </a:t>
            </a:r>
            <a:r>
              <a:rPr lang="en-IN" sz="1400" b="1" dirty="0"/>
              <a:t>14K+ cancellations combined</a:t>
            </a:r>
            <a:r>
              <a:rPr lang="en-IN" sz="1400" dirty="0"/>
              <a:t>.</a:t>
            </a:r>
          </a:p>
          <a:p>
            <a:r>
              <a:rPr lang="en-IN" sz="1400" dirty="0"/>
              <a:t>Reasons include:</a:t>
            </a:r>
          </a:p>
          <a:p>
            <a:r>
              <a:rPr lang="en-IN" sz="1400" dirty="0"/>
              <a:t>long pickup distances</a:t>
            </a:r>
          </a:p>
          <a:p>
            <a:r>
              <a:rPr lang="en-IN" sz="1400" dirty="0"/>
              <a:t>peak-hour traffic</a:t>
            </a:r>
          </a:p>
          <a:p>
            <a:r>
              <a:rPr lang="en-IN" sz="1400" dirty="0"/>
              <a:t>destination bias</a:t>
            </a:r>
          </a:p>
          <a:p>
            <a:r>
              <a:rPr lang="en-IN" sz="1400" dirty="0"/>
              <a:t>driver profitability concerns</a:t>
            </a:r>
          </a:p>
          <a:p>
            <a:endParaRPr lang="en-IN" sz="1400" dirty="0"/>
          </a:p>
          <a:p>
            <a:r>
              <a:rPr lang="en-IN" sz="1400" dirty="0"/>
              <a:t>These categories reflect core commuter travel — cancellations here have high impact.</a:t>
            </a:r>
          </a:p>
          <a:p>
            <a:endParaRPr lang="en-US" dirty="0"/>
          </a:p>
        </p:txBody>
      </p:sp>
    </p:spTree>
    <p:extLst>
      <p:ext uri="{BB962C8B-B14F-4D97-AF65-F5344CB8AC3E}">
        <p14:creationId xmlns:p14="http://schemas.microsoft.com/office/powerpoint/2010/main" val="3026515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9E97C1-006F-EDF5-4BB7-6E906C05E5A1}"/>
              </a:ext>
            </a:extLst>
          </p:cNvPr>
          <p:cNvSpPr txBox="1"/>
          <p:nvPr/>
        </p:nvSpPr>
        <p:spPr>
          <a:xfrm>
            <a:off x="372533" y="214488"/>
            <a:ext cx="3937873" cy="646331"/>
          </a:xfrm>
          <a:prstGeom prst="rect">
            <a:avLst/>
          </a:prstGeom>
          <a:noFill/>
        </p:spPr>
        <p:txBody>
          <a:bodyPr wrap="none" rtlCol="0">
            <a:spAutoFit/>
          </a:bodyPr>
          <a:lstStyle/>
          <a:p>
            <a:r>
              <a:rPr lang="en-IN" b="1" dirty="0">
                <a:solidFill>
                  <a:srgbClr val="166A3F"/>
                </a:solidFill>
              </a:rPr>
              <a:t>Cancellations by Vehicle Type(2/2)</a:t>
            </a:r>
          </a:p>
          <a:p>
            <a:endParaRPr lang="en-US" dirty="0"/>
          </a:p>
        </p:txBody>
      </p:sp>
      <p:sp>
        <p:nvSpPr>
          <p:cNvPr id="3" name="TextBox 2">
            <a:extLst>
              <a:ext uri="{FF2B5EF4-FFF2-40B4-BE49-F238E27FC236}">
                <a16:creationId xmlns:a16="http://schemas.microsoft.com/office/drawing/2014/main" id="{C66C52EA-C7B2-81F8-9DC6-1FF15CA934AD}"/>
              </a:ext>
            </a:extLst>
          </p:cNvPr>
          <p:cNvSpPr txBox="1"/>
          <p:nvPr/>
        </p:nvSpPr>
        <p:spPr>
          <a:xfrm>
            <a:off x="474133" y="756357"/>
            <a:ext cx="6565644" cy="5970865"/>
          </a:xfrm>
          <a:prstGeom prst="rect">
            <a:avLst/>
          </a:prstGeom>
          <a:noFill/>
        </p:spPr>
        <p:txBody>
          <a:bodyPr wrap="none" rtlCol="0">
            <a:spAutoFit/>
          </a:bodyPr>
          <a:lstStyle/>
          <a:p>
            <a:r>
              <a:rPr lang="en-IN" sz="1400" b="1" dirty="0"/>
              <a:t>3. Bikes &amp; </a:t>
            </a:r>
            <a:r>
              <a:rPr lang="en-IN" sz="1400" b="1" dirty="0" err="1"/>
              <a:t>eBikes</a:t>
            </a:r>
            <a:r>
              <a:rPr lang="en-IN" sz="1400" b="1" dirty="0"/>
              <a:t> have moderate cancellations</a:t>
            </a:r>
          </a:p>
          <a:p>
            <a:endParaRPr lang="en-IN" sz="1400" dirty="0"/>
          </a:p>
          <a:p>
            <a:r>
              <a:rPr lang="en-IN" sz="1400" dirty="0"/>
              <a:t>Two-wheelers are:</a:t>
            </a:r>
          </a:p>
          <a:p>
            <a:pPr marL="285750" indent="-285750">
              <a:buFont typeface="Arial" panose="020B0604020202020204" pitchFamily="34" charset="0"/>
              <a:buChar char="•"/>
            </a:pPr>
            <a:r>
              <a:rPr lang="en-IN" sz="1400" dirty="0"/>
              <a:t>fast</a:t>
            </a:r>
          </a:p>
          <a:p>
            <a:pPr marL="285750" indent="-285750">
              <a:buFont typeface="Arial" panose="020B0604020202020204" pitchFamily="34" charset="0"/>
              <a:buChar char="•"/>
            </a:pPr>
            <a:r>
              <a:rPr lang="en-IN" sz="1400" dirty="0"/>
              <a:t>cheap</a:t>
            </a:r>
          </a:p>
          <a:p>
            <a:pPr marL="285750" indent="-285750">
              <a:buFont typeface="Arial" panose="020B0604020202020204" pitchFamily="34" charset="0"/>
              <a:buChar char="•"/>
            </a:pPr>
            <a:r>
              <a:rPr lang="en-IN" sz="1400" dirty="0"/>
              <a:t>easy to operate in traffic</a:t>
            </a:r>
          </a:p>
          <a:p>
            <a:endParaRPr lang="en-IN" sz="1400" dirty="0"/>
          </a:p>
          <a:p>
            <a:r>
              <a:rPr lang="en-IN" sz="1400" dirty="0"/>
              <a:t>Lower cancellations indicate greater driver willingness and operational efficiency.</a:t>
            </a:r>
            <a:br>
              <a:rPr lang="en-IN" sz="1400" dirty="0"/>
            </a:br>
            <a:endParaRPr lang="en-IN" sz="1400" dirty="0"/>
          </a:p>
          <a:p>
            <a:r>
              <a:rPr lang="en-IN" sz="1400" b="1" dirty="0"/>
              <a:t>4. Premier Sedan sees notable cancellations too</a:t>
            </a:r>
          </a:p>
          <a:p>
            <a:endParaRPr lang="en-IN" sz="1400" dirty="0"/>
          </a:p>
          <a:p>
            <a:r>
              <a:rPr lang="en-IN" sz="1400" dirty="0"/>
              <a:t>Higher-end categories still suffer, implying:</a:t>
            </a:r>
          </a:p>
          <a:p>
            <a:pPr marL="285750" indent="-285750">
              <a:buFont typeface="Arial" panose="020B0604020202020204" pitchFamily="34" charset="0"/>
              <a:buChar char="•"/>
            </a:pPr>
            <a:r>
              <a:rPr lang="en-IN" sz="1400" dirty="0"/>
              <a:t>mismatch in long pickup distances</a:t>
            </a:r>
          </a:p>
          <a:p>
            <a:pPr marL="285750" indent="-285750">
              <a:buFont typeface="Arial" panose="020B0604020202020204" pitchFamily="34" charset="0"/>
              <a:buChar char="•"/>
            </a:pPr>
            <a:r>
              <a:rPr lang="en-IN" sz="1400" dirty="0"/>
              <a:t>driver preference for high-fare long routes only</a:t>
            </a:r>
          </a:p>
          <a:p>
            <a:pPr marL="285750" indent="-285750">
              <a:buFont typeface="Arial" panose="020B0604020202020204" pitchFamily="34" charset="0"/>
              <a:buChar char="•"/>
            </a:pPr>
            <a:r>
              <a:rPr lang="en-IN" sz="1400" dirty="0"/>
              <a:t>selective acceptance </a:t>
            </a:r>
            <a:r>
              <a:rPr lang="en-IN" sz="1400" dirty="0" err="1"/>
              <a:t>behavior</a:t>
            </a:r>
            <a:endParaRPr lang="en-IN" sz="1400" dirty="0"/>
          </a:p>
          <a:p>
            <a:endParaRPr lang="en-IN" sz="1400" dirty="0"/>
          </a:p>
          <a:p>
            <a:r>
              <a:rPr lang="en-IN" sz="1400" b="1" dirty="0"/>
              <a:t>5. Uber XL has the lowest cancellations</a:t>
            </a:r>
          </a:p>
          <a:p>
            <a:endParaRPr lang="en-IN" sz="1400" dirty="0"/>
          </a:p>
          <a:p>
            <a:r>
              <a:rPr lang="en-IN" sz="1400" dirty="0"/>
              <a:t>Because:</a:t>
            </a:r>
          </a:p>
          <a:p>
            <a:pPr marL="285750" indent="-285750">
              <a:buFont typeface="Arial" panose="020B0604020202020204" pitchFamily="34" charset="0"/>
              <a:buChar char="•"/>
            </a:pPr>
            <a:r>
              <a:rPr lang="en-IN" sz="1400" dirty="0"/>
              <a:t>fewer vehicles in the fleet</a:t>
            </a:r>
          </a:p>
          <a:p>
            <a:pPr marL="285750" indent="-285750">
              <a:buFont typeface="Arial" panose="020B0604020202020204" pitchFamily="34" charset="0"/>
              <a:buChar char="•"/>
            </a:pPr>
            <a:r>
              <a:rPr lang="en-IN" sz="1400" dirty="0"/>
              <a:t>used mostly for planned group travel</a:t>
            </a:r>
          </a:p>
          <a:p>
            <a:pPr marL="285750" indent="-285750">
              <a:buFont typeface="Arial" panose="020B0604020202020204" pitchFamily="34" charset="0"/>
              <a:buChar char="•"/>
            </a:pPr>
            <a:r>
              <a:rPr lang="en-IN" sz="1400" dirty="0"/>
              <a:t>customers have higher intent</a:t>
            </a:r>
          </a:p>
          <a:p>
            <a:pPr marL="285750" indent="-285750">
              <a:buFont typeface="Arial" panose="020B0604020202020204" pitchFamily="34" charset="0"/>
              <a:buChar char="•"/>
            </a:pPr>
            <a:r>
              <a:rPr lang="en-IN" sz="1400" dirty="0"/>
              <a:t>drivers likely stick to confirmed trips</a:t>
            </a:r>
          </a:p>
          <a:p>
            <a:endParaRPr lang="en-IN" sz="1400" dirty="0"/>
          </a:p>
          <a:p>
            <a:r>
              <a:rPr lang="en-IN" sz="1400" dirty="0"/>
              <a:t>Low cancellations reflect committed rides.</a:t>
            </a:r>
          </a:p>
          <a:p>
            <a:endParaRPr lang="en-US" dirty="0"/>
          </a:p>
        </p:txBody>
      </p:sp>
    </p:spTree>
    <p:extLst>
      <p:ext uri="{BB962C8B-B14F-4D97-AF65-F5344CB8AC3E}">
        <p14:creationId xmlns:p14="http://schemas.microsoft.com/office/powerpoint/2010/main" val="37956635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C8179B-6620-5149-B71E-BEFB38937DAB}"/>
              </a:ext>
            </a:extLst>
          </p:cNvPr>
          <p:cNvSpPr txBox="1"/>
          <p:nvPr/>
        </p:nvSpPr>
        <p:spPr>
          <a:xfrm>
            <a:off x="383822" y="293160"/>
            <a:ext cx="3899401" cy="646331"/>
          </a:xfrm>
          <a:prstGeom prst="rect">
            <a:avLst/>
          </a:prstGeom>
          <a:noFill/>
        </p:spPr>
        <p:txBody>
          <a:bodyPr wrap="none" rtlCol="0">
            <a:spAutoFit/>
          </a:bodyPr>
          <a:lstStyle/>
          <a:p>
            <a:r>
              <a:rPr lang="en-IN" b="1" dirty="0">
                <a:solidFill>
                  <a:srgbClr val="166A3F"/>
                </a:solidFill>
              </a:rPr>
              <a:t>Cancellation Rate by Vehicle Type</a:t>
            </a:r>
          </a:p>
          <a:p>
            <a:endParaRPr lang="en-US" dirty="0"/>
          </a:p>
        </p:txBody>
      </p:sp>
      <p:graphicFrame>
        <p:nvGraphicFramePr>
          <p:cNvPr id="4" name="Table 3">
            <a:extLst>
              <a:ext uri="{FF2B5EF4-FFF2-40B4-BE49-F238E27FC236}">
                <a16:creationId xmlns:a16="http://schemas.microsoft.com/office/drawing/2014/main" id="{C2D55E07-C41F-92E3-0ECA-5AEFCADC9C70}"/>
              </a:ext>
            </a:extLst>
          </p:cNvPr>
          <p:cNvGraphicFramePr>
            <a:graphicFrameLocks noGrp="1"/>
          </p:cNvGraphicFramePr>
          <p:nvPr>
            <p:extLst>
              <p:ext uri="{D42A27DB-BD31-4B8C-83A1-F6EECF244321}">
                <p14:modId xmlns:p14="http://schemas.microsoft.com/office/powerpoint/2010/main" val="834443949"/>
              </p:ext>
            </p:extLst>
          </p:nvPr>
        </p:nvGraphicFramePr>
        <p:xfrm>
          <a:off x="530578" y="939491"/>
          <a:ext cx="10515600" cy="2682240"/>
        </p:xfrm>
        <a:graphic>
          <a:graphicData uri="http://schemas.openxmlformats.org/drawingml/2006/table">
            <a:tbl>
              <a:tblPr/>
              <a:tblGrid>
                <a:gridCol w="3505200">
                  <a:extLst>
                    <a:ext uri="{9D8B030D-6E8A-4147-A177-3AD203B41FA5}">
                      <a16:colId xmlns:a16="http://schemas.microsoft.com/office/drawing/2014/main" val="2014109565"/>
                    </a:ext>
                  </a:extLst>
                </a:gridCol>
                <a:gridCol w="3505200">
                  <a:extLst>
                    <a:ext uri="{9D8B030D-6E8A-4147-A177-3AD203B41FA5}">
                      <a16:colId xmlns:a16="http://schemas.microsoft.com/office/drawing/2014/main" val="1767314391"/>
                    </a:ext>
                  </a:extLst>
                </a:gridCol>
                <a:gridCol w="3505200">
                  <a:extLst>
                    <a:ext uri="{9D8B030D-6E8A-4147-A177-3AD203B41FA5}">
                      <a16:colId xmlns:a16="http://schemas.microsoft.com/office/drawing/2014/main" val="1751191867"/>
                    </a:ext>
                  </a:extLst>
                </a:gridCol>
              </a:tblGrid>
              <a:tr h="0">
                <a:tc>
                  <a:txBody>
                    <a:bodyPr/>
                    <a:lstStyle/>
                    <a:p>
                      <a:pPr>
                        <a:buNone/>
                      </a:pPr>
                      <a:r>
                        <a:rPr lang="en-IN" sz="1600" b="1"/>
                        <a:t>Rank</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Vehicle Type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Cancellation Rate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912955"/>
                  </a:ext>
                </a:extLst>
              </a:tr>
              <a:tr h="0">
                <a:tc>
                  <a:txBody>
                    <a:bodyPr/>
                    <a:lstStyle/>
                    <a:p>
                      <a:pPr>
                        <a:buNone/>
                      </a:pPr>
                      <a:r>
                        <a:rPr lang="en-IN" sz="16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Go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25.29%</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8397236"/>
                  </a:ext>
                </a:extLst>
              </a:tr>
              <a:tr h="0">
                <a:tc>
                  <a:txBody>
                    <a:bodyPr/>
                    <a:lstStyle/>
                    <a:p>
                      <a:pPr>
                        <a:buNone/>
                      </a:pPr>
                      <a:r>
                        <a:rPr lang="en-IN" sz="16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25.10%</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824339"/>
                  </a:ext>
                </a:extLst>
              </a:tr>
              <a:tr h="0">
                <a:tc>
                  <a:txBody>
                    <a:bodyPr/>
                    <a:lstStyle/>
                    <a:p>
                      <a:pPr>
                        <a:buNone/>
                      </a:pPr>
                      <a:r>
                        <a:rPr lang="en-IN" sz="16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Premier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24.94%</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7266608"/>
                  </a:ext>
                </a:extLst>
              </a:tr>
              <a:tr h="0">
                <a:tc>
                  <a:txBody>
                    <a:bodyPr/>
                    <a:lstStyle/>
                    <a:p>
                      <a:pPr>
                        <a:buNone/>
                      </a:pPr>
                      <a:r>
                        <a:rPr lang="en-IN" sz="160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Go Mini</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24.92%</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6271927"/>
                  </a:ext>
                </a:extLst>
              </a:tr>
              <a:tr h="0">
                <a:tc>
                  <a:txBody>
                    <a:bodyPr/>
                    <a:lstStyle/>
                    <a:p>
                      <a:pPr>
                        <a:buNone/>
                      </a:pPr>
                      <a:r>
                        <a:rPr lang="en-IN" sz="16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Auto</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24.92%</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9620861"/>
                  </a:ext>
                </a:extLst>
              </a:tr>
              <a:tr h="0">
                <a:tc>
                  <a:txBody>
                    <a:bodyPr/>
                    <a:lstStyle/>
                    <a:p>
                      <a:pPr>
                        <a:buNone/>
                      </a:pPr>
                      <a:r>
                        <a:rPr lang="en-IN" sz="160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eBike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24.91%</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416215"/>
                  </a:ext>
                </a:extLst>
              </a:tr>
              <a:tr h="0">
                <a:tc>
                  <a:txBody>
                    <a:bodyPr/>
                    <a:lstStyle/>
                    <a:p>
                      <a:pPr>
                        <a:buNone/>
                      </a:pPr>
                      <a:r>
                        <a:rPr lang="en-IN" sz="160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Uber XL</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24.48%</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2782567"/>
                  </a:ext>
                </a:extLst>
              </a:tr>
            </a:tbl>
          </a:graphicData>
        </a:graphic>
      </p:graphicFrame>
      <p:sp>
        <p:nvSpPr>
          <p:cNvPr id="5" name="TextBox 4">
            <a:extLst>
              <a:ext uri="{FF2B5EF4-FFF2-40B4-BE49-F238E27FC236}">
                <a16:creationId xmlns:a16="http://schemas.microsoft.com/office/drawing/2014/main" id="{27D5BF91-D7B6-242E-432F-A59E01BFA813}"/>
              </a:ext>
            </a:extLst>
          </p:cNvPr>
          <p:cNvSpPr txBox="1"/>
          <p:nvPr/>
        </p:nvSpPr>
        <p:spPr>
          <a:xfrm>
            <a:off x="459566" y="4109156"/>
            <a:ext cx="8183138" cy="2092881"/>
          </a:xfrm>
          <a:prstGeom prst="rect">
            <a:avLst/>
          </a:prstGeom>
          <a:noFill/>
        </p:spPr>
        <p:txBody>
          <a:bodyPr wrap="none" rtlCol="0">
            <a:spAutoFit/>
          </a:bodyPr>
          <a:lstStyle/>
          <a:p>
            <a:r>
              <a:rPr lang="en-IN" sz="1600" b="1" dirty="0"/>
              <a:t>All vehicle types have ~25% cancellation rate — a systemic issue</a:t>
            </a:r>
          </a:p>
          <a:p>
            <a:br>
              <a:rPr lang="en-IN" sz="1600" dirty="0"/>
            </a:br>
            <a:endParaRPr lang="en-IN" sz="1600" dirty="0"/>
          </a:p>
          <a:p>
            <a:r>
              <a:rPr lang="en-IN" sz="1600" dirty="0"/>
              <a:t>The narrow range (24.48% to 25.29%) shows:</a:t>
            </a:r>
          </a:p>
          <a:p>
            <a:pPr marL="285750" indent="-285750">
              <a:buFont typeface="Arial" panose="020B0604020202020204" pitchFamily="34" charset="0"/>
              <a:buChar char="•"/>
            </a:pPr>
            <a:r>
              <a:rPr lang="en-IN" sz="1600" dirty="0"/>
              <a:t>cancellations are not isolated to one vehicle type</a:t>
            </a:r>
          </a:p>
          <a:p>
            <a:pPr marL="285750" indent="-285750">
              <a:buFont typeface="Arial" panose="020B0604020202020204" pitchFamily="34" charset="0"/>
              <a:buChar char="•"/>
            </a:pPr>
            <a:r>
              <a:rPr lang="en-IN" sz="1600" dirty="0"/>
              <a:t>the problem exists across the entire fleet</a:t>
            </a:r>
          </a:p>
          <a:p>
            <a:pPr marL="285750" indent="-285750">
              <a:buFont typeface="Arial" panose="020B0604020202020204" pitchFamily="34" charset="0"/>
              <a:buChar char="•"/>
            </a:pPr>
            <a:r>
              <a:rPr lang="en-IN" sz="1600" dirty="0"/>
              <a:t>root causes are structural: traffic, long pickups, customer indecision, driver incentives</a:t>
            </a:r>
          </a:p>
          <a:p>
            <a:endParaRPr lang="en-US" dirty="0"/>
          </a:p>
        </p:txBody>
      </p:sp>
    </p:spTree>
    <p:extLst>
      <p:ext uri="{BB962C8B-B14F-4D97-AF65-F5344CB8AC3E}">
        <p14:creationId xmlns:p14="http://schemas.microsoft.com/office/powerpoint/2010/main" val="3608033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325597-0D75-E10D-2FC9-0AA65B5B1358}"/>
              </a:ext>
            </a:extLst>
          </p:cNvPr>
          <p:cNvSpPr txBox="1"/>
          <p:nvPr/>
        </p:nvSpPr>
        <p:spPr>
          <a:xfrm>
            <a:off x="440267" y="451556"/>
            <a:ext cx="5425460" cy="646331"/>
          </a:xfrm>
          <a:prstGeom prst="rect">
            <a:avLst/>
          </a:prstGeom>
          <a:noFill/>
        </p:spPr>
        <p:txBody>
          <a:bodyPr wrap="none" rtlCol="0">
            <a:spAutoFit/>
          </a:bodyPr>
          <a:lstStyle/>
          <a:p>
            <a:r>
              <a:rPr lang="en-IN" b="1" dirty="0">
                <a:solidFill>
                  <a:srgbClr val="166A3F"/>
                </a:solidFill>
              </a:rPr>
              <a:t>Ride Distance Summary by Vehicle Type (in km)</a:t>
            </a:r>
          </a:p>
          <a:p>
            <a:endParaRPr lang="en-US" dirty="0"/>
          </a:p>
        </p:txBody>
      </p:sp>
      <p:graphicFrame>
        <p:nvGraphicFramePr>
          <p:cNvPr id="4" name="Table 3">
            <a:extLst>
              <a:ext uri="{FF2B5EF4-FFF2-40B4-BE49-F238E27FC236}">
                <a16:creationId xmlns:a16="http://schemas.microsoft.com/office/drawing/2014/main" id="{A95BB14B-4EE6-1F76-A257-A22D5FF47D8B}"/>
              </a:ext>
            </a:extLst>
          </p:cNvPr>
          <p:cNvGraphicFramePr>
            <a:graphicFrameLocks noGrp="1"/>
          </p:cNvGraphicFramePr>
          <p:nvPr>
            <p:extLst>
              <p:ext uri="{D42A27DB-BD31-4B8C-83A1-F6EECF244321}">
                <p14:modId xmlns:p14="http://schemas.microsoft.com/office/powerpoint/2010/main" val="1336547268"/>
              </p:ext>
            </p:extLst>
          </p:nvPr>
        </p:nvGraphicFramePr>
        <p:xfrm>
          <a:off x="570089" y="1097887"/>
          <a:ext cx="10515600" cy="2682240"/>
        </p:xfrm>
        <a:graphic>
          <a:graphicData uri="http://schemas.openxmlformats.org/drawingml/2006/table">
            <a:tbl>
              <a:tblPr/>
              <a:tblGrid>
                <a:gridCol w="2628900">
                  <a:extLst>
                    <a:ext uri="{9D8B030D-6E8A-4147-A177-3AD203B41FA5}">
                      <a16:colId xmlns:a16="http://schemas.microsoft.com/office/drawing/2014/main" val="2917304376"/>
                    </a:ext>
                  </a:extLst>
                </a:gridCol>
                <a:gridCol w="2628900">
                  <a:extLst>
                    <a:ext uri="{9D8B030D-6E8A-4147-A177-3AD203B41FA5}">
                      <a16:colId xmlns:a16="http://schemas.microsoft.com/office/drawing/2014/main" val="4204145099"/>
                    </a:ext>
                  </a:extLst>
                </a:gridCol>
                <a:gridCol w="2628900">
                  <a:extLst>
                    <a:ext uri="{9D8B030D-6E8A-4147-A177-3AD203B41FA5}">
                      <a16:colId xmlns:a16="http://schemas.microsoft.com/office/drawing/2014/main" val="483483019"/>
                    </a:ext>
                  </a:extLst>
                </a:gridCol>
                <a:gridCol w="2628900">
                  <a:extLst>
                    <a:ext uri="{9D8B030D-6E8A-4147-A177-3AD203B41FA5}">
                      <a16:colId xmlns:a16="http://schemas.microsoft.com/office/drawing/2014/main" val="4108050565"/>
                    </a:ext>
                  </a:extLst>
                </a:gridCol>
              </a:tblGrid>
              <a:tr h="0">
                <a:tc>
                  <a:txBody>
                    <a:bodyPr/>
                    <a:lstStyle/>
                    <a:p>
                      <a:pPr>
                        <a:buNone/>
                      </a:pPr>
                      <a:r>
                        <a:rPr lang="en-IN" sz="1600" b="1"/>
                        <a:t>Vehicle Type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Avg Distance (km)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Min Distance (km)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Max Distance (km)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2270890"/>
                  </a:ext>
                </a:extLst>
              </a:tr>
              <a:tr h="0">
                <a:tc>
                  <a:txBody>
                    <a:bodyPr/>
                    <a:lstStyle/>
                    <a:p>
                      <a:pPr>
                        <a:buNone/>
                      </a:pPr>
                      <a:r>
                        <a:rPr lang="en-IN" sz="1600" b="1"/>
                        <a:t>eBike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49.98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976848"/>
                  </a:ext>
                </a:extLst>
              </a:tr>
              <a:tr h="0">
                <a:tc>
                  <a:txBody>
                    <a:bodyPr/>
                    <a:lstStyle/>
                    <a:p>
                      <a:pPr>
                        <a:buNone/>
                      </a:pPr>
                      <a:r>
                        <a:rPr lang="en-IN" sz="1600" b="1"/>
                        <a:t>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839423"/>
                  </a:ext>
                </a:extLst>
              </a:tr>
              <a:tr h="0">
                <a:tc>
                  <a:txBody>
                    <a:bodyPr/>
                    <a:lstStyle/>
                    <a:p>
                      <a:pPr>
                        <a:buNone/>
                      </a:pPr>
                      <a:r>
                        <a:rPr lang="en-IN" sz="1600" b="1"/>
                        <a:t>Auto</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2921704"/>
                  </a:ext>
                </a:extLst>
              </a:tr>
              <a:tr h="0">
                <a:tc>
                  <a:txBody>
                    <a:bodyPr/>
                    <a:lstStyle/>
                    <a:p>
                      <a:pPr>
                        <a:buNone/>
                      </a:pPr>
                      <a:r>
                        <a:rPr lang="en-IN" sz="1600" b="1"/>
                        <a:t>Go Mini</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5265571"/>
                  </a:ext>
                </a:extLst>
              </a:tr>
              <a:tr h="0">
                <a:tc>
                  <a:txBody>
                    <a:bodyPr/>
                    <a:lstStyle/>
                    <a:p>
                      <a:pPr>
                        <a:buNone/>
                      </a:pPr>
                      <a:r>
                        <a:rPr lang="en-IN" sz="1600" b="1"/>
                        <a:t>Go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5577068"/>
                  </a:ext>
                </a:extLst>
              </a:tr>
              <a:tr h="0">
                <a:tc>
                  <a:txBody>
                    <a:bodyPr/>
                    <a:lstStyle/>
                    <a:p>
                      <a:pPr>
                        <a:buNone/>
                      </a:pPr>
                      <a:r>
                        <a:rPr lang="en-IN" sz="1600" b="1"/>
                        <a:t>Premier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8765982"/>
                  </a:ext>
                </a:extLst>
              </a:tr>
              <a:tr h="0">
                <a:tc>
                  <a:txBody>
                    <a:bodyPr/>
                    <a:lstStyle/>
                    <a:p>
                      <a:pPr>
                        <a:buNone/>
                      </a:pPr>
                      <a:r>
                        <a:rPr lang="en-IN" sz="1600" b="1"/>
                        <a:t>Uber XL</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24.40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49.99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69932"/>
                  </a:ext>
                </a:extLst>
              </a:tr>
            </a:tbl>
          </a:graphicData>
        </a:graphic>
      </p:graphicFrame>
      <p:sp>
        <p:nvSpPr>
          <p:cNvPr id="5" name="TextBox 4">
            <a:extLst>
              <a:ext uri="{FF2B5EF4-FFF2-40B4-BE49-F238E27FC236}">
                <a16:creationId xmlns:a16="http://schemas.microsoft.com/office/drawing/2014/main" id="{04128DBD-CC87-EF8F-75D5-80400880C88C}"/>
              </a:ext>
            </a:extLst>
          </p:cNvPr>
          <p:cNvSpPr txBox="1"/>
          <p:nvPr/>
        </p:nvSpPr>
        <p:spPr>
          <a:xfrm>
            <a:off x="440267" y="4323645"/>
            <a:ext cx="9361858" cy="1354217"/>
          </a:xfrm>
          <a:prstGeom prst="rect">
            <a:avLst/>
          </a:prstGeom>
          <a:noFill/>
        </p:spPr>
        <p:txBody>
          <a:bodyPr wrap="none" rtlCol="0">
            <a:spAutoFit/>
          </a:bodyPr>
          <a:lstStyle/>
          <a:p>
            <a:r>
              <a:rPr lang="en-IN" sz="1600" dirty="0"/>
              <a:t>Ride distances across all vehicle categories are almost identical, ranging around </a:t>
            </a:r>
            <a:r>
              <a:rPr lang="en-IN" sz="1600" b="1" dirty="0"/>
              <a:t>25 km on average</a:t>
            </a:r>
            <a:r>
              <a:rPr lang="en-IN" sz="1600" dirty="0"/>
              <a:t>, </a:t>
            </a:r>
          </a:p>
          <a:p>
            <a:r>
              <a:rPr lang="en-IN" sz="1600" dirty="0"/>
              <a:t>with trip lengths spanning </a:t>
            </a:r>
            <a:r>
              <a:rPr lang="en-IN" sz="1600" b="1" dirty="0"/>
              <a:t>1 km to ~50 km</a:t>
            </a:r>
            <a:r>
              <a:rPr lang="en-IN" sz="1600" dirty="0"/>
              <a:t>.</a:t>
            </a:r>
          </a:p>
          <a:p>
            <a:endParaRPr lang="en-IN" sz="1600" dirty="0"/>
          </a:p>
          <a:p>
            <a:r>
              <a:rPr lang="en-IN" sz="1600" dirty="0"/>
              <a:t>This pattern likely results from the structure of the dataset and may not reflect real-world variation.</a:t>
            </a:r>
          </a:p>
          <a:p>
            <a:endParaRPr lang="en-US" dirty="0"/>
          </a:p>
        </p:txBody>
      </p:sp>
    </p:spTree>
    <p:extLst>
      <p:ext uri="{BB962C8B-B14F-4D97-AF65-F5344CB8AC3E}">
        <p14:creationId xmlns:p14="http://schemas.microsoft.com/office/powerpoint/2010/main" val="547054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DA644C-8280-761A-1A82-B0171C7F6D31}"/>
              </a:ext>
            </a:extLst>
          </p:cNvPr>
          <p:cNvSpPr txBox="1"/>
          <p:nvPr/>
        </p:nvSpPr>
        <p:spPr>
          <a:xfrm>
            <a:off x="417688" y="338667"/>
            <a:ext cx="3630096" cy="646331"/>
          </a:xfrm>
          <a:prstGeom prst="rect">
            <a:avLst/>
          </a:prstGeom>
          <a:noFill/>
        </p:spPr>
        <p:txBody>
          <a:bodyPr wrap="none" rtlCol="0">
            <a:spAutoFit/>
          </a:bodyPr>
          <a:lstStyle/>
          <a:p>
            <a:r>
              <a:rPr lang="en-IN" b="1" dirty="0"/>
              <a:t> </a:t>
            </a:r>
            <a:r>
              <a:rPr lang="en-IN" b="1" dirty="0">
                <a:solidFill>
                  <a:srgbClr val="166A3F"/>
                </a:solidFill>
              </a:rPr>
              <a:t>Fare Summary by Vehicle Type</a:t>
            </a:r>
          </a:p>
          <a:p>
            <a:endParaRPr lang="en-US" dirty="0"/>
          </a:p>
        </p:txBody>
      </p:sp>
      <p:graphicFrame>
        <p:nvGraphicFramePr>
          <p:cNvPr id="4" name="Table 3">
            <a:extLst>
              <a:ext uri="{FF2B5EF4-FFF2-40B4-BE49-F238E27FC236}">
                <a16:creationId xmlns:a16="http://schemas.microsoft.com/office/drawing/2014/main" id="{E28A7FA3-3617-9911-CD3D-45AED2685124}"/>
              </a:ext>
            </a:extLst>
          </p:cNvPr>
          <p:cNvGraphicFramePr>
            <a:graphicFrameLocks noGrp="1"/>
          </p:cNvGraphicFramePr>
          <p:nvPr>
            <p:extLst>
              <p:ext uri="{D42A27DB-BD31-4B8C-83A1-F6EECF244321}">
                <p14:modId xmlns:p14="http://schemas.microsoft.com/office/powerpoint/2010/main" val="2808348678"/>
              </p:ext>
            </p:extLst>
          </p:nvPr>
        </p:nvGraphicFramePr>
        <p:xfrm>
          <a:off x="589844" y="984998"/>
          <a:ext cx="10515600" cy="2682240"/>
        </p:xfrm>
        <a:graphic>
          <a:graphicData uri="http://schemas.openxmlformats.org/drawingml/2006/table">
            <a:tbl>
              <a:tblPr/>
              <a:tblGrid>
                <a:gridCol w="2628900">
                  <a:extLst>
                    <a:ext uri="{9D8B030D-6E8A-4147-A177-3AD203B41FA5}">
                      <a16:colId xmlns:a16="http://schemas.microsoft.com/office/drawing/2014/main" val="4216793734"/>
                    </a:ext>
                  </a:extLst>
                </a:gridCol>
                <a:gridCol w="2628900">
                  <a:extLst>
                    <a:ext uri="{9D8B030D-6E8A-4147-A177-3AD203B41FA5}">
                      <a16:colId xmlns:a16="http://schemas.microsoft.com/office/drawing/2014/main" val="622482256"/>
                    </a:ext>
                  </a:extLst>
                </a:gridCol>
                <a:gridCol w="2628900">
                  <a:extLst>
                    <a:ext uri="{9D8B030D-6E8A-4147-A177-3AD203B41FA5}">
                      <a16:colId xmlns:a16="http://schemas.microsoft.com/office/drawing/2014/main" val="3006075153"/>
                    </a:ext>
                  </a:extLst>
                </a:gridCol>
                <a:gridCol w="2628900">
                  <a:extLst>
                    <a:ext uri="{9D8B030D-6E8A-4147-A177-3AD203B41FA5}">
                      <a16:colId xmlns:a16="http://schemas.microsoft.com/office/drawing/2014/main" val="1243293963"/>
                    </a:ext>
                  </a:extLst>
                </a:gridCol>
              </a:tblGrid>
              <a:tr h="0">
                <a:tc>
                  <a:txBody>
                    <a:bodyPr/>
                    <a:lstStyle/>
                    <a:p>
                      <a:pPr>
                        <a:buNone/>
                      </a:pPr>
                      <a:r>
                        <a:rPr lang="en-IN" sz="1600" b="1"/>
                        <a:t>Vehicle Type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Avg Fare (₹)</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Min Fare (₹)</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Max Fare (₹)</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9122756"/>
                  </a:ext>
                </a:extLst>
              </a:tr>
              <a:tr h="0">
                <a:tc>
                  <a:txBody>
                    <a:bodyPr/>
                    <a:lstStyle/>
                    <a:p>
                      <a:pPr>
                        <a:buNone/>
                      </a:pPr>
                      <a:r>
                        <a:rPr lang="en-IN" sz="1600" b="1"/>
                        <a:t>Go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511.50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4088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2878061"/>
                  </a:ext>
                </a:extLst>
              </a:tr>
              <a:tr h="0">
                <a:tc>
                  <a:txBody>
                    <a:bodyPr/>
                    <a:lstStyle/>
                    <a:p>
                      <a:pPr>
                        <a:buNone/>
                      </a:pPr>
                      <a:r>
                        <a:rPr lang="en-IN" sz="1600" b="1"/>
                        <a:t>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510.20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3106"/>
                  </a:ext>
                </a:extLst>
              </a:tr>
              <a:tr h="0">
                <a:tc>
                  <a:txBody>
                    <a:bodyPr/>
                    <a:lstStyle/>
                    <a:p>
                      <a:pPr>
                        <a:buNone/>
                      </a:pPr>
                      <a:r>
                        <a:rPr lang="en-IN" sz="1600" b="1"/>
                        <a:t>Premier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509.57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7787364"/>
                  </a:ext>
                </a:extLst>
              </a:tr>
              <a:tr h="0">
                <a:tc>
                  <a:txBody>
                    <a:bodyPr/>
                    <a:lstStyle/>
                    <a:p>
                      <a:pPr>
                        <a:buNone/>
                      </a:pPr>
                      <a:r>
                        <a:rPr lang="en-IN" sz="1600" b="1"/>
                        <a:t>Go Mini</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507.68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4277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299415"/>
                  </a:ext>
                </a:extLst>
              </a:tr>
              <a:tr h="0">
                <a:tc>
                  <a:txBody>
                    <a:bodyPr/>
                    <a:lstStyle/>
                    <a:p>
                      <a:pPr>
                        <a:buNone/>
                      </a:pPr>
                      <a:r>
                        <a:rPr lang="en-IN" sz="1600" b="1"/>
                        <a:t>Auto</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506.73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561016"/>
                  </a:ext>
                </a:extLst>
              </a:tr>
              <a:tr h="0">
                <a:tc>
                  <a:txBody>
                    <a:bodyPr/>
                    <a:lstStyle/>
                    <a:p>
                      <a:pPr>
                        <a:buNone/>
                      </a:pPr>
                      <a:r>
                        <a:rPr lang="en-IN" sz="1600" b="1"/>
                        <a:t>eBike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503.90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4093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3574393"/>
                  </a:ext>
                </a:extLst>
              </a:tr>
              <a:tr h="0">
                <a:tc>
                  <a:txBody>
                    <a:bodyPr/>
                    <a:lstStyle/>
                    <a:p>
                      <a:pPr>
                        <a:buNone/>
                      </a:pPr>
                      <a:r>
                        <a:rPr lang="en-IN" sz="1600" b="1"/>
                        <a:t>Uber XL</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501.82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3703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0131447"/>
                  </a:ext>
                </a:extLst>
              </a:tr>
            </a:tbl>
          </a:graphicData>
        </a:graphic>
      </p:graphicFrame>
      <p:sp>
        <p:nvSpPr>
          <p:cNvPr id="5" name="TextBox 4">
            <a:extLst>
              <a:ext uri="{FF2B5EF4-FFF2-40B4-BE49-F238E27FC236}">
                <a16:creationId xmlns:a16="http://schemas.microsoft.com/office/drawing/2014/main" id="{7962D59F-F9CD-9781-29B8-9EA06574EF92}"/>
              </a:ext>
            </a:extLst>
          </p:cNvPr>
          <p:cNvSpPr txBox="1"/>
          <p:nvPr/>
        </p:nvSpPr>
        <p:spPr>
          <a:xfrm>
            <a:off x="519647" y="4313569"/>
            <a:ext cx="11514088" cy="1107996"/>
          </a:xfrm>
          <a:prstGeom prst="rect">
            <a:avLst/>
          </a:prstGeom>
          <a:noFill/>
        </p:spPr>
        <p:txBody>
          <a:bodyPr wrap="square" rtlCol="0">
            <a:spAutoFit/>
          </a:bodyPr>
          <a:lstStyle/>
          <a:p>
            <a:r>
              <a:rPr lang="en-IN" sz="1600" dirty="0"/>
              <a:t>Average fares across all vehicle types fall within a narrow band of </a:t>
            </a:r>
            <a:r>
              <a:rPr lang="en-IN" sz="1600" b="1" dirty="0"/>
              <a:t>₹501–₹512</a:t>
            </a:r>
            <a:r>
              <a:rPr lang="en-IN" sz="1600" dirty="0"/>
              <a:t>, with a uniform minimum fare of ₹50 across categories. Maximum fares vary between ₹3700–₹4300 depending on vehicle type. Overall fare distribution appears artificially uniform (likely due to dataset constraints)</a:t>
            </a:r>
          </a:p>
          <a:p>
            <a:endParaRPr lang="en-US" dirty="0"/>
          </a:p>
        </p:txBody>
      </p:sp>
    </p:spTree>
    <p:extLst>
      <p:ext uri="{BB962C8B-B14F-4D97-AF65-F5344CB8AC3E}">
        <p14:creationId xmlns:p14="http://schemas.microsoft.com/office/powerpoint/2010/main" val="4051122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1C4BEE-CF81-8487-5B1A-6CB4D6C0EB1B}"/>
              </a:ext>
            </a:extLst>
          </p:cNvPr>
          <p:cNvSpPr txBox="1"/>
          <p:nvPr/>
        </p:nvSpPr>
        <p:spPr>
          <a:xfrm>
            <a:off x="406400" y="282222"/>
            <a:ext cx="2993127" cy="646331"/>
          </a:xfrm>
          <a:prstGeom prst="rect">
            <a:avLst/>
          </a:prstGeom>
          <a:noFill/>
        </p:spPr>
        <p:txBody>
          <a:bodyPr wrap="none" rtlCol="0">
            <a:spAutoFit/>
          </a:bodyPr>
          <a:lstStyle/>
          <a:p>
            <a:r>
              <a:rPr lang="en-IN" b="1" dirty="0">
                <a:solidFill>
                  <a:srgbClr val="166A3F"/>
                </a:solidFill>
              </a:rPr>
              <a:t>Fare Efficiency (₹ per km)</a:t>
            </a:r>
          </a:p>
          <a:p>
            <a:endParaRPr lang="en-US" dirty="0"/>
          </a:p>
        </p:txBody>
      </p:sp>
      <p:graphicFrame>
        <p:nvGraphicFramePr>
          <p:cNvPr id="4" name="Table 3">
            <a:extLst>
              <a:ext uri="{FF2B5EF4-FFF2-40B4-BE49-F238E27FC236}">
                <a16:creationId xmlns:a16="http://schemas.microsoft.com/office/drawing/2014/main" id="{59CF41DF-1160-C8CC-3F29-B23870F1BED1}"/>
              </a:ext>
            </a:extLst>
          </p:cNvPr>
          <p:cNvGraphicFramePr>
            <a:graphicFrameLocks noGrp="1"/>
          </p:cNvGraphicFramePr>
          <p:nvPr>
            <p:extLst>
              <p:ext uri="{D42A27DB-BD31-4B8C-83A1-F6EECF244321}">
                <p14:modId xmlns:p14="http://schemas.microsoft.com/office/powerpoint/2010/main" val="3103247318"/>
              </p:ext>
            </p:extLst>
          </p:nvPr>
        </p:nvGraphicFramePr>
        <p:xfrm>
          <a:off x="508000" y="928553"/>
          <a:ext cx="10515600" cy="2682240"/>
        </p:xfrm>
        <a:graphic>
          <a:graphicData uri="http://schemas.openxmlformats.org/drawingml/2006/table">
            <a:tbl>
              <a:tblPr/>
              <a:tblGrid>
                <a:gridCol w="5257800">
                  <a:extLst>
                    <a:ext uri="{9D8B030D-6E8A-4147-A177-3AD203B41FA5}">
                      <a16:colId xmlns:a16="http://schemas.microsoft.com/office/drawing/2014/main" val="686755187"/>
                    </a:ext>
                  </a:extLst>
                </a:gridCol>
                <a:gridCol w="5257800">
                  <a:extLst>
                    <a:ext uri="{9D8B030D-6E8A-4147-A177-3AD203B41FA5}">
                      <a16:colId xmlns:a16="http://schemas.microsoft.com/office/drawing/2014/main" val="1350629223"/>
                    </a:ext>
                  </a:extLst>
                </a:gridCol>
              </a:tblGrid>
              <a:tr h="0">
                <a:tc>
                  <a:txBody>
                    <a:bodyPr/>
                    <a:lstStyle/>
                    <a:p>
                      <a:pPr>
                        <a:buNone/>
                      </a:pPr>
                      <a:r>
                        <a:rPr lang="en-IN" sz="1600" b="1" dirty="0"/>
                        <a:t>Vehicle Type</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Avg Fare per km (₹/km)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5192040"/>
                  </a:ext>
                </a:extLst>
              </a:tr>
              <a:tr h="0">
                <a:tc>
                  <a:txBody>
                    <a:bodyPr/>
                    <a:lstStyle/>
                    <a:p>
                      <a:pPr>
                        <a:buNone/>
                      </a:pPr>
                      <a:r>
                        <a:rPr lang="en-IN" sz="1600" b="1"/>
                        <a:t>Go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38.22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9104645"/>
                  </a:ext>
                </a:extLst>
              </a:tr>
              <a:tr h="0">
                <a:tc>
                  <a:txBody>
                    <a:bodyPr/>
                    <a:lstStyle/>
                    <a:p>
                      <a:pPr>
                        <a:buNone/>
                      </a:pPr>
                      <a:r>
                        <a:rPr lang="en-IN" sz="1600" b="1"/>
                        <a:t>Bike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38.17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4115256"/>
                  </a:ext>
                </a:extLst>
              </a:tr>
              <a:tr h="0">
                <a:tc>
                  <a:txBody>
                    <a:bodyPr/>
                    <a:lstStyle/>
                    <a:p>
                      <a:pPr>
                        <a:buNone/>
                      </a:pPr>
                      <a:r>
                        <a:rPr lang="en-IN" sz="1600" b="1"/>
                        <a:t>Auto</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38.09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996879"/>
                  </a:ext>
                </a:extLst>
              </a:tr>
              <a:tr h="0">
                <a:tc>
                  <a:txBody>
                    <a:bodyPr/>
                    <a:lstStyle/>
                    <a:p>
                      <a:pPr>
                        <a:buNone/>
                      </a:pPr>
                      <a:r>
                        <a:rPr lang="en-IN" sz="1600" b="1"/>
                        <a:t>Uber XL</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37.93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84747"/>
                  </a:ext>
                </a:extLst>
              </a:tr>
              <a:tr h="0">
                <a:tc>
                  <a:txBody>
                    <a:bodyPr/>
                    <a:lstStyle/>
                    <a:p>
                      <a:pPr>
                        <a:buNone/>
                      </a:pPr>
                      <a:r>
                        <a:rPr lang="en-IN" sz="1600" b="1"/>
                        <a:t>Premier Sedan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37.86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4355661"/>
                  </a:ext>
                </a:extLst>
              </a:tr>
              <a:tr h="0">
                <a:tc>
                  <a:txBody>
                    <a:bodyPr/>
                    <a:lstStyle/>
                    <a:p>
                      <a:pPr>
                        <a:buNone/>
                      </a:pPr>
                      <a:r>
                        <a:rPr lang="en-IN" sz="1600" b="1"/>
                        <a:t>Go Mini</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37.64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3722026"/>
                  </a:ext>
                </a:extLst>
              </a:tr>
              <a:tr h="0">
                <a:tc>
                  <a:txBody>
                    <a:bodyPr/>
                    <a:lstStyle/>
                    <a:p>
                      <a:pPr>
                        <a:buNone/>
                      </a:pPr>
                      <a:r>
                        <a:rPr lang="en-IN" sz="1600" b="1" dirty="0" err="1"/>
                        <a:t>eBike</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36.31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772703"/>
                  </a:ext>
                </a:extLst>
              </a:tr>
            </a:tbl>
          </a:graphicData>
        </a:graphic>
      </p:graphicFrame>
      <p:sp>
        <p:nvSpPr>
          <p:cNvPr id="5" name="TextBox 4">
            <a:extLst>
              <a:ext uri="{FF2B5EF4-FFF2-40B4-BE49-F238E27FC236}">
                <a16:creationId xmlns:a16="http://schemas.microsoft.com/office/drawing/2014/main" id="{DFA47F11-3DDE-32C7-B8DD-1A6F81BE11AE}"/>
              </a:ext>
            </a:extLst>
          </p:cNvPr>
          <p:cNvSpPr txBox="1"/>
          <p:nvPr/>
        </p:nvSpPr>
        <p:spPr>
          <a:xfrm>
            <a:off x="406400" y="4131733"/>
            <a:ext cx="10362645" cy="892552"/>
          </a:xfrm>
          <a:prstGeom prst="rect">
            <a:avLst/>
          </a:prstGeom>
          <a:noFill/>
        </p:spPr>
        <p:txBody>
          <a:bodyPr wrap="none" rtlCol="0">
            <a:spAutoFit/>
          </a:bodyPr>
          <a:lstStyle/>
          <a:p>
            <a:r>
              <a:rPr lang="en-IN" sz="1600" dirty="0"/>
              <a:t>Fare-per-km rates are tightly grouped around </a:t>
            </a:r>
            <a:r>
              <a:rPr lang="en-IN" sz="1600" b="1" dirty="0"/>
              <a:t>₹36–₹38/km</a:t>
            </a:r>
            <a:r>
              <a:rPr lang="en-IN" sz="1600" dirty="0"/>
              <a:t>, with Go Sedan slightly highest and </a:t>
            </a:r>
            <a:r>
              <a:rPr lang="en-IN" sz="1600" dirty="0" err="1"/>
              <a:t>eBikes</a:t>
            </a:r>
            <a:r>
              <a:rPr lang="en-IN" sz="1600" dirty="0"/>
              <a:t> lowest.</a:t>
            </a:r>
          </a:p>
          <a:p>
            <a:r>
              <a:rPr lang="en-IN" sz="1600" dirty="0"/>
              <a:t>The narrow range suggests standardized pricing in the dataset rather than real-world fare variability.</a:t>
            </a:r>
          </a:p>
          <a:p>
            <a:endParaRPr lang="en-US" dirty="0"/>
          </a:p>
        </p:txBody>
      </p:sp>
    </p:spTree>
    <p:extLst>
      <p:ext uri="{BB962C8B-B14F-4D97-AF65-F5344CB8AC3E}">
        <p14:creationId xmlns:p14="http://schemas.microsoft.com/office/powerpoint/2010/main" val="2594526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25F899B-BFD5-746E-741A-574109753729}"/>
              </a:ext>
            </a:extLst>
          </p:cNvPr>
          <p:cNvSpPr txBox="1"/>
          <p:nvPr/>
        </p:nvSpPr>
        <p:spPr>
          <a:xfrm>
            <a:off x="496711" y="327378"/>
            <a:ext cx="4373890" cy="646331"/>
          </a:xfrm>
          <a:prstGeom prst="rect">
            <a:avLst/>
          </a:prstGeom>
          <a:noFill/>
        </p:spPr>
        <p:txBody>
          <a:bodyPr wrap="none" rtlCol="0">
            <a:spAutoFit/>
          </a:bodyPr>
          <a:lstStyle/>
          <a:p>
            <a:r>
              <a:rPr lang="en-IN" b="1" dirty="0">
                <a:solidFill>
                  <a:srgbClr val="166A3F"/>
                </a:solidFill>
              </a:rPr>
              <a:t>Revenue Contribution by Vehicle Type</a:t>
            </a:r>
          </a:p>
          <a:p>
            <a:endParaRPr lang="en-US" dirty="0"/>
          </a:p>
        </p:txBody>
      </p:sp>
      <p:graphicFrame>
        <p:nvGraphicFramePr>
          <p:cNvPr id="6" name="Table 5">
            <a:extLst>
              <a:ext uri="{FF2B5EF4-FFF2-40B4-BE49-F238E27FC236}">
                <a16:creationId xmlns:a16="http://schemas.microsoft.com/office/drawing/2014/main" id="{3DF327E7-D2E7-FDF1-5772-CB55B7DE518D}"/>
              </a:ext>
            </a:extLst>
          </p:cNvPr>
          <p:cNvGraphicFramePr>
            <a:graphicFrameLocks noGrp="1"/>
          </p:cNvGraphicFramePr>
          <p:nvPr>
            <p:extLst>
              <p:ext uri="{D42A27DB-BD31-4B8C-83A1-F6EECF244321}">
                <p14:modId xmlns:p14="http://schemas.microsoft.com/office/powerpoint/2010/main" val="799686130"/>
              </p:ext>
            </p:extLst>
          </p:nvPr>
        </p:nvGraphicFramePr>
        <p:xfrm>
          <a:off x="578556" y="973709"/>
          <a:ext cx="10515600" cy="2926080"/>
        </p:xfrm>
        <a:graphic>
          <a:graphicData uri="http://schemas.openxmlformats.org/drawingml/2006/table">
            <a:tbl>
              <a:tblPr/>
              <a:tblGrid>
                <a:gridCol w="2628900">
                  <a:extLst>
                    <a:ext uri="{9D8B030D-6E8A-4147-A177-3AD203B41FA5}">
                      <a16:colId xmlns:a16="http://schemas.microsoft.com/office/drawing/2014/main" val="2390051387"/>
                    </a:ext>
                  </a:extLst>
                </a:gridCol>
                <a:gridCol w="2628900">
                  <a:extLst>
                    <a:ext uri="{9D8B030D-6E8A-4147-A177-3AD203B41FA5}">
                      <a16:colId xmlns:a16="http://schemas.microsoft.com/office/drawing/2014/main" val="1100143244"/>
                    </a:ext>
                  </a:extLst>
                </a:gridCol>
                <a:gridCol w="2628900">
                  <a:extLst>
                    <a:ext uri="{9D8B030D-6E8A-4147-A177-3AD203B41FA5}">
                      <a16:colId xmlns:a16="http://schemas.microsoft.com/office/drawing/2014/main" val="1389959339"/>
                    </a:ext>
                  </a:extLst>
                </a:gridCol>
                <a:gridCol w="2628900">
                  <a:extLst>
                    <a:ext uri="{9D8B030D-6E8A-4147-A177-3AD203B41FA5}">
                      <a16:colId xmlns:a16="http://schemas.microsoft.com/office/drawing/2014/main" val="2186529083"/>
                    </a:ext>
                  </a:extLst>
                </a:gridCol>
              </a:tblGrid>
              <a:tr h="0">
                <a:tc>
                  <a:txBody>
                    <a:bodyPr/>
                    <a:lstStyle/>
                    <a:p>
                      <a:pPr>
                        <a:buNone/>
                      </a:pPr>
                      <a:r>
                        <a:rPr lang="en-IN" sz="1600" b="1"/>
                        <a:t>Vehicle Type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Total Revenue (₹)</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Avg Revenue per Ride (₹)</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Total Rides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2297902"/>
                  </a:ext>
                </a:extLst>
              </a:tr>
              <a:tr h="0">
                <a:tc>
                  <a:txBody>
                    <a:bodyPr/>
                    <a:lstStyle/>
                    <a:p>
                      <a:pPr>
                        <a:buNone/>
                      </a:pPr>
                      <a:r>
                        <a:rPr lang="en-IN" sz="1600" b="0"/>
                        <a:t>Auto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12.88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506.73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25,415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7059450"/>
                  </a:ext>
                </a:extLst>
              </a:tr>
              <a:tr h="0">
                <a:tc>
                  <a:txBody>
                    <a:bodyPr/>
                    <a:lstStyle/>
                    <a:p>
                      <a:pPr>
                        <a:buNone/>
                      </a:pPr>
                      <a:r>
                        <a:rPr lang="en-IN" sz="1600" b="0"/>
                        <a:t>Go Mini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10.34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507.68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20,364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684926"/>
                  </a:ext>
                </a:extLst>
              </a:tr>
              <a:tr h="0">
                <a:tc>
                  <a:txBody>
                    <a:bodyPr/>
                    <a:lstStyle/>
                    <a:p>
                      <a:pPr>
                        <a:buNone/>
                      </a:pPr>
                      <a:r>
                        <a:rPr lang="en-IN" sz="1600" b="0"/>
                        <a:t>Go Sedan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9.37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511.50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18,318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9544640"/>
                  </a:ext>
                </a:extLst>
              </a:tr>
              <a:tr h="0">
                <a:tc>
                  <a:txBody>
                    <a:bodyPr/>
                    <a:lstStyle/>
                    <a:p>
                      <a:pPr>
                        <a:buNone/>
                      </a:pPr>
                      <a:r>
                        <a:rPr lang="en-IN" sz="1600" b="0"/>
                        <a:t>Bike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7.84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510.20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15,362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4460843"/>
                  </a:ext>
                </a:extLst>
              </a:tr>
              <a:tr h="0">
                <a:tc>
                  <a:txBody>
                    <a:bodyPr/>
                    <a:lstStyle/>
                    <a:p>
                      <a:pPr>
                        <a:buNone/>
                      </a:pPr>
                      <a:r>
                        <a:rPr lang="en-IN" sz="1600" b="0"/>
                        <a:t>Premier Sedan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6.28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509.57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12,315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840518"/>
                  </a:ext>
                </a:extLst>
              </a:tr>
              <a:tr h="0">
                <a:tc>
                  <a:txBody>
                    <a:bodyPr/>
                    <a:lstStyle/>
                    <a:p>
                      <a:pPr>
                        <a:buNone/>
                      </a:pPr>
                      <a:r>
                        <a:rPr lang="en-IN" sz="1600" b="0"/>
                        <a:t>eBike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3.62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503.90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7,181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0533988"/>
                  </a:ext>
                </a:extLst>
              </a:tr>
              <a:tr h="0">
                <a:tc>
                  <a:txBody>
                    <a:bodyPr/>
                    <a:lstStyle/>
                    <a:p>
                      <a:pPr>
                        <a:buNone/>
                      </a:pPr>
                      <a:r>
                        <a:rPr lang="en-IN" sz="1600" b="0" dirty="0"/>
                        <a:t>Uber XL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1.53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501.82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3,045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679715"/>
                  </a:ext>
                </a:extLst>
              </a:tr>
            </a:tbl>
          </a:graphicData>
        </a:graphic>
      </p:graphicFrame>
      <p:sp>
        <p:nvSpPr>
          <p:cNvPr id="7" name="TextBox 6">
            <a:extLst>
              <a:ext uri="{FF2B5EF4-FFF2-40B4-BE49-F238E27FC236}">
                <a16:creationId xmlns:a16="http://schemas.microsoft.com/office/drawing/2014/main" id="{5B5F0AC2-CD87-60FB-CE4F-A79194A28D5D}"/>
              </a:ext>
            </a:extLst>
          </p:cNvPr>
          <p:cNvSpPr txBox="1"/>
          <p:nvPr/>
        </p:nvSpPr>
        <p:spPr>
          <a:xfrm>
            <a:off x="430388" y="4218742"/>
            <a:ext cx="11331223" cy="2092881"/>
          </a:xfrm>
          <a:prstGeom prst="rect">
            <a:avLst/>
          </a:prstGeom>
          <a:noFill/>
        </p:spPr>
        <p:txBody>
          <a:bodyPr wrap="square" rtlCol="0">
            <a:spAutoFit/>
          </a:bodyPr>
          <a:lstStyle/>
          <a:p>
            <a:pPr marL="285750" indent="-285750">
              <a:buFont typeface="Arial" panose="020B0604020202020204" pitchFamily="34" charset="0"/>
              <a:buChar char="•"/>
            </a:pPr>
            <a:r>
              <a:rPr lang="en-IN" sz="1600" dirty="0"/>
              <a:t>Autos generate the highest total revenue, driven primarily by their large ride volume. Go Mini and Go Sedan follow closely, forming the core revenue-producing categories. Average revenue per ride remains consistent across all vehicle types (₹501–₹512), indicating stable pricing structures in the dataset.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Revenue peaks sharply in the </a:t>
            </a:r>
            <a:r>
              <a:rPr lang="en-IN" sz="1600" b="1" dirty="0"/>
              <a:t>evening hours (05:00–07:00 PM)</a:t>
            </a:r>
            <a:r>
              <a:rPr lang="en-IN" sz="1600" dirty="0"/>
              <a:t>, aligning with office commute patterns in NCR. Mid-morning hours (</a:t>
            </a:r>
            <a:r>
              <a:rPr lang="en-IN" sz="1600" b="1" dirty="0"/>
              <a:t>09:00–11:00 AM</a:t>
            </a:r>
            <a:r>
              <a:rPr lang="en-IN" sz="1600" dirty="0"/>
              <a:t>) also generate strong revenue. Late evening revenue (</a:t>
            </a:r>
            <a:r>
              <a:rPr lang="en-IN" sz="1600" b="1" dirty="0"/>
              <a:t>08:00–09:00 PM </a:t>
            </a:r>
            <a:r>
              <a:rPr lang="en-IN" sz="1600" dirty="0"/>
              <a:t>) remains consistently high, reflecting leisure and return trips.</a:t>
            </a:r>
          </a:p>
          <a:p>
            <a:endParaRPr lang="en-US" dirty="0"/>
          </a:p>
        </p:txBody>
      </p:sp>
    </p:spTree>
    <p:extLst>
      <p:ext uri="{BB962C8B-B14F-4D97-AF65-F5344CB8AC3E}">
        <p14:creationId xmlns:p14="http://schemas.microsoft.com/office/powerpoint/2010/main" val="16724825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F94A30-C618-B833-2DD9-91ED81CD7DF4}"/>
              </a:ext>
            </a:extLst>
          </p:cNvPr>
          <p:cNvSpPr txBox="1"/>
          <p:nvPr/>
        </p:nvSpPr>
        <p:spPr>
          <a:xfrm>
            <a:off x="575734" y="327377"/>
            <a:ext cx="3570208" cy="646331"/>
          </a:xfrm>
          <a:prstGeom prst="rect">
            <a:avLst/>
          </a:prstGeom>
          <a:noFill/>
        </p:spPr>
        <p:txBody>
          <a:bodyPr wrap="none" rtlCol="0">
            <a:spAutoFit/>
          </a:bodyPr>
          <a:lstStyle/>
          <a:p>
            <a:r>
              <a:rPr lang="en-IN" b="1" dirty="0">
                <a:solidFill>
                  <a:srgbClr val="166A3F"/>
                </a:solidFill>
              </a:rPr>
              <a:t>Payment Method Performance </a:t>
            </a:r>
          </a:p>
          <a:p>
            <a:endParaRPr lang="en-US" dirty="0"/>
          </a:p>
        </p:txBody>
      </p:sp>
      <p:graphicFrame>
        <p:nvGraphicFramePr>
          <p:cNvPr id="4" name="Table 3">
            <a:extLst>
              <a:ext uri="{FF2B5EF4-FFF2-40B4-BE49-F238E27FC236}">
                <a16:creationId xmlns:a16="http://schemas.microsoft.com/office/drawing/2014/main" id="{F109A452-DC07-3EFB-934A-06A899EAA0CB}"/>
              </a:ext>
            </a:extLst>
          </p:cNvPr>
          <p:cNvGraphicFramePr>
            <a:graphicFrameLocks noGrp="1"/>
          </p:cNvGraphicFramePr>
          <p:nvPr>
            <p:extLst>
              <p:ext uri="{D42A27DB-BD31-4B8C-83A1-F6EECF244321}">
                <p14:modId xmlns:p14="http://schemas.microsoft.com/office/powerpoint/2010/main" val="3506952601"/>
              </p:ext>
            </p:extLst>
          </p:nvPr>
        </p:nvGraphicFramePr>
        <p:xfrm>
          <a:off x="668866" y="973708"/>
          <a:ext cx="10515600" cy="2011680"/>
        </p:xfrm>
        <a:graphic>
          <a:graphicData uri="http://schemas.openxmlformats.org/drawingml/2006/table">
            <a:tbl>
              <a:tblPr/>
              <a:tblGrid>
                <a:gridCol w="3505200">
                  <a:extLst>
                    <a:ext uri="{9D8B030D-6E8A-4147-A177-3AD203B41FA5}">
                      <a16:colId xmlns:a16="http://schemas.microsoft.com/office/drawing/2014/main" val="2287792480"/>
                    </a:ext>
                  </a:extLst>
                </a:gridCol>
                <a:gridCol w="3505200">
                  <a:extLst>
                    <a:ext uri="{9D8B030D-6E8A-4147-A177-3AD203B41FA5}">
                      <a16:colId xmlns:a16="http://schemas.microsoft.com/office/drawing/2014/main" val="3946270573"/>
                    </a:ext>
                  </a:extLst>
                </a:gridCol>
                <a:gridCol w="3505200">
                  <a:extLst>
                    <a:ext uri="{9D8B030D-6E8A-4147-A177-3AD203B41FA5}">
                      <a16:colId xmlns:a16="http://schemas.microsoft.com/office/drawing/2014/main" val="3984093056"/>
                    </a:ext>
                  </a:extLst>
                </a:gridCol>
              </a:tblGrid>
              <a:tr h="0">
                <a:tc>
                  <a:txBody>
                    <a:bodyPr/>
                    <a:lstStyle/>
                    <a:p>
                      <a:pPr>
                        <a:buNone/>
                      </a:pPr>
                      <a:r>
                        <a:rPr lang="en-IN" sz="1600" b="1"/>
                        <a:t>Payment Method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Total Rides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Total Revenue (₹M)</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9256088"/>
                  </a:ext>
                </a:extLst>
              </a:tr>
              <a:tr h="0">
                <a:tc>
                  <a:txBody>
                    <a:bodyPr/>
                    <a:lstStyle/>
                    <a:p>
                      <a:pPr>
                        <a:buNone/>
                      </a:pPr>
                      <a:r>
                        <a:rPr lang="en-IN" sz="1600" b="1"/>
                        <a:t>UPI</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45,909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23.35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2678333"/>
                  </a:ext>
                </a:extLst>
              </a:tr>
              <a:tr h="0">
                <a:tc>
                  <a:txBody>
                    <a:bodyPr/>
                    <a:lstStyle/>
                    <a:p>
                      <a:pPr>
                        <a:buNone/>
                      </a:pPr>
                      <a:r>
                        <a:rPr lang="en-IN" sz="1600" b="1"/>
                        <a:t>Cash</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25,367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12.90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0335230"/>
                  </a:ext>
                </a:extLst>
              </a:tr>
              <a:tr h="0">
                <a:tc>
                  <a:txBody>
                    <a:bodyPr/>
                    <a:lstStyle/>
                    <a:p>
                      <a:pPr>
                        <a:buNone/>
                      </a:pPr>
                      <a:r>
                        <a:rPr lang="en-IN" sz="1600" b="1"/>
                        <a:t>Uber Wallet</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12,276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6.20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0912742"/>
                  </a:ext>
                </a:extLst>
              </a:tr>
              <a:tr h="0">
                <a:tc>
                  <a:txBody>
                    <a:bodyPr/>
                    <a:lstStyle/>
                    <a:p>
                      <a:pPr>
                        <a:buNone/>
                      </a:pPr>
                      <a:r>
                        <a:rPr lang="en-IN" sz="1600" b="1"/>
                        <a:t>Credit Card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10,209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5.22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256102"/>
                  </a:ext>
                </a:extLst>
              </a:tr>
              <a:tr h="0">
                <a:tc>
                  <a:txBody>
                    <a:bodyPr/>
                    <a:lstStyle/>
                    <a:p>
                      <a:pPr>
                        <a:buNone/>
                      </a:pPr>
                      <a:r>
                        <a:rPr lang="en-IN" sz="1600" b="1"/>
                        <a:t>Debit Card</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8,239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4.18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1177301"/>
                  </a:ext>
                </a:extLst>
              </a:tr>
            </a:tbl>
          </a:graphicData>
        </a:graphic>
      </p:graphicFrame>
      <p:sp>
        <p:nvSpPr>
          <p:cNvPr id="5" name="TextBox 4">
            <a:extLst>
              <a:ext uri="{FF2B5EF4-FFF2-40B4-BE49-F238E27FC236}">
                <a16:creationId xmlns:a16="http://schemas.microsoft.com/office/drawing/2014/main" id="{60A17E84-0F67-E82B-63E2-805D9F7AA8F8}"/>
              </a:ext>
            </a:extLst>
          </p:cNvPr>
          <p:cNvSpPr txBox="1"/>
          <p:nvPr/>
        </p:nvSpPr>
        <p:spPr>
          <a:xfrm>
            <a:off x="575734" y="3719209"/>
            <a:ext cx="11458222" cy="1107996"/>
          </a:xfrm>
          <a:prstGeom prst="rect">
            <a:avLst/>
          </a:prstGeom>
          <a:noFill/>
        </p:spPr>
        <p:txBody>
          <a:bodyPr wrap="square" rtlCol="0">
            <a:spAutoFit/>
          </a:bodyPr>
          <a:lstStyle/>
          <a:p>
            <a:r>
              <a:rPr lang="en-IN" sz="1600" dirty="0"/>
              <a:t>UPI is the dominant payment mode, accounting for the highest number of rides and revenue. Cash remains the second-most used method, showing strong offline preference among NCR riders. Wallet and card-based payments contribute significantly, indicating a healthy adoption of digital payments.</a:t>
            </a:r>
          </a:p>
          <a:p>
            <a:endParaRPr lang="en-US" dirty="0"/>
          </a:p>
        </p:txBody>
      </p:sp>
      <p:sp>
        <p:nvSpPr>
          <p:cNvPr id="6" name="TextBox 5">
            <a:extLst>
              <a:ext uri="{FF2B5EF4-FFF2-40B4-BE49-F238E27FC236}">
                <a16:creationId xmlns:a16="http://schemas.microsoft.com/office/drawing/2014/main" id="{24E07924-3037-11E8-88F4-44EF423A5B08}"/>
              </a:ext>
            </a:extLst>
          </p:cNvPr>
          <p:cNvSpPr txBox="1"/>
          <p:nvPr/>
        </p:nvSpPr>
        <p:spPr>
          <a:xfrm>
            <a:off x="575734" y="5423112"/>
            <a:ext cx="7258718" cy="615553"/>
          </a:xfrm>
          <a:prstGeom prst="rect">
            <a:avLst/>
          </a:prstGeom>
          <a:noFill/>
        </p:spPr>
        <p:txBody>
          <a:bodyPr wrap="none" rtlCol="0">
            <a:spAutoFit/>
          </a:bodyPr>
          <a:lstStyle/>
          <a:p>
            <a:pPr marL="285750" indent="-285750">
              <a:buFont typeface="Wingdings" pitchFamily="2" charset="2"/>
              <a:buChar char="Ø"/>
            </a:pPr>
            <a:r>
              <a:rPr lang="en-IN" sz="1600" i="1" dirty="0"/>
              <a:t>UPI dominates NCR Uber transactions, contributing over ₹23M in revenue.</a:t>
            </a:r>
          </a:p>
          <a:p>
            <a:endParaRPr lang="en-US" dirty="0"/>
          </a:p>
        </p:txBody>
      </p:sp>
    </p:spTree>
    <p:extLst>
      <p:ext uri="{BB962C8B-B14F-4D97-AF65-F5344CB8AC3E}">
        <p14:creationId xmlns:p14="http://schemas.microsoft.com/office/powerpoint/2010/main" val="841872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490867-AB15-3D1E-8872-F7E614AB939C}"/>
              </a:ext>
            </a:extLst>
          </p:cNvPr>
          <p:cNvSpPr txBox="1"/>
          <p:nvPr/>
        </p:nvSpPr>
        <p:spPr>
          <a:xfrm>
            <a:off x="496711" y="254148"/>
            <a:ext cx="2809231" cy="646331"/>
          </a:xfrm>
          <a:prstGeom prst="rect">
            <a:avLst/>
          </a:prstGeom>
          <a:noFill/>
        </p:spPr>
        <p:txBody>
          <a:bodyPr wrap="none" rtlCol="0">
            <a:spAutoFit/>
          </a:bodyPr>
          <a:lstStyle/>
          <a:p>
            <a:r>
              <a:rPr lang="en-IN" b="1" dirty="0"/>
              <a:t> </a:t>
            </a:r>
            <a:r>
              <a:rPr lang="en-IN" b="1" dirty="0">
                <a:solidFill>
                  <a:srgbClr val="166A3F"/>
                </a:solidFill>
              </a:rPr>
              <a:t>VTAT &amp; CTAT Summary</a:t>
            </a:r>
          </a:p>
          <a:p>
            <a:endParaRPr lang="en-US" dirty="0"/>
          </a:p>
        </p:txBody>
      </p:sp>
      <p:sp>
        <p:nvSpPr>
          <p:cNvPr id="3" name="TextBox 2">
            <a:extLst>
              <a:ext uri="{FF2B5EF4-FFF2-40B4-BE49-F238E27FC236}">
                <a16:creationId xmlns:a16="http://schemas.microsoft.com/office/drawing/2014/main" id="{74EB1B70-462F-2AC5-9092-8435070F3066}"/>
              </a:ext>
            </a:extLst>
          </p:cNvPr>
          <p:cNvSpPr txBox="1"/>
          <p:nvPr/>
        </p:nvSpPr>
        <p:spPr>
          <a:xfrm>
            <a:off x="496711" y="872389"/>
            <a:ext cx="6122574" cy="1600438"/>
          </a:xfrm>
          <a:prstGeom prst="rect">
            <a:avLst/>
          </a:prstGeom>
          <a:noFill/>
        </p:spPr>
        <p:txBody>
          <a:bodyPr wrap="none" rtlCol="0">
            <a:spAutoFit/>
          </a:bodyPr>
          <a:lstStyle/>
          <a:p>
            <a:r>
              <a:rPr lang="en-IN" sz="1600" b="1" dirty="0"/>
              <a:t>VTAT – Vehicle Time to Arrival</a:t>
            </a:r>
            <a:endParaRPr lang="en-IN" sz="1600" dirty="0"/>
          </a:p>
          <a:p>
            <a:r>
              <a:rPr lang="en-IN" sz="1600" dirty="0"/>
              <a:t>Time (in minutes) taken by the driver to reach the pickup location.</a:t>
            </a:r>
          </a:p>
          <a:p>
            <a:endParaRPr lang="en-IN" sz="1600" dirty="0"/>
          </a:p>
          <a:p>
            <a:r>
              <a:rPr lang="en-IN" sz="1600" b="1" dirty="0"/>
              <a:t>CTAT – Customer Trip Actual Time</a:t>
            </a:r>
            <a:endParaRPr lang="en-IN" sz="1600" dirty="0"/>
          </a:p>
          <a:p>
            <a:r>
              <a:rPr lang="en-IN" sz="1600" dirty="0"/>
              <a:t>Time (in minutes) taken to complete the trip from pickup to drop.</a:t>
            </a:r>
          </a:p>
          <a:p>
            <a:endParaRPr lang="en-US" dirty="0"/>
          </a:p>
        </p:txBody>
      </p:sp>
      <p:graphicFrame>
        <p:nvGraphicFramePr>
          <p:cNvPr id="5" name="Table 4">
            <a:extLst>
              <a:ext uri="{FF2B5EF4-FFF2-40B4-BE49-F238E27FC236}">
                <a16:creationId xmlns:a16="http://schemas.microsoft.com/office/drawing/2014/main" id="{950EF079-664A-6035-2867-5D5ADC808F1C}"/>
              </a:ext>
            </a:extLst>
          </p:cNvPr>
          <p:cNvGraphicFramePr>
            <a:graphicFrameLocks noGrp="1"/>
          </p:cNvGraphicFramePr>
          <p:nvPr>
            <p:extLst>
              <p:ext uri="{D42A27DB-BD31-4B8C-83A1-F6EECF244321}">
                <p14:modId xmlns:p14="http://schemas.microsoft.com/office/powerpoint/2010/main" val="3807941894"/>
              </p:ext>
            </p:extLst>
          </p:nvPr>
        </p:nvGraphicFramePr>
        <p:xfrm>
          <a:off x="496711" y="2472827"/>
          <a:ext cx="10515600" cy="2346960"/>
        </p:xfrm>
        <a:graphic>
          <a:graphicData uri="http://schemas.openxmlformats.org/drawingml/2006/table">
            <a:tbl>
              <a:tblPr/>
              <a:tblGrid>
                <a:gridCol w="5257800">
                  <a:extLst>
                    <a:ext uri="{9D8B030D-6E8A-4147-A177-3AD203B41FA5}">
                      <a16:colId xmlns:a16="http://schemas.microsoft.com/office/drawing/2014/main" val="431052469"/>
                    </a:ext>
                  </a:extLst>
                </a:gridCol>
                <a:gridCol w="5257800">
                  <a:extLst>
                    <a:ext uri="{9D8B030D-6E8A-4147-A177-3AD203B41FA5}">
                      <a16:colId xmlns:a16="http://schemas.microsoft.com/office/drawing/2014/main" val="401488572"/>
                    </a:ext>
                  </a:extLst>
                </a:gridCol>
              </a:tblGrid>
              <a:tr h="0">
                <a:tc>
                  <a:txBody>
                    <a:bodyPr/>
                    <a:lstStyle/>
                    <a:p>
                      <a:pPr>
                        <a:buNone/>
                      </a:pPr>
                      <a:r>
                        <a:rPr lang="en-IN" sz="1600" b="1"/>
                        <a:t>Metric</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Value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765204"/>
                  </a:ext>
                </a:extLst>
              </a:tr>
              <a:tr h="0">
                <a:tc>
                  <a:txBody>
                    <a:bodyPr/>
                    <a:lstStyle/>
                    <a:p>
                      <a:pPr>
                        <a:buNone/>
                      </a:pPr>
                      <a:r>
                        <a:rPr lang="en-IN" sz="1600" b="0"/>
                        <a:t>Average VTAT (Driver Arrival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8.29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4009541"/>
                  </a:ext>
                </a:extLst>
              </a:tr>
              <a:tr h="0">
                <a:tc>
                  <a:txBody>
                    <a:bodyPr/>
                    <a:lstStyle/>
                    <a:p>
                      <a:pPr>
                        <a:buNone/>
                      </a:pPr>
                      <a:r>
                        <a:rPr lang="en-IN" sz="1600" b="0"/>
                        <a:t>Average CTAT (Trip Duration)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29.15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4514716"/>
                  </a:ext>
                </a:extLst>
              </a:tr>
              <a:tr h="0">
                <a:tc>
                  <a:txBody>
                    <a:bodyPr/>
                    <a:lstStyle/>
                    <a:p>
                      <a:pPr>
                        <a:buNone/>
                      </a:pPr>
                      <a:r>
                        <a:rPr lang="en-IN" sz="1600" b="0"/>
                        <a:t>Min VTAT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2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3799715"/>
                  </a:ext>
                </a:extLst>
              </a:tr>
              <a:tr h="0">
                <a:tc>
                  <a:txBody>
                    <a:bodyPr/>
                    <a:lstStyle/>
                    <a:p>
                      <a:pPr>
                        <a:buNone/>
                      </a:pPr>
                      <a:r>
                        <a:rPr lang="en-IN" sz="1600" b="0" dirty="0"/>
                        <a:t>Max VTAT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7276775"/>
                  </a:ext>
                </a:extLst>
              </a:tr>
              <a:tr h="0">
                <a:tc>
                  <a:txBody>
                    <a:bodyPr/>
                    <a:lstStyle/>
                    <a:p>
                      <a:pPr>
                        <a:buNone/>
                      </a:pPr>
                      <a:r>
                        <a:rPr lang="en-IN" sz="1600" b="0"/>
                        <a:t>Min CTAT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3732091"/>
                  </a:ext>
                </a:extLst>
              </a:tr>
              <a:tr h="0">
                <a:tc>
                  <a:txBody>
                    <a:bodyPr/>
                    <a:lstStyle/>
                    <a:p>
                      <a:pPr>
                        <a:buNone/>
                      </a:pPr>
                      <a:r>
                        <a:rPr lang="en-IN" sz="1600" b="0" dirty="0"/>
                        <a:t>Max CTAT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45 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1801338"/>
                  </a:ext>
                </a:extLst>
              </a:tr>
            </a:tbl>
          </a:graphicData>
        </a:graphic>
      </p:graphicFrame>
      <p:sp>
        <p:nvSpPr>
          <p:cNvPr id="6" name="TextBox 5">
            <a:extLst>
              <a:ext uri="{FF2B5EF4-FFF2-40B4-BE49-F238E27FC236}">
                <a16:creationId xmlns:a16="http://schemas.microsoft.com/office/drawing/2014/main" id="{F2B759FF-9A26-8950-8533-9263D244EAD2}"/>
              </a:ext>
            </a:extLst>
          </p:cNvPr>
          <p:cNvSpPr txBox="1"/>
          <p:nvPr/>
        </p:nvSpPr>
        <p:spPr>
          <a:xfrm>
            <a:off x="496711" y="5101538"/>
            <a:ext cx="10914693" cy="1107996"/>
          </a:xfrm>
          <a:prstGeom prst="rect">
            <a:avLst/>
          </a:prstGeom>
          <a:noFill/>
        </p:spPr>
        <p:txBody>
          <a:bodyPr wrap="square" rtlCol="0">
            <a:spAutoFit/>
          </a:bodyPr>
          <a:lstStyle/>
          <a:p>
            <a:r>
              <a:rPr lang="en-IN" sz="1600" dirty="0"/>
              <a:t>Drivers take </a:t>
            </a:r>
            <a:r>
              <a:rPr lang="en-IN" sz="1600" b="1" dirty="0"/>
              <a:t>8–9 minutes</a:t>
            </a:r>
            <a:r>
              <a:rPr lang="en-IN" sz="1600" dirty="0"/>
              <a:t> on average to reach customers, while trips take </a:t>
            </a:r>
            <a:r>
              <a:rPr lang="en-IN" sz="1600" b="1" dirty="0"/>
              <a:t>~29 minutes</a:t>
            </a:r>
            <a:r>
              <a:rPr lang="en-IN" sz="1600" dirty="0"/>
              <a:t> to complete. VTAT ranges from </a:t>
            </a:r>
            <a:r>
              <a:rPr lang="en-IN" sz="1600" b="1" dirty="0"/>
              <a:t>2 to 15 minutes</a:t>
            </a:r>
            <a:r>
              <a:rPr lang="en-IN" sz="1600" dirty="0"/>
              <a:t>, and CTAT varies from </a:t>
            </a:r>
            <a:r>
              <a:rPr lang="en-IN" sz="1600" b="1" dirty="0"/>
              <a:t>10 to 45 minutes</a:t>
            </a:r>
            <a:r>
              <a:rPr lang="en-IN" sz="1600" dirty="0"/>
              <a:t>, showing a moderate spread driven by traffic and distance patterns in NCR.</a:t>
            </a:r>
          </a:p>
          <a:p>
            <a:endParaRPr lang="en-US" dirty="0"/>
          </a:p>
        </p:txBody>
      </p:sp>
    </p:spTree>
    <p:extLst>
      <p:ext uri="{BB962C8B-B14F-4D97-AF65-F5344CB8AC3E}">
        <p14:creationId xmlns:p14="http://schemas.microsoft.com/office/powerpoint/2010/main" val="265491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0B7D5C-9A17-1905-6089-E92165FAE9D7}"/>
              </a:ext>
            </a:extLst>
          </p:cNvPr>
          <p:cNvSpPr txBox="1"/>
          <p:nvPr/>
        </p:nvSpPr>
        <p:spPr>
          <a:xfrm>
            <a:off x="417436" y="497436"/>
            <a:ext cx="4254113" cy="646331"/>
          </a:xfrm>
          <a:prstGeom prst="rect">
            <a:avLst/>
          </a:prstGeom>
          <a:noFill/>
        </p:spPr>
        <p:txBody>
          <a:bodyPr wrap="none" rtlCol="0">
            <a:spAutoFit/>
          </a:bodyPr>
          <a:lstStyle/>
          <a:p>
            <a:r>
              <a:rPr lang="en-IN" b="1" dirty="0">
                <a:solidFill>
                  <a:srgbClr val="166A3F"/>
                </a:solidFill>
              </a:rPr>
              <a:t>VTAT Comparison by Booking Status</a:t>
            </a:r>
          </a:p>
          <a:p>
            <a:endParaRPr lang="en-US" dirty="0"/>
          </a:p>
        </p:txBody>
      </p:sp>
      <p:sp>
        <p:nvSpPr>
          <p:cNvPr id="3" name="TextBox 2">
            <a:extLst>
              <a:ext uri="{FF2B5EF4-FFF2-40B4-BE49-F238E27FC236}">
                <a16:creationId xmlns:a16="http://schemas.microsoft.com/office/drawing/2014/main" id="{EDB403D3-C80A-633E-0EE2-83B5D28BB542}"/>
              </a:ext>
            </a:extLst>
          </p:cNvPr>
          <p:cNvSpPr txBox="1"/>
          <p:nvPr/>
        </p:nvSpPr>
        <p:spPr>
          <a:xfrm>
            <a:off x="417436" y="1072444"/>
            <a:ext cx="4265655" cy="615553"/>
          </a:xfrm>
          <a:prstGeom prst="rect">
            <a:avLst/>
          </a:prstGeom>
          <a:noFill/>
        </p:spPr>
        <p:txBody>
          <a:bodyPr wrap="none" rtlCol="0">
            <a:spAutoFit/>
          </a:bodyPr>
          <a:lstStyle/>
          <a:p>
            <a:r>
              <a:rPr lang="en-IN" sz="1600" dirty="0"/>
              <a:t>(Driver Arrival Time vs Cancellation Patterns)</a:t>
            </a:r>
          </a:p>
          <a:p>
            <a:endParaRPr lang="en-US" dirty="0"/>
          </a:p>
        </p:txBody>
      </p:sp>
      <p:graphicFrame>
        <p:nvGraphicFramePr>
          <p:cNvPr id="5" name="Table 4">
            <a:extLst>
              <a:ext uri="{FF2B5EF4-FFF2-40B4-BE49-F238E27FC236}">
                <a16:creationId xmlns:a16="http://schemas.microsoft.com/office/drawing/2014/main" id="{A223ED4B-215D-FFAC-BAD6-05D13FF60901}"/>
              </a:ext>
            </a:extLst>
          </p:cNvPr>
          <p:cNvGraphicFramePr>
            <a:graphicFrameLocks noGrp="1"/>
          </p:cNvGraphicFramePr>
          <p:nvPr>
            <p:extLst>
              <p:ext uri="{D42A27DB-BD31-4B8C-83A1-F6EECF244321}">
                <p14:modId xmlns:p14="http://schemas.microsoft.com/office/powerpoint/2010/main" val="1021515643"/>
              </p:ext>
            </p:extLst>
          </p:nvPr>
        </p:nvGraphicFramePr>
        <p:xfrm>
          <a:off x="598311" y="1687997"/>
          <a:ext cx="10515600" cy="1676400"/>
        </p:xfrm>
        <a:graphic>
          <a:graphicData uri="http://schemas.openxmlformats.org/drawingml/2006/table">
            <a:tbl>
              <a:tblPr/>
              <a:tblGrid>
                <a:gridCol w="5257800">
                  <a:extLst>
                    <a:ext uri="{9D8B030D-6E8A-4147-A177-3AD203B41FA5}">
                      <a16:colId xmlns:a16="http://schemas.microsoft.com/office/drawing/2014/main" val="2270415673"/>
                    </a:ext>
                  </a:extLst>
                </a:gridCol>
                <a:gridCol w="5257800">
                  <a:extLst>
                    <a:ext uri="{9D8B030D-6E8A-4147-A177-3AD203B41FA5}">
                      <a16:colId xmlns:a16="http://schemas.microsoft.com/office/drawing/2014/main" val="1600545422"/>
                    </a:ext>
                  </a:extLst>
                </a:gridCol>
              </a:tblGrid>
              <a:tr h="0">
                <a:tc>
                  <a:txBody>
                    <a:bodyPr/>
                    <a:lstStyle/>
                    <a:p>
                      <a:pPr>
                        <a:buNone/>
                      </a:pPr>
                      <a:r>
                        <a:rPr lang="en-IN" sz="1600" b="1"/>
                        <a:t>Booking Status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Avg VTAT (min)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2006623"/>
                  </a:ext>
                </a:extLst>
              </a:tr>
              <a:tr h="0">
                <a:tc>
                  <a:txBody>
                    <a:bodyPr/>
                    <a:lstStyle/>
                    <a:p>
                      <a:pPr>
                        <a:buNone/>
                      </a:pPr>
                      <a:r>
                        <a:rPr lang="en-IN" sz="1600" b="0"/>
                        <a:t>Cancelled by Customer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12.51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5570357"/>
                  </a:ext>
                </a:extLst>
              </a:tr>
              <a:tr h="0">
                <a:tc>
                  <a:txBody>
                    <a:bodyPr/>
                    <a:lstStyle/>
                    <a:p>
                      <a:pPr>
                        <a:buNone/>
                      </a:pPr>
                      <a:r>
                        <a:rPr lang="en-IN" sz="1600" b="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323052"/>
                  </a:ext>
                </a:extLst>
              </a:tr>
              <a:tr h="0">
                <a:tc>
                  <a:txBody>
                    <a:bodyPr/>
                    <a:lstStyle/>
                    <a:p>
                      <a:pPr>
                        <a:buNone/>
                      </a:pPr>
                      <a:r>
                        <a:rPr lang="en-IN" sz="1600" b="0"/>
                        <a:t>Cancelled by 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6671224"/>
                  </a:ext>
                </a:extLst>
              </a:tr>
              <a:tr h="0">
                <a:tc>
                  <a:txBody>
                    <a:bodyPr/>
                    <a:lstStyle/>
                    <a:p>
                      <a:pPr>
                        <a:buNone/>
                      </a:pPr>
                      <a:r>
                        <a:rPr lang="en-IN" sz="1600" b="0"/>
                        <a:t>Incomplete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6.01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4943661"/>
                  </a:ext>
                </a:extLst>
              </a:tr>
            </a:tbl>
          </a:graphicData>
        </a:graphic>
      </p:graphicFrame>
      <p:sp>
        <p:nvSpPr>
          <p:cNvPr id="6" name="TextBox 5">
            <a:extLst>
              <a:ext uri="{FF2B5EF4-FFF2-40B4-BE49-F238E27FC236}">
                <a16:creationId xmlns:a16="http://schemas.microsoft.com/office/drawing/2014/main" id="{24210EB6-50CA-2B65-3C94-E1DF4E5D3FE8}"/>
              </a:ext>
            </a:extLst>
          </p:cNvPr>
          <p:cNvSpPr txBox="1"/>
          <p:nvPr/>
        </p:nvSpPr>
        <p:spPr>
          <a:xfrm>
            <a:off x="428978" y="3678624"/>
            <a:ext cx="11096978" cy="1107996"/>
          </a:xfrm>
          <a:prstGeom prst="rect">
            <a:avLst/>
          </a:prstGeom>
          <a:noFill/>
        </p:spPr>
        <p:txBody>
          <a:bodyPr wrap="square" rtlCol="0">
            <a:spAutoFit/>
          </a:bodyPr>
          <a:lstStyle/>
          <a:p>
            <a:r>
              <a:rPr lang="en-IN" sz="1600" dirty="0"/>
              <a:t>Customer cancellations occur at the </a:t>
            </a:r>
            <a:r>
              <a:rPr lang="en-IN" sz="1600" b="1" dirty="0"/>
              <a:t>highest VTAT (12.51 min)</a:t>
            </a:r>
            <a:r>
              <a:rPr lang="en-IN" sz="1600" dirty="0"/>
              <a:t>, indicating that long wait times strongly trigger customer drop-offs. Completed rides show moderate VTAT (~8.5 min), while driver cancellations and incomplete rides have the lowest VTAT, suggesting drivers drop rides early when pickup is nearby but unattractive (low fare, wrong route, etc.).</a:t>
            </a:r>
          </a:p>
          <a:p>
            <a:endParaRPr lang="en-US" dirty="0"/>
          </a:p>
        </p:txBody>
      </p:sp>
      <p:sp>
        <p:nvSpPr>
          <p:cNvPr id="7" name="TextBox 6">
            <a:extLst>
              <a:ext uri="{FF2B5EF4-FFF2-40B4-BE49-F238E27FC236}">
                <a16:creationId xmlns:a16="http://schemas.microsoft.com/office/drawing/2014/main" id="{75AAE1A7-53CF-29AD-CC25-942EC6D08E86}"/>
              </a:ext>
            </a:extLst>
          </p:cNvPr>
          <p:cNvSpPr txBox="1"/>
          <p:nvPr/>
        </p:nvSpPr>
        <p:spPr>
          <a:xfrm>
            <a:off x="417436" y="5462390"/>
            <a:ext cx="7808548" cy="646331"/>
          </a:xfrm>
          <a:prstGeom prst="rect">
            <a:avLst/>
          </a:prstGeom>
          <a:noFill/>
        </p:spPr>
        <p:txBody>
          <a:bodyPr wrap="none" rtlCol="0">
            <a:spAutoFit/>
          </a:bodyPr>
          <a:lstStyle/>
          <a:p>
            <a:pPr marL="285750" indent="-285750">
              <a:buFont typeface="Wingdings" pitchFamily="2" charset="2"/>
              <a:buChar char="Ø"/>
            </a:pPr>
            <a:r>
              <a:rPr lang="en-IN" i="1" dirty="0"/>
              <a:t>Longer driver arrival times significantly increase customer cancellations.</a:t>
            </a:r>
          </a:p>
          <a:p>
            <a:endParaRPr lang="en-US" dirty="0"/>
          </a:p>
        </p:txBody>
      </p:sp>
    </p:spTree>
    <p:extLst>
      <p:ext uri="{BB962C8B-B14F-4D97-AF65-F5344CB8AC3E}">
        <p14:creationId xmlns:p14="http://schemas.microsoft.com/office/powerpoint/2010/main" val="287708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B1227F-1713-CFC0-5F55-8D7C011EE053}"/>
              </a:ext>
            </a:extLst>
          </p:cNvPr>
          <p:cNvSpPr txBox="1"/>
          <p:nvPr/>
        </p:nvSpPr>
        <p:spPr>
          <a:xfrm>
            <a:off x="541867" y="383822"/>
            <a:ext cx="5169107" cy="646331"/>
          </a:xfrm>
          <a:prstGeom prst="rect">
            <a:avLst/>
          </a:prstGeom>
          <a:noFill/>
        </p:spPr>
        <p:txBody>
          <a:bodyPr wrap="none" rtlCol="0">
            <a:spAutoFit/>
          </a:bodyPr>
          <a:lstStyle/>
          <a:p>
            <a:r>
              <a:rPr lang="en-IN" b="1" dirty="0">
                <a:solidFill>
                  <a:srgbClr val="166A3F"/>
                </a:solidFill>
              </a:rPr>
              <a:t>CTAT by Vehicle Type (Customer Travel Time)</a:t>
            </a:r>
          </a:p>
          <a:p>
            <a:endParaRPr lang="en-US" dirty="0"/>
          </a:p>
        </p:txBody>
      </p:sp>
      <p:graphicFrame>
        <p:nvGraphicFramePr>
          <p:cNvPr id="4" name="Table 3">
            <a:extLst>
              <a:ext uri="{FF2B5EF4-FFF2-40B4-BE49-F238E27FC236}">
                <a16:creationId xmlns:a16="http://schemas.microsoft.com/office/drawing/2014/main" id="{3C3AE94C-F0B7-4D20-8F85-1010366D45B9}"/>
              </a:ext>
            </a:extLst>
          </p:cNvPr>
          <p:cNvGraphicFramePr>
            <a:graphicFrameLocks noGrp="1"/>
          </p:cNvGraphicFramePr>
          <p:nvPr>
            <p:extLst>
              <p:ext uri="{D42A27DB-BD31-4B8C-83A1-F6EECF244321}">
                <p14:modId xmlns:p14="http://schemas.microsoft.com/office/powerpoint/2010/main" val="733817390"/>
              </p:ext>
            </p:extLst>
          </p:nvPr>
        </p:nvGraphicFramePr>
        <p:xfrm>
          <a:off x="623711" y="1030153"/>
          <a:ext cx="10515600" cy="2682240"/>
        </p:xfrm>
        <a:graphic>
          <a:graphicData uri="http://schemas.openxmlformats.org/drawingml/2006/table">
            <a:tbl>
              <a:tblPr/>
              <a:tblGrid>
                <a:gridCol w="5257800">
                  <a:extLst>
                    <a:ext uri="{9D8B030D-6E8A-4147-A177-3AD203B41FA5}">
                      <a16:colId xmlns:a16="http://schemas.microsoft.com/office/drawing/2014/main" val="3262841479"/>
                    </a:ext>
                  </a:extLst>
                </a:gridCol>
                <a:gridCol w="5257800">
                  <a:extLst>
                    <a:ext uri="{9D8B030D-6E8A-4147-A177-3AD203B41FA5}">
                      <a16:colId xmlns:a16="http://schemas.microsoft.com/office/drawing/2014/main" val="292165511"/>
                    </a:ext>
                  </a:extLst>
                </a:gridCol>
              </a:tblGrid>
              <a:tr h="0">
                <a:tc>
                  <a:txBody>
                    <a:bodyPr/>
                    <a:lstStyle/>
                    <a:p>
                      <a:pPr>
                        <a:buNone/>
                      </a:pPr>
                      <a:r>
                        <a:rPr lang="en-IN" sz="1600" b="1" dirty="0"/>
                        <a:t>Vehicle Type</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err="1"/>
                        <a:t>Avg</a:t>
                      </a:r>
                      <a:r>
                        <a:rPr lang="en-IN" sz="1600" b="1" dirty="0"/>
                        <a:t> CTAT (min)</a:t>
                      </a:r>
                      <a:endParaRPr lang="en-IN"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7437533"/>
                  </a:ext>
                </a:extLst>
              </a:tr>
              <a:tr h="0">
                <a:tc>
                  <a:txBody>
                    <a:bodyPr/>
                    <a:lstStyle/>
                    <a:p>
                      <a:pPr>
                        <a:buNone/>
                      </a:pPr>
                      <a:r>
                        <a:rPr lang="en-IN" sz="1600" b="0"/>
                        <a:t>Premier Sedan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9215850"/>
                  </a:ext>
                </a:extLst>
              </a:tr>
              <a:tr h="0">
                <a:tc>
                  <a:txBody>
                    <a:bodyPr/>
                    <a:lstStyle/>
                    <a:p>
                      <a:pPr>
                        <a:buNone/>
                      </a:pPr>
                      <a:r>
                        <a:rPr lang="en-IN" sz="1600" b="0"/>
                        <a:t>Uber XL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7647011"/>
                  </a:ext>
                </a:extLst>
              </a:tr>
              <a:tr h="0">
                <a:tc>
                  <a:txBody>
                    <a:bodyPr/>
                    <a:lstStyle/>
                    <a:p>
                      <a:pPr>
                        <a:buNone/>
                      </a:pPr>
                      <a:r>
                        <a:rPr lang="en-IN" sz="1600" b="0"/>
                        <a:t>Bike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0964740"/>
                  </a:ext>
                </a:extLst>
              </a:tr>
              <a:tr h="0">
                <a:tc>
                  <a:txBody>
                    <a:bodyPr/>
                    <a:lstStyle/>
                    <a:p>
                      <a:pPr>
                        <a:buNone/>
                      </a:pPr>
                      <a:r>
                        <a:rPr lang="en-IN" sz="1600" b="0"/>
                        <a:t>eBike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3322252"/>
                  </a:ext>
                </a:extLst>
              </a:tr>
              <a:tr h="0">
                <a:tc>
                  <a:txBody>
                    <a:bodyPr/>
                    <a:lstStyle/>
                    <a:p>
                      <a:pPr>
                        <a:buNone/>
                      </a:pPr>
                      <a:r>
                        <a:rPr lang="en-IN" sz="1600" b="0"/>
                        <a:t>Go Mini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3341292"/>
                  </a:ext>
                </a:extLst>
              </a:tr>
              <a:tr h="0">
                <a:tc>
                  <a:txBody>
                    <a:bodyPr/>
                    <a:lstStyle/>
                    <a:p>
                      <a:pPr>
                        <a:buNone/>
                      </a:pPr>
                      <a:r>
                        <a:rPr lang="en-IN" sz="1600" b="0"/>
                        <a:t>Auto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a:t>29.14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417706"/>
                  </a:ext>
                </a:extLst>
              </a:tr>
              <a:tr h="0">
                <a:tc>
                  <a:txBody>
                    <a:bodyPr/>
                    <a:lstStyle/>
                    <a:p>
                      <a:pPr>
                        <a:buNone/>
                      </a:pPr>
                      <a:r>
                        <a:rPr lang="en-IN" sz="1600" b="0"/>
                        <a:t>Go Sedan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0" dirty="0"/>
                        <a:t>29.04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4817450"/>
                  </a:ext>
                </a:extLst>
              </a:tr>
            </a:tbl>
          </a:graphicData>
        </a:graphic>
      </p:graphicFrame>
      <p:sp>
        <p:nvSpPr>
          <p:cNvPr id="5" name="TextBox 4">
            <a:extLst>
              <a:ext uri="{FF2B5EF4-FFF2-40B4-BE49-F238E27FC236}">
                <a16:creationId xmlns:a16="http://schemas.microsoft.com/office/drawing/2014/main" id="{844E22DF-9FAC-0506-2594-E2217E9411EC}"/>
              </a:ext>
            </a:extLst>
          </p:cNvPr>
          <p:cNvSpPr txBox="1"/>
          <p:nvPr/>
        </p:nvSpPr>
        <p:spPr>
          <a:xfrm>
            <a:off x="541867" y="4089487"/>
            <a:ext cx="11234970" cy="861774"/>
          </a:xfrm>
          <a:prstGeom prst="rect">
            <a:avLst/>
          </a:prstGeom>
          <a:noFill/>
        </p:spPr>
        <p:txBody>
          <a:bodyPr wrap="square" rtlCol="0">
            <a:spAutoFit/>
          </a:bodyPr>
          <a:lstStyle/>
          <a:p>
            <a:r>
              <a:rPr lang="en-IN" sz="1600" dirty="0"/>
              <a:t>Customer Travel Time (CTAT) shows </a:t>
            </a:r>
            <a:r>
              <a:rPr lang="en-IN" sz="1600" b="1" dirty="0"/>
              <a:t>very minimal variation across vehicle types</a:t>
            </a:r>
            <a:r>
              <a:rPr lang="en-IN" sz="1600" dirty="0"/>
              <a:t>, staying tightly around </a:t>
            </a:r>
            <a:r>
              <a:rPr lang="en-IN" sz="1600" b="1" dirty="0"/>
              <a:t>29 minutes</a:t>
            </a:r>
            <a:r>
              <a:rPr lang="en-IN" sz="1600" dirty="0"/>
              <a:t>. This indicates that </a:t>
            </a:r>
            <a:r>
              <a:rPr lang="en-IN" sz="1600" b="1" dirty="0"/>
              <a:t>traffic and route patterns</a:t>
            </a:r>
            <a:r>
              <a:rPr lang="en-IN" sz="1600" dirty="0"/>
              <a:t>, not vehicle type, dominate travel duration in NCR.</a:t>
            </a:r>
          </a:p>
          <a:p>
            <a:endParaRPr lang="en-US" dirty="0"/>
          </a:p>
        </p:txBody>
      </p:sp>
      <p:sp>
        <p:nvSpPr>
          <p:cNvPr id="6" name="TextBox 5">
            <a:extLst>
              <a:ext uri="{FF2B5EF4-FFF2-40B4-BE49-F238E27FC236}">
                <a16:creationId xmlns:a16="http://schemas.microsoft.com/office/drawing/2014/main" id="{15FC8E1C-F8CB-3B29-3335-8DC82B025FB3}"/>
              </a:ext>
            </a:extLst>
          </p:cNvPr>
          <p:cNvSpPr txBox="1"/>
          <p:nvPr/>
        </p:nvSpPr>
        <p:spPr>
          <a:xfrm>
            <a:off x="541867" y="5328355"/>
            <a:ext cx="8160760" cy="615553"/>
          </a:xfrm>
          <a:prstGeom prst="rect">
            <a:avLst/>
          </a:prstGeom>
          <a:noFill/>
        </p:spPr>
        <p:txBody>
          <a:bodyPr wrap="none" rtlCol="0">
            <a:spAutoFit/>
          </a:bodyPr>
          <a:lstStyle/>
          <a:p>
            <a:pPr marL="285750" indent="-285750">
              <a:buFont typeface="Wingdings" pitchFamily="2" charset="2"/>
              <a:buChar char="Ø"/>
            </a:pPr>
            <a:r>
              <a:rPr lang="en-IN" sz="1600" i="1" dirty="0"/>
              <a:t>Travel time is consistent across all vehicle types — NCR traffic is the great equalizer.</a:t>
            </a:r>
          </a:p>
          <a:p>
            <a:endParaRPr lang="en-US" dirty="0"/>
          </a:p>
        </p:txBody>
      </p:sp>
    </p:spTree>
    <p:extLst>
      <p:ext uri="{BB962C8B-B14F-4D97-AF65-F5344CB8AC3E}">
        <p14:creationId xmlns:p14="http://schemas.microsoft.com/office/powerpoint/2010/main" val="2729844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F4D327-4887-DD5F-0C31-C44A5C04CE02}"/>
              </a:ext>
            </a:extLst>
          </p:cNvPr>
          <p:cNvSpPr txBox="1"/>
          <p:nvPr/>
        </p:nvSpPr>
        <p:spPr>
          <a:xfrm>
            <a:off x="383822" y="372533"/>
            <a:ext cx="6109365" cy="646331"/>
          </a:xfrm>
          <a:prstGeom prst="rect">
            <a:avLst/>
          </a:prstGeom>
          <a:noFill/>
        </p:spPr>
        <p:txBody>
          <a:bodyPr wrap="none" rtlCol="0">
            <a:spAutoFit/>
          </a:bodyPr>
          <a:lstStyle/>
          <a:p>
            <a:r>
              <a:rPr lang="en-IN" b="1" dirty="0">
                <a:solidFill>
                  <a:srgbClr val="166A3F"/>
                </a:solidFill>
              </a:rPr>
              <a:t>Service Quality Overview (Driver &amp; Customer Ratings)</a:t>
            </a:r>
          </a:p>
          <a:p>
            <a:endParaRPr lang="en-US" dirty="0"/>
          </a:p>
        </p:txBody>
      </p:sp>
      <p:graphicFrame>
        <p:nvGraphicFramePr>
          <p:cNvPr id="4" name="Table 3">
            <a:extLst>
              <a:ext uri="{FF2B5EF4-FFF2-40B4-BE49-F238E27FC236}">
                <a16:creationId xmlns:a16="http://schemas.microsoft.com/office/drawing/2014/main" id="{A1211540-5103-958F-AD53-B4C5DFA0083E}"/>
              </a:ext>
            </a:extLst>
          </p:cNvPr>
          <p:cNvGraphicFramePr>
            <a:graphicFrameLocks noGrp="1"/>
          </p:cNvGraphicFramePr>
          <p:nvPr>
            <p:extLst>
              <p:ext uri="{D42A27DB-BD31-4B8C-83A1-F6EECF244321}">
                <p14:modId xmlns:p14="http://schemas.microsoft.com/office/powerpoint/2010/main" val="2948822992"/>
              </p:ext>
            </p:extLst>
          </p:nvPr>
        </p:nvGraphicFramePr>
        <p:xfrm>
          <a:off x="476955" y="1118822"/>
          <a:ext cx="10515600" cy="1676400"/>
        </p:xfrm>
        <a:graphic>
          <a:graphicData uri="http://schemas.openxmlformats.org/drawingml/2006/table">
            <a:tbl>
              <a:tblPr/>
              <a:tblGrid>
                <a:gridCol w="5257800">
                  <a:extLst>
                    <a:ext uri="{9D8B030D-6E8A-4147-A177-3AD203B41FA5}">
                      <a16:colId xmlns:a16="http://schemas.microsoft.com/office/drawing/2014/main" val="888973638"/>
                    </a:ext>
                  </a:extLst>
                </a:gridCol>
                <a:gridCol w="5257800">
                  <a:extLst>
                    <a:ext uri="{9D8B030D-6E8A-4147-A177-3AD203B41FA5}">
                      <a16:colId xmlns:a16="http://schemas.microsoft.com/office/drawing/2014/main" val="2459411660"/>
                    </a:ext>
                  </a:extLst>
                </a:gridCol>
              </a:tblGrid>
              <a:tr h="0">
                <a:tc>
                  <a:txBody>
                    <a:bodyPr/>
                    <a:lstStyle/>
                    <a:p>
                      <a:pPr>
                        <a:buNone/>
                      </a:pPr>
                      <a:r>
                        <a:rPr lang="en-IN" sz="1600" b="1"/>
                        <a:t>Metric</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Observation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356351"/>
                  </a:ext>
                </a:extLst>
              </a:tr>
              <a:tr h="0">
                <a:tc>
                  <a:txBody>
                    <a:bodyPr/>
                    <a:lstStyle/>
                    <a:p>
                      <a:pPr>
                        <a:buNone/>
                      </a:pPr>
                      <a:r>
                        <a:rPr lang="en-IN" sz="1600" b="1"/>
                        <a:t>Avg Driver Rating (All Vehicle Types)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4.23 – 4.24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9258327"/>
                  </a:ext>
                </a:extLst>
              </a:tr>
              <a:tr h="0">
                <a:tc>
                  <a:txBody>
                    <a:bodyPr/>
                    <a:lstStyle/>
                    <a:p>
                      <a:pPr>
                        <a:buNone/>
                      </a:pPr>
                      <a:r>
                        <a:rPr lang="en-IN" sz="1600" b="1"/>
                        <a:t>Avg Customer Rating (All Vehicle Types)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4.40 – 4.41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4365347"/>
                  </a:ext>
                </a:extLst>
              </a:tr>
              <a:tr h="0">
                <a:tc>
                  <a:txBody>
                    <a:bodyPr/>
                    <a:lstStyle/>
                    <a:p>
                      <a:pPr>
                        <a:buNone/>
                      </a:pPr>
                      <a:r>
                        <a:rPr lang="en-IN" sz="1600" b="1"/>
                        <a:t>Variation Across Vehicle Types</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Minimal (&lt;0.02 difference)</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6730419"/>
                  </a:ext>
                </a:extLst>
              </a:tr>
              <a:tr h="0">
                <a:tc>
                  <a:txBody>
                    <a:bodyPr/>
                    <a:lstStyle/>
                    <a:p>
                      <a:pPr>
                        <a:buNone/>
                      </a:pPr>
                      <a:r>
                        <a:rPr lang="en-IN" sz="1600" b="1"/>
                        <a:t>Lowest Variation</a:t>
                      </a:r>
                      <a:endParaRPr lang="en-IN" sz="16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All categories nearly identical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246605"/>
                  </a:ext>
                </a:extLst>
              </a:tr>
            </a:tbl>
          </a:graphicData>
        </a:graphic>
      </p:graphicFrame>
      <p:sp>
        <p:nvSpPr>
          <p:cNvPr id="5" name="TextBox 4">
            <a:extLst>
              <a:ext uri="{FF2B5EF4-FFF2-40B4-BE49-F238E27FC236}">
                <a16:creationId xmlns:a16="http://schemas.microsoft.com/office/drawing/2014/main" id="{7D4B6F68-3C86-D3C7-A88F-26D35BF75CE0}"/>
              </a:ext>
            </a:extLst>
          </p:cNvPr>
          <p:cNvSpPr txBox="1"/>
          <p:nvPr/>
        </p:nvSpPr>
        <p:spPr>
          <a:xfrm>
            <a:off x="383822" y="3297493"/>
            <a:ext cx="12245163" cy="1846659"/>
          </a:xfrm>
          <a:prstGeom prst="rect">
            <a:avLst/>
          </a:prstGeom>
          <a:noFill/>
        </p:spPr>
        <p:txBody>
          <a:bodyPr wrap="square" rtlCol="0">
            <a:spAutoFit/>
          </a:bodyPr>
          <a:lstStyle/>
          <a:p>
            <a:r>
              <a:rPr lang="en-IN" sz="1600" b="1" dirty="0"/>
              <a:t>Insights</a:t>
            </a:r>
          </a:p>
          <a:p>
            <a:endParaRPr lang="en-IN" sz="1600" b="1" dirty="0"/>
          </a:p>
          <a:p>
            <a:pPr marL="285750" indent="-285750">
              <a:buFont typeface="Arial" panose="020B0604020202020204" pitchFamily="34" charset="0"/>
              <a:buChar char="•"/>
            </a:pPr>
            <a:r>
              <a:rPr lang="en-IN" sz="1600" b="1" dirty="0"/>
              <a:t>Ratings are uniformly high</a:t>
            </a:r>
            <a:r>
              <a:rPr lang="en-IN" sz="1600" dirty="0"/>
              <a:t>, showing </a:t>
            </a:r>
            <a:r>
              <a:rPr lang="en-IN" sz="1600" b="1" dirty="0"/>
              <a:t>no meaningful difference</a:t>
            </a:r>
            <a:r>
              <a:rPr lang="en-IN" sz="1600" dirty="0"/>
              <a:t> in rider or driver satisfaction across vehicle types.</a:t>
            </a:r>
          </a:p>
          <a:p>
            <a:pPr marL="285750" indent="-285750">
              <a:buFont typeface="Arial" panose="020B0604020202020204" pitchFamily="34" charset="0"/>
              <a:buChar char="•"/>
            </a:pPr>
            <a:r>
              <a:rPr lang="en-IN" sz="1600" dirty="0"/>
              <a:t>This pattern suggests the data is </a:t>
            </a:r>
            <a:r>
              <a:rPr lang="en-IN" sz="1600" b="1" dirty="0"/>
              <a:t>heavily normalized / synthetic</a:t>
            </a:r>
            <a:r>
              <a:rPr lang="en-IN" sz="1600" dirty="0"/>
              <a:t> (common in Kaggle datasets).</a:t>
            </a:r>
          </a:p>
          <a:p>
            <a:pPr marL="285750" indent="-285750">
              <a:buFont typeface="Arial" panose="020B0604020202020204" pitchFamily="34" charset="0"/>
              <a:buChar char="•"/>
            </a:pPr>
            <a:r>
              <a:rPr lang="en-IN" sz="1600" dirty="0"/>
              <a:t>For business interpretation: </a:t>
            </a:r>
            <a:r>
              <a:rPr lang="en-IN" sz="1600" i="1" dirty="0"/>
              <a:t>service quality appears stable across the fleet</a:t>
            </a:r>
            <a:r>
              <a:rPr lang="en-IN" sz="1600" dirty="0"/>
              <a:t>, but </a:t>
            </a:r>
            <a:r>
              <a:rPr lang="en-IN" sz="1600" b="1" dirty="0"/>
              <a:t>this metric cannot be used to differentiate performance by vehicle type</a:t>
            </a:r>
            <a:r>
              <a:rPr lang="en-IN" sz="1600" dirty="0"/>
              <a:t>.</a:t>
            </a:r>
          </a:p>
          <a:p>
            <a:endParaRPr lang="en-US" dirty="0"/>
          </a:p>
        </p:txBody>
      </p:sp>
    </p:spTree>
    <p:extLst>
      <p:ext uri="{BB962C8B-B14F-4D97-AF65-F5344CB8AC3E}">
        <p14:creationId xmlns:p14="http://schemas.microsoft.com/office/powerpoint/2010/main" val="39417540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7B0438-AA6F-BB6E-C276-C63A7AB8D492}"/>
              </a:ext>
            </a:extLst>
          </p:cNvPr>
          <p:cNvSpPr txBox="1"/>
          <p:nvPr/>
        </p:nvSpPr>
        <p:spPr>
          <a:xfrm>
            <a:off x="354300" y="293512"/>
            <a:ext cx="6280309" cy="646331"/>
          </a:xfrm>
          <a:prstGeom prst="rect">
            <a:avLst/>
          </a:prstGeom>
          <a:noFill/>
        </p:spPr>
        <p:txBody>
          <a:bodyPr wrap="none" rtlCol="0">
            <a:spAutoFit/>
          </a:bodyPr>
          <a:lstStyle/>
          <a:p>
            <a:r>
              <a:rPr lang="en-IN" b="1" dirty="0">
                <a:solidFill>
                  <a:srgbClr val="166A3F"/>
                </a:solidFill>
              </a:rPr>
              <a:t>Diagnostic Analytics — Why These Patterns Occur (1/2)</a:t>
            </a:r>
          </a:p>
          <a:p>
            <a:endParaRPr lang="en-US" dirty="0"/>
          </a:p>
        </p:txBody>
      </p:sp>
      <p:sp>
        <p:nvSpPr>
          <p:cNvPr id="3" name="TextBox 2">
            <a:extLst>
              <a:ext uri="{FF2B5EF4-FFF2-40B4-BE49-F238E27FC236}">
                <a16:creationId xmlns:a16="http://schemas.microsoft.com/office/drawing/2014/main" id="{50DDF9E1-84B0-C822-9F52-72F7A8C4F7E7}"/>
              </a:ext>
            </a:extLst>
          </p:cNvPr>
          <p:cNvSpPr txBox="1"/>
          <p:nvPr/>
        </p:nvSpPr>
        <p:spPr>
          <a:xfrm>
            <a:off x="587022" y="939843"/>
            <a:ext cx="10180868" cy="5047536"/>
          </a:xfrm>
          <a:prstGeom prst="rect">
            <a:avLst/>
          </a:prstGeom>
          <a:noFill/>
        </p:spPr>
        <p:txBody>
          <a:bodyPr wrap="square" rtlCol="0">
            <a:spAutoFit/>
          </a:bodyPr>
          <a:lstStyle/>
          <a:p>
            <a:r>
              <a:rPr lang="en-IN" sz="1600" b="1" dirty="0"/>
              <a:t>Peak Demand Stress (17–20 hrs)</a:t>
            </a:r>
          </a:p>
          <a:p>
            <a:endParaRPr lang="en-IN" sz="1600" dirty="0"/>
          </a:p>
          <a:p>
            <a:r>
              <a:rPr lang="en-IN" sz="1600" dirty="0"/>
              <a:t>Evening traffic + office commute loads the system. Driver arrival times increase, customer patience drops, and the entire platform gets strained — resulting in a spike in cancellations and “no driver found” cases.</a:t>
            </a:r>
            <a:br>
              <a:rPr lang="en-IN" sz="1600" dirty="0"/>
            </a:br>
            <a:endParaRPr lang="en-IN" sz="1600" dirty="0"/>
          </a:p>
          <a:p>
            <a:r>
              <a:rPr lang="en-IN" sz="1600" b="1" dirty="0"/>
              <a:t>Why Drivers Cancel</a:t>
            </a:r>
          </a:p>
          <a:p>
            <a:endParaRPr lang="en-IN" sz="1600" dirty="0"/>
          </a:p>
          <a:p>
            <a:r>
              <a:rPr lang="en-IN" sz="1600" dirty="0"/>
              <a:t>Many short, low-value trips occur in congested areas. Drivers avoid difficult pickups, traffic-heavy zones, or routes that don’t suit them. Most cancellations come from situational factors rather than system failure.</a:t>
            </a:r>
          </a:p>
          <a:p>
            <a:endParaRPr lang="en-IN" sz="1600" dirty="0"/>
          </a:p>
          <a:p>
            <a:r>
              <a:rPr lang="en-IN" sz="1600" b="1" dirty="0"/>
              <a:t>Why Customers Cancel</a:t>
            </a:r>
          </a:p>
          <a:p>
            <a:endParaRPr lang="en-IN" sz="1600" dirty="0"/>
          </a:p>
          <a:p>
            <a:r>
              <a:rPr lang="en-IN" sz="1600" dirty="0"/>
              <a:t>When ETAs climb, customers abandon the ride — especially after work hours. Long VTAT is the clear trigger here, and evening congestion magnifies it.</a:t>
            </a:r>
          </a:p>
          <a:p>
            <a:endParaRPr lang="en-IN" sz="1600" dirty="0"/>
          </a:p>
          <a:p>
            <a:r>
              <a:rPr lang="en-IN" sz="1600" b="1" dirty="0"/>
              <a:t>Revenue Concentration in Autos &amp; Go Mini</a:t>
            </a:r>
          </a:p>
          <a:p>
            <a:endParaRPr lang="en-IN" sz="1600" dirty="0"/>
          </a:p>
          <a:p>
            <a:r>
              <a:rPr lang="en-IN" sz="1600" dirty="0"/>
              <a:t>These vehicles dominate because they serve the mass commuter segment. High frequency compensates for mid-level fares, making them the revenue backbone.</a:t>
            </a:r>
            <a:br>
              <a:rPr lang="en-IN" sz="1600" dirty="0"/>
            </a:br>
            <a:endParaRPr lang="en-US" dirty="0"/>
          </a:p>
        </p:txBody>
      </p:sp>
    </p:spTree>
    <p:extLst>
      <p:ext uri="{BB962C8B-B14F-4D97-AF65-F5344CB8AC3E}">
        <p14:creationId xmlns:p14="http://schemas.microsoft.com/office/powerpoint/2010/main" val="28475866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E34FFD-CE2C-1A4B-06D3-91637083248E}"/>
              </a:ext>
            </a:extLst>
          </p:cNvPr>
          <p:cNvSpPr txBox="1"/>
          <p:nvPr/>
        </p:nvSpPr>
        <p:spPr>
          <a:xfrm>
            <a:off x="409978" y="752143"/>
            <a:ext cx="11372044" cy="3816429"/>
          </a:xfrm>
          <a:prstGeom prst="rect">
            <a:avLst/>
          </a:prstGeom>
          <a:noFill/>
        </p:spPr>
        <p:txBody>
          <a:bodyPr wrap="square" rtlCol="0">
            <a:spAutoFit/>
          </a:bodyPr>
          <a:lstStyle/>
          <a:p>
            <a:endParaRPr lang="en-IN" sz="1600" dirty="0"/>
          </a:p>
          <a:p>
            <a:r>
              <a:rPr lang="en-IN" sz="1600" b="1" dirty="0"/>
              <a:t>Why Uber XL Underperforms</a:t>
            </a:r>
          </a:p>
          <a:p>
            <a:endParaRPr lang="en-IN" sz="1600" dirty="0"/>
          </a:p>
          <a:p>
            <a:r>
              <a:rPr lang="en-IN" sz="1600" dirty="0"/>
              <a:t>A niche category with higher fares and low demand. Its usage is limited to specific scenarios, so low revenue is expected.</a:t>
            </a:r>
            <a:br>
              <a:rPr lang="en-IN" sz="1600" dirty="0"/>
            </a:br>
            <a:endParaRPr lang="en-IN" sz="1600" dirty="0"/>
          </a:p>
          <a:p>
            <a:r>
              <a:rPr lang="en-IN" sz="1600" b="1" dirty="0"/>
              <a:t>Hotspot Patterns (Pickup &amp; Drop)</a:t>
            </a:r>
          </a:p>
          <a:p>
            <a:endParaRPr lang="en-IN" sz="1600" dirty="0"/>
          </a:p>
          <a:p>
            <a:r>
              <a:rPr lang="en-IN" sz="1600" dirty="0"/>
              <a:t>Most high-volume locations are office hubs, metro corridors, and commercial districts. Ride demand is heavily driven by workplace movement.</a:t>
            </a:r>
            <a:br>
              <a:rPr lang="en-IN" sz="1600" dirty="0"/>
            </a:br>
            <a:endParaRPr lang="en-IN" sz="1600" dirty="0"/>
          </a:p>
          <a:p>
            <a:r>
              <a:rPr lang="en-IN" sz="1600" b="1" dirty="0"/>
              <a:t>Travel Times Are Uniform</a:t>
            </a:r>
          </a:p>
          <a:p>
            <a:endParaRPr lang="en-IN" sz="1600" dirty="0"/>
          </a:p>
          <a:p>
            <a:r>
              <a:rPr lang="en-IN" sz="1600" dirty="0"/>
              <a:t>CTAT and VTAT barely change across vehicle types because NCR traffic dictates travel time more than vehicle category. Distance patterns are also nearly identical across the dataset.</a:t>
            </a:r>
          </a:p>
          <a:p>
            <a:endParaRPr lang="en-US" dirty="0"/>
          </a:p>
        </p:txBody>
      </p:sp>
      <p:sp>
        <p:nvSpPr>
          <p:cNvPr id="3" name="TextBox 2">
            <a:extLst>
              <a:ext uri="{FF2B5EF4-FFF2-40B4-BE49-F238E27FC236}">
                <a16:creationId xmlns:a16="http://schemas.microsoft.com/office/drawing/2014/main" id="{0709D08A-71A6-3D7F-6772-8CBBD9E1E59B}"/>
              </a:ext>
            </a:extLst>
          </p:cNvPr>
          <p:cNvSpPr txBox="1"/>
          <p:nvPr/>
        </p:nvSpPr>
        <p:spPr>
          <a:xfrm>
            <a:off x="409978" y="428978"/>
            <a:ext cx="6280309" cy="646331"/>
          </a:xfrm>
          <a:prstGeom prst="rect">
            <a:avLst/>
          </a:prstGeom>
          <a:noFill/>
        </p:spPr>
        <p:txBody>
          <a:bodyPr wrap="none" rtlCol="0">
            <a:spAutoFit/>
          </a:bodyPr>
          <a:lstStyle/>
          <a:p>
            <a:r>
              <a:rPr lang="en-IN" b="1" dirty="0">
                <a:solidFill>
                  <a:srgbClr val="166A3F"/>
                </a:solidFill>
              </a:rPr>
              <a:t>Diagnostic Analytics — Why These Patterns Occur (2/2)</a:t>
            </a:r>
          </a:p>
          <a:p>
            <a:endParaRPr lang="en-US" dirty="0"/>
          </a:p>
        </p:txBody>
      </p:sp>
      <p:sp>
        <p:nvSpPr>
          <p:cNvPr id="4" name="TextBox 3">
            <a:extLst>
              <a:ext uri="{FF2B5EF4-FFF2-40B4-BE49-F238E27FC236}">
                <a16:creationId xmlns:a16="http://schemas.microsoft.com/office/drawing/2014/main" id="{DDFEAE40-A602-94E3-8FC2-72F0E773F381}"/>
              </a:ext>
            </a:extLst>
          </p:cNvPr>
          <p:cNvSpPr txBox="1"/>
          <p:nvPr/>
        </p:nvSpPr>
        <p:spPr>
          <a:xfrm>
            <a:off x="409978" y="5086150"/>
            <a:ext cx="11372044" cy="1107996"/>
          </a:xfrm>
          <a:prstGeom prst="rect">
            <a:avLst/>
          </a:prstGeom>
          <a:noFill/>
        </p:spPr>
        <p:txBody>
          <a:bodyPr wrap="square" rtlCol="0">
            <a:spAutoFit/>
          </a:bodyPr>
          <a:lstStyle/>
          <a:p>
            <a:pPr marL="285750" indent="-285750">
              <a:buFont typeface="Wingdings" pitchFamily="2" charset="2"/>
              <a:buChar char="Ø"/>
            </a:pPr>
            <a:r>
              <a:rPr lang="en-IN" sz="1600" i="1" dirty="0"/>
              <a:t>Evening congestion drives most operational issues. Cancellations rise due to high wait times and driver selectiveness. Autos and Minis carry the revenue load because of mass-consumer use. Travel time is governed by traffic, not vehicle type, and demand concentrates around office zones.</a:t>
            </a:r>
          </a:p>
          <a:p>
            <a:endParaRPr lang="en-US" dirty="0"/>
          </a:p>
        </p:txBody>
      </p:sp>
    </p:spTree>
    <p:extLst>
      <p:ext uri="{BB962C8B-B14F-4D97-AF65-F5344CB8AC3E}">
        <p14:creationId xmlns:p14="http://schemas.microsoft.com/office/powerpoint/2010/main" val="2134040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1483F7-AE7D-8357-64DC-4BEC53457C1C}"/>
              </a:ext>
            </a:extLst>
          </p:cNvPr>
          <p:cNvSpPr txBox="1"/>
          <p:nvPr/>
        </p:nvSpPr>
        <p:spPr>
          <a:xfrm>
            <a:off x="395112" y="293511"/>
            <a:ext cx="2907591" cy="369332"/>
          </a:xfrm>
          <a:prstGeom prst="rect">
            <a:avLst/>
          </a:prstGeom>
          <a:noFill/>
        </p:spPr>
        <p:txBody>
          <a:bodyPr wrap="none" rtlCol="0">
            <a:spAutoFit/>
          </a:bodyPr>
          <a:lstStyle/>
          <a:p>
            <a:r>
              <a:rPr lang="en-IN" b="1" dirty="0">
                <a:solidFill>
                  <a:srgbClr val="166A3F"/>
                </a:solidFill>
              </a:rPr>
              <a:t>Predictive Analytics (1/2)</a:t>
            </a:r>
            <a:endParaRPr lang="en-US" dirty="0">
              <a:solidFill>
                <a:srgbClr val="166A3F"/>
              </a:solidFill>
            </a:endParaRPr>
          </a:p>
        </p:txBody>
      </p:sp>
      <p:sp>
        <p:nvSpPr>
          <p:cNvPr id="3" name="TextBox 2">
            <a:extLst>
              <a:ext uri="{FF2B5EF4-FFF2-40B4-BE49-F238E27FC236}">
                <a16:creationId xmlns:a16="http://schemas.microsoft.com/office/drawing/2014/main" id="{CF6D8B0A-17B9-02CE-B3A7-4EF6A0EBDD7E}"/>
              </a:ext>
            </a:extLst>
          </p:cNvPr>
          <p:cNvSpPr txBox="1"/>
          <p:nvPr/>
        </p:nvSpPr>
        <p:spPr>
          <a:xfrm>
            <a:off x="496712" y="920621"/>
            <a:ext cx="11108268" cy="5016758"/>
          </a:xfrm>
          <a:prstGeom prst="rect">
            <a:avLst/>
          </a:prstGeom>
          <a:noFill/>
        </p:spPr>
        <p:txBody>
          <a:bodyPr wrap="square" rtlCol="0">
            <a:spAutoFit/>
          </a:bodyPr>
          <a:lstStyle/>
          <a:p>
            <a:r>
              <a:rPr lang="en-IN" sz="1600" b="1" dirty="0"/>
              <a:t>Ride demand will continue to peak in the evening (17–20 hrs).</a:t>
            </a:r>
          </a:p>
          <a:p>
            <a:endParaRPr lang="en-IN" sz="1600" dirty="0"/>
          </a:p>
          <a:p>
            <a:r>
              <a:rPr lang="en-IN" sz="1600" dirty="0"/>
              <a:t>The existing pattern is strong and stable. Office commute cycles and NCR traffic conditions make this peak structural, not random. Future forecasts will follow the same curve with small seasonal variation.</a:t>
            </a:r>
          </a:p>
          <a:p>
            <a:endParaRPr lang="en-IN" sz="1600" dirty="0"/>
          </a:p>
          <a:p>
            <a:r>
              <a:rPr lang="en-IN" sz="1600" b="1" dirty="0"/>
              <a:t>Cancellations will rise whenever VTAT rises.</a:t>
            </a:r>
          </a:p>
          <a:p>
            <a:endParaRPr lang="en-IN" sz="1600" dirty="0"/>
          </a:p>
          <a:p>
            <a:r>
              <a:rPr lang="en-IN" sz="1600" dirty="0"/>
              <a:t>Long driver arrival times consistently trigger customer cancellations. Any future hour with increased congestion or reduced supply will naturally show higher drop-offs.</a:t>
            </a:r>
          </a:p>
          <a:p>
            <a:endParaRPr lang="en-IN" sz="1600" dirty="0"/>
          </a:p>
          <a:p>
            <a:r>
              <a:rPr lang="en-IN" sz="1600" b="1" dirty="0"/>
              <a:t>Autos and Go Mini will remain the top revenue generators.</a:t>
            </a:r>
          </a:p>
          <a:p>
            <a:endParaRPr lang="en-IN" sz="1600" dirty="0"/>
          </a:p>
          <a:p>
            <a:r>
              <a:rPr lang="en-IN" sz="1600" dirty="0"/>
              <a:t>Their high ride frequency dominates revenue contribution. Unless pricing shifts drastically, they will continue to account for the largest share of rides and ₹-volume.</a:t>
            </a:r>
          </a:p>
          <a:p>
            <a:endParaRPr lang="en-IN" sz="1600" dirty="0"/>
          </a:p>
          <a:p>
            <a:r>
              <a:rPr lang="en-IN" sz="1600" b="1" dirty="0"/>
              <a:t>Digital payments (UPI) will keep growing.</a:t>
            </a:r>
            <a:br>
              <a:rPr lang="en-IN" sz="1600" dirty="0"/>
            </a:br>
            <a:endParaRPr lang="en-IN" sz="1600" dirty="0"/>
          </a:p>
          <a:p>
            <a:r>
              <a:rPr lang="en-IN" sz="1600" dirty="0"/>
              <a:t>UPI already leads both ride count and revenue. Completed + incomplete ride data shows a strong digital preference that will only strengthen over time as cash usage continues to decline.</a:t>
            </a:r>
          </a:p>
          <a:p>
            <a:endParaRPr lang="en-US" sz="1600" dirty="0"/>
          </a:p>
        </p:txBody>
      </p:sp>
    </p:spTree>
    <p:extLst>
      <p:ext uri="{BB962C8B-B14F-4D97-AF65-F5344CB8AC3E}">
        <p14:creationId xmlns:p14="http://schemas.microsoft.com/office/powerpoint/2010/main" val="20882660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8A7634-EC36-EA7B-F312-3D199104269B}"/>
              </a:ext>
            </a:extLst>
          </p:cNvPr>
          <p:cNvSpPr txBox="1"/>
          <p:nvPr/>
        </p:nvSpPr>
        <p:spPr>
          <a:xfrm>
            <a:off x="474132" y="1066366"/>
            <a:ext cx="10961511" cy="2554545"/>
          </a:xfrm>
          <a:prstGeom prst="rect">
            <a:avLst/>
          </a:prstGeom>
          <a:noFill/>
        </p:spPr>
        <p:txBody>
          <a:bodyPr wrap="square" rtlCol="0">
            <a:spAutoFit/>
          </a:bodyPr>
          <a:lstStyle/>
          <a:p>
            <a:r>
              <a:rPr lang="en-IN" sz="1600" b="1" dirty="0"/>
              <a:t>No Driver Found (NDF) cases will cluster around high-demand hotspots.</a:t>
            </a:r>
          </a:p>
          <a:p>
            <a:endParaRPr lang="en-IN" sz="1600" dirty="0"/>
          </a:p>
          <a:p>
            <a:r>
              <a:rPr lang="en-IN" sz="1600" dirty="0"/>
              <a:t>Areas like Cyber Hub, </a:t>
            </a:r>
            <a:r>
              <a:rPr lang="en-IN" sz="1600" dirty="0" err="1"/>
              <a:t>Barakhamba</a:t>
            </a:r>
            <a:r>
              <a:rPr lang="en-IN" sz="1600" dirty="0"/>
              <a:t> Road, and </a:t>
            </a:r>
            <a:r>
              <a:rPr lang="en-IN" sz="1600" dirty="0" err="1"/>
              <a:t>Khandsa</a:t>
            </a:r>
            <a:r>
              <a:rPr lang="en-IN" sz="1600" dirty="0"/>
              <a:t> will keep experiencing periodic supply shortages during peak hours unless supply shifts or incentive tools are applied.</a:t>
            </a:r>
          </a:p>
          <a:p>
            <a:endParaRPr lang="en-IN" sz="1600" dirty="0"/>
          </a:p>
          <a:p>
            <a:r>
              <a:rPr lang="en-IN" sz="1600" b="1" dirty="0"/>
              <a:t>CTAT will remain consistent across vehicle types.</a:t>
            </a:r>
          </a:p>
          <a:p>
            <a:endParaRPr lang="en-IN" sz="1600" dirty="0"/>
          </a:p>
          <a:p>
            <a:r>
              <a:rPr lang="en-IN" sz="1600" dirty="0"/>
              <a:t>Because NCR traffic and similar average trip distances dominate travel time, future CTAT patterns will stay anchored around 29 minutes with minor fluctuations.</a:t>
            </a:r>
          </a:p>
          <a:p>
            <a:endParaRPr lang="en-US" sz="1600" dirty="0"/>
          </a:p>
        </p:txBody>
      </p:sp>
      <p:sp>
        <p:nvSpPr>
          <p:cNvPr id="3" name="TextBox 2">
            <a:extLst>
              <a:ext uri="{FF2B5EF4-FFF2-40B4-BE49-F238E27FC236}">
                <a16:creationId xmlns:a16="http://schemas.microsoft.com/office/drawing/2014/main" id="{279FE6E0-BF2E-BEEF-0EB8-0A73AF5FF965}"/>
              </a:ext>
            </a:extLst>
          </p:cNvPr>
          <p:cNvSpPr txBox="1"/>
          <p:nvPr/>
        </p:nvSpPr>
        <p:spPr>
          <a:xfrm>
            <a:off x="474132" y="420035"/>
            <a:ext cx="2907591" cy="646331"/>
          </a:xfrm>
          <a:prstGeom prst="rect">
            <a:avLst/>
          </a:prstGeom>
          <a:noFill/>
        </p:spPr>
        <p:txBody>
          <a:bodyPr wrap="none" rtlCol="0">
            <a:spAutoFit/>
          </a:bodyPr>
          <a:lstStyle/>
          <a:p>
            <a:r>
              <a:rPr lang="en-IN" b="1" dirty="0">
                <a:solidFill>
                  <a:srgbClr val="166A3F"/>
                </a:solidFill>
              </a:rPr>
              <a:t>Predictive Analytics (2/2)</a:t>
            </a:r>
            <a:endParaRPr lang="en-US" dirty="0">
              <a:solidFill>
                <a:srgbClr val="166A3F"/>
              </a:solidFill>
            </a:endParaRPr>
          </a:p>
          <a:p>
            <a:endParaRPr lang="en-US" dirty="0"/>
          </a:p>
        </p:txBody>
      </p:sp>
      <p:sp>
        <p:nvSpPr>
          <p:cNvPr id="4" name="TextBox 3">
            <a:extLst>
              <a:ext uri="{FF2B5EF4-FFF2-40B4-BE49-F238E27FC236}">
                <a16:creationId xmlns:a16="http://schemas.microsoft.com/office/drawing/2014/main" id="{9D81754A-83F0-5C0B-46D5-12AFA52F863F}"/>
              </a:ext>
            </a:extLst>
          </p:cNvPr>
          <p:cNvSpPr txBox="1"/>
          <p:nvPr/>
        </p:nvSpPr>
        <p:spPr>
          <a:xfrm>
            <a:off x="390995" y="4683638"/>
            <a:ext cx="11127784" cy="1107996"/>
          </a:xfrm>
          <a:prstGeom prst="rect">
            <a:avLst/>
          </a:prstGeom>
          <a:noFill/>
        </p:spPr>
        <p:txBody>
          <a:bodyPr wrap="square" rtlCol="0">
            <a:spAutoFit/>
          </a:bodyPr>
          <a:lstStyle/>
          <a:p>
            <a:pPr marL="285750" indent="-285750">
              <a:buFont typeface="Wingdings" pitchFamily="2" charset="2"/>
              <a:buChar char="Ø"/>
            </a:pPr>
            <a:r>
              <a:rPr lang="en-IN" sz="1600" i="1" dirty="0"/>
              <a:t>Demand spikes, cancellations, and supply shortages will continue to concentrate in the evening hours. Autos and Mini rides will maintain revenue dominance, and UPI adoption will keep rising. Travel durations will stay stable due to consistent NCR traffic </a:t>
            </a:r>
            <a:r>
              <a:rPr lang="en-IN" sz="1600" i="1" dirty="0" err="1"/>
              <a:t>behavior</a:t>
            </a:r>
            <a:r>
              <a:rPr lang="en-IN" sz="1600" i="1" dirty="0"/>
              <a:t>.</a:t>
            </a:r>
          </a:p>
          <a:p>
            <a:endParaRPr lang="en-US" dirty="0"/>
          </a:p>
        </p:txBody>
      </p:sp>
    </p:spTree>
    <p:extLst>
      <p:ext uri="{BB962C8B-B14F-4D97-AF65-F5344CB8AC3E}">
        <p14:creationId xmlns:p14="http://schemas.microsoft.com/office/powerpoint/2010/main" val="21458322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2EE644-8793-31C6-A092-6241097C1148}"/>
              </a:ext>
            </a:extLst>
          </p:cNvPr>
          <p:cNvSpPr txBox="1"/>
          <p:nvPr/>
        </p:nvSpPr>
        <p:spPr>
          <a:xfrm>
            <a:off x="519289" y="338667"/>
            <a:ext cx="5998180" cy="646331"/>
          </a:xfrm>
          <a:prstGeom prst="rect">
            <a:avLst/>
          </a:prstGeom>
          <a:noFill/>
        </p:spPr>
        <p:txBody>
          <a:bodyPr wrap="none" rtlCol="0">
            <a:spAutoFit/>
          </a:bodyPr>
          <a:lstStyle/>
          <a:p>
            <a:r>
              <a:rPr lang="en-IN" b="1" dirty="0">
                <a:solidFill>
                  <a:srgbClr val="166A3F"/>
                </a:solidFill>
              </a:rPr>
              <a:t>Prescriptive Analytics — What Should Uber Do? (1/2)</a:t>
            </a:r>
          </a:p>
          <a:p>
            <a:endParaRPr lang="en-US" dirty="0"/>
          </a:p>
        </p:txBody>
      </p:sp>
      <p:sp>
        <p:nvSpPr>
          <p:cNvPr id="3" name="TextBox 2">
            <a:extLst>
              <a:ext uri="{FF2B5EF4-FFF2-40B4-BE49-F238E27FC236}">
                <a16:creationId xmlns:a16="http://schemas.microsoft.com/office/drawing/2014/main" id="{2DF9DB6D-BD28-B5F0-5CDC-7D299D917B08}"/>
              </a:ext>
            </a:extLst>
          </p:cNvPr>
          <p:cNvSpPr txBox="1"/>
          <p:nvPr/>
        </p:nvSpPr>
        <p:spPr>
          <a:xfrm>
            <a:off x="519289" y="984998"/>
            <a:ext cx="10771490" cy="5324535"/>
          </a:xfrm>
          <a:prstGeom prst="rect">
            <a:avLst/>
          </a:prstGeom>
          <a:noFill/>
        </p:spPr>
        <p:txBody>
          <a:bodyPr wrap="square" rtlCol="0">
            <a:spAutoFit/>
          </a:bodyPr>
          <a:lstStyle/>
          <a:p>
            <a:r>
              <a:rPr lang="en-IN" sz="1600" b="1" dirty="0"/>
              <a:t>1. Strengthen Supply During Evening Peak (17–20 hrs)</a:t>
            </a:r>
          </a:p>
          <a:p>
            <a:endParaRPr lang="en-IN" sz="1600" dirty="0"/>
          </a:p>
          <a:p>
            <a:r>
              <a:rPr lang="en-IN" sz="1600" dirty="0"/>
              <a:t>Incentivize drivers with short-term bonuses or reduced commission during high-demand hours. This stabilizes supply, reduces cancellations, and cuts “no driver found” issues right where problems peak.</a:t>
            </a:r>
          </a:p>
          <a:p>
            <a:endParaRPr lang="en-IN" sz="1600" dirty="0"/>
          </a:p>
          <a:p>
            <a:r>
              <a:rPr lang="en-IN" sz="1600" b="1" dirty="0"/>
              <a:t>2. Reduce High VTAT in Congested Zones</a:t>
            </a:r>
          </a:p>
          <a:p>
            <a:endParaRPr lang="en-IN" sz="1600" dirty="0"/>
          </a:p>
          <a:p>
            <a:r>
              <a:rPr lang="en-IN" sz="1600" dirty="0"/>
              <a:t>Deploy micro-routing and real-time driver allocation to avoid long pickups. Faster arrival = fewer customer cancellations and better experience.</a:t>
            </a:r>
          </a:p>
          <a:p>
            <a:endParaRPr lang="en-IN" sz="1600" dirty="0"/>
          </a:p>
          <a:p>
            <a:r>
              <a:rPr lang="en-IN" sz="1600" b="1" dirty="0"/>
              <a:t>3. Improve Driver Acceptance for Short Trips</a:t>
            </a:r>
            <a:br>
              <a:rPr lang="en-IN" sz="1600" dirty="0"/>
            </a:br>
            <a:endParaRPr lang="en-IN" sz="1600" dirty="0"/>
          </a:p>
          <a:p>
            <a:r>
              <a:rPr lang="en-IN" sz="1600" dirty="0"/>
              <a:t>Introduce small guaranteed earnings or “short-ride boosters” during traffic hours. This addresses the main driver complaint: low fare for high effort.</a:t>
            </a:r>
          </a:p>
          <a:p>
            <a:endParaRPr lang="en-IN" sz="1600" dirty="0"/>
          </a:p>
          <a:p>
            <a:r>
              <a:rPr lang="en-IN" sz="1600" b="1" dirty="0"/>
              <a:t>4. Strengthen Customer Experience During High ETAs (</a:t>
            </a:r>
            <a:r>
              <a:rPr lang="en-IN" sz="1600" dirty="0"/>
              <a:t>Estimated Time of Arrival)</a:t>
            </a:r>
          </a:p>
          <a:p>
            <a:br>
              <a:rPr lang="en-IN" sz="1600" dirty="0"/>
            </a:br>
            <a:endParaRPr lang="en-IN" sz="1600" dirty="0"/>
          </a:p>
          <a:p>
            <a:r>
              <a:rPr lang="en-IN" sz="1600" dirty="0"/>
              <a:t>Show more accurate wait times, offer small wait-time credits, or enable auto-switching to nearby vehicle types when drivers aren’t moving toward pickup.</a:t>
            </a:r>
          </a:p>
          <a:p>
            <a:endParaRPr lang="en-US" dirty="0"/>
          </a:p>
        </p:txBody>
      </p:sp>
    </p:spTree>
    <p:extLst>
      <p:ext uri="{BB962C8B-B14F-4D97-AF65-F5344CB8AC3E}">
        <p14:creationId xmlns:p14="http://schemas.microsoft.com/office/powerpoint/2010/main" val="243157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5178DC-655A-C53D-5ED1-8D625C2E91A3}"/>
              </a:ext>
            </a:extLst>
          </p:cNvPr>
          <p:cNvSpPr txBox="1"/>
          <p:nvPr/>
        </p:nvSpPr>
        <p:spPr>
          <a:xfrm>
            <a:off x="462845" y="951131"/>
            <a:ext cx="10806034" cy="3816429"/>
          </a:xfrm>
          <a:prstGeom prst="rect">
            <a:avLst/>
          </a:prstGeom>
          <a:noFill/>
        </p:spPr>
        <p:txBody>
          <a:bodyPr wrap="square" rtlCol="0">
            <a:spAutoFit/>
          </a:bodyPr>
          <a:lstStyle/>
          <a:p>
            <a:r>
              <a:rPr lang="en-IN" sz="1600" b="1" dirty="0"/>
              <a:t>5. Manage Hotspots With Dynamic Supply Rebalancing</a:t>
            </a:r>
          </a:p>
          <a:p>
            <a:endParaRPr lang="en-IN" sz="1600" dirty="0"/>
          </a:p>
          <a:p>
            <a:r>
              <a:rPr lang="en-IN" sz="1600" dirty="0"/>
              <a:t>Shift drivers towards predictable high-demand hubs (Cyber Hub, </a:t>
            </a:r>
            <a:r>
              <a:rPr lang="en-IN" sz="1600" dirty="0" err="1"/>
              <a:t>Barakhamba</a:t>
            </a:r>
            <a:r>
              <a:rPr lang="en-IN" sz="1600" dirty="0"/>
              <a:t> Road, Udyog Vihar) before peak hours. Pre-positioning avoids NDF (“No Driver Found”) spikes and improves matching efficiency.</a:t>
            </a:r>
          </a:p>
          <a:p>
            <a:endParaRPr lang="en-IN" sz="1600" dirty="0"/>
          </a:p>
          <a:p>
            <a:r>
              <a:rPr lang="en-IN" sz="1600" b="1" dirty="0"/>
              <a:t>6. Promote Digital Payments Further (UPI/Wallet)</a:t>
            </a:r>
          </a:p>
          <a:p>
            <a:endParaRPr lang="en-IN" sz="1600" dirty="0"/>
          </a:p>
          <a:p>
            <a:r>
              <a:rPr lang="en-IN" sz="1600" dirty="0"/>
              <a:t>UPI already leads revenue. Offering cashback or priority matching for UPI users can reduce cash-handling friction and speed up trip completion flow.</a:t>
            </a:r>
          </a:p>
          <a:p>
            <a:endParaRPr lang="en-IN" sz="1600" dirty="0"/>
          </a:p>
          <a:p>
            <a:r>
              <a:rPr lang="en-IN" sz="1600" b="1" dirty="0"/>
              <a:t>7. Maintain Focus on Autos &amp; Go Mini</a:t>
            </a:r>
          </a:p>
          <a:p>
            <a:endParaRPr lang="en-IN" sz="1600" dirty="0"/>
          </a:p>
          <a:p>
            <a:r>
              <a:rPr lang="en-IN" sz="1600" dirty="0"/>
              <a:t>They are the revenue backbone. Ensuring strong supply in these categories will directly increase overall platform revenue and reduce customer churn.</a:t>
            </a:r>
          </a:p>
          <a:p>
            <a:endParaRPr lang="en-US" dirty="0"/>
          </a:p>
        </p:txBody>
      </p:sp>
      <p:sp>
        <p:nvSpPr>
          <p:cNvPr id="3" name="TextBox 2">
            <a:extLst>
              <a:ext uri="{FF2B5EF4-FFF2-40B4-BE49-F238E27FC236}">
                <a16:creationId xmlns:a16="http://schemas.microsoft.com/office/drawing/2014/main" id="{9A8EBEA2-1F26-C126-10DF-968D7743B352}"/>
              </a:ext>
            </a:extLst>
          </p:cNvPr>
          <p:cNvSpPr txBox="1"/>
          <p:nvPr/>
        </p:nvSpPr>
        <p:spPr>
          <a:xfrm>
            <a:off x="462845" y="304800"/>
            <a:ext cx="5998180" cy="646331"/>
          </a:xfrm>
          <a:prstGeom prst="rect">
            <a:avLst/>
          </a:prstGeom>
          <a:noFill/>
        </p:spPr>
        <p:txBody>
          <a:bodyPr wrap="none" rtlCol="0">
            <a:spAutoFit/>
          </a:bodyPr>
          <a:lstStyle/>
          <a:p>
            <a:r>
              <a:rPr lang="en-IN" b="1" dirty="0">
                <a:solidFill>
                  <a:srgbClr val="166A3F"/>
                </a:solidFill>
              </a:rPr>
              <a:t>Prescriptive Analytics — What Should Uber Do? (2/2)</a:t>
            </a:r>
          </a:p>
          <a:p>
            <a:endParaRPr lang="en-US" dirty="0"/>
          </a:p>
        </p:txBody>
      </p:sp>
      <p:sp>
        <p:nvSpPr>
          <p:cNvPr id="4" name="TextBox 3">
            <a:extLst>
              <a:ext uri="{FF2B5EF4-FFF2-40B4-BE49-F238E27FC236}">
                <a16:creationId xmlns:a16="http://schemas.microsoft.com/office/drawing/2014/main" id="{74EAB0A4-2F04-A3D7-67E3-88A69BEC05AE}"/>
              </a:ext>
            </a:extLst>
          </p:cNvPr>
          <p:cNvSpPr txBox="1"/>
          <p:nvPr/>
        </p:nvSpPr>
        <p:spPr>
          <a:xfrm>
            <a:off x="462845" y="5174915"/>
            <a:ext cx="10806034" cy="861774"/>
          </a:xfrm>
          <a:prstGeom prst="rect">
            <a:avLst/>
          </a:prstGeom>
          <a:noFill/>
        </p:spPr>
        <p:txBody>
          <a:bodyPr wrap="square" rtlCol="0">
            <a:spAutoFit/>
          </a:bodyPr>
          <a:lstStyle/>
          <a:p>
            <a:pPr marL="285750" indent="-285750">
              <a:buFont typeface="Wingdings" pitchFamily="2" charset="2"/>
              <a:buChar char="Ø"/>
            </a:pPr>
            <a:r>
              <a:rPr lang="en-IN" sz="1600" i="1" dirty="0"/>
              <a:t>Improve supply during peak hours, reduce arrival delays, incentivize drivers for short and congested trips, optimize hotspot coverage, and push digital payments to streamline the ride experience and lower cancellations.</a:t>
            </a:r>
          </a:p>
          <a:p>
            <a:endParaRPr lang="en-US" dirty="0"/>
          </a:p>
        </p:txBody>
      </p:sp>
    </p:spTree>
    <p:extLst>
      <p:ext uri="{BB962C8B-B14F-4D97-AF65-F5344CB8AC3E}">
        <p14:creationId xmlns:p14="http://schemas.microsoft.com/office/powerpoint/2010/main" val="29670568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CD2C85-9E9B-0063-54D9-4CDF48B4F2C4}"/>
              </a:ext>
            </a:extLst>
          </p:cNvPr>
          <p:cNvSpPr txBox="1"/>
          <p:nvPr/>
        </p:nvSpPr>
        <p:spPr>
          <a:xfrm>
            <a:off x="366888" y="180623"/>
            <a:ext cx="11458223" cy="5601533"/>
          </a:xfrm>
          <a:prstGeom prst="rect">
            <a:avLst/>
          </a:prstGeom>
          <a:noFill/>
        </p:spPr>
        <p:txBody>
          <a:bodyPr wrap="square" rtlCol="0">
            <a:spAutoFit/>
          </a:bodyPr>
          <a:lstStyle/>
          <a:p>
            <a:r>
              <a:rPr lang="en-IN" b="1" dirty="0">
                <a:solidFill>
                  <a:srgbClr val="166A3F"/>
                </a:solidFill>
              </a:rPr>
              <a:t> </a:t>
            </a:r>
          </a:p>
          <a:p>
            <a:r>
              <a:rPr lang="en-IN" b="1" dirty="0">
                <a:solidFill>
                  <a:srgbClr val="166A3F"/>
                </a:solidFill>
              </a:rPr>
              <a:t>Executive Summary — Uber NCR Ride Analysis</a:t>
            </a:r>
          </a:p>
          <a:p>
            <a:br>
              <a:rPr lang="en-IN" sz="1600" dirty="0"/>
            </a:br>
            <a:endParaRPr lang="en-IN" sz="1600" dirty="0"/>
          </a:p>
          <a:p>
            <a:r>
              <a:rPr lang="en-IN" sz="1600" dirty="0"/>
              <a:t>Uber’s NCR operations show strong, predictable patterns </a:t>
            </a:r>
            <a:r>
              <a:rPr lang="en-IN" sz="1600" dirty="0" err="1"/>
              <a:t>centered</a:t>
            </a:r>
            <a:r>
              <a:rPr lang="en-IN" sz="1600" dirty="0"/>
              <a:t> around evening commute </a:t>
            </a:r>
            <a:r>
              <a:rPr lang="en-IN" sz="1600" dirty="0" err="1"/>
              <a:t>behavior</a:t>
            </a:r>
            <a:r>
              <a:rPr lang="en-IN" sz="1600" dirty="0"/>
              <a:t>. Ride demand consistently peaks between </a:t>
            </a:r>
            <a:r>
              <a:rPr lang="en-IN" sz="1600" b="1" dirty="0"/>
              <a:t>17:00–20:00</a:t>
            </a:r>
            <a:r>
              <a:rPr lang="en-IN" sz="1600" dirty="0"/>
              <a:t>, creating intense pressure on driver supply. This mismatch leads to higher cancellations, longer wait times (VTAT), and frequent “No Driver Found” cases during these hours.</a:t>
            </a:r>
          </a:p>
          <a:p>
            <a:br>
              <a:rPr lang="en-IN" sz="1600" dirty="0"/>
            </a:br>
            <a:endParaRPr lang="en-IN" sz="1600" dirty="0"/>
          </a:p>
          <a:p>
            <a:r>
              <a:rPr lang="en-IN" sz="1600" dirty="0"/>
              <a:t>Autos and Go Mini form the </a:t>
            </a:r>
            <a:r>
              <a:rPr lang="en-IN" sz="1600" b="1" dirty="0"/>
              <a:t>revenue backbone</a:t>
            </a:r>
            <a:r>
              <a:rPr lang="en-IN" sz="1600" dirty="0"/>
              <a:t>, driven by high trip volume rather than fare levels. Digital payments, especially </a:t>
            </a:r>
            <a:r>
              <a:rPr lang="en-IN" sz="1600" b="1" dirty="0"/>
              <a:t>UPI</a:t>
            </a:r>
            <a:r>
              <a:rPr lang="en-IN" sz="1600" dirty="0"/>
              <a:t>, dominate completed transactions, indicating strong customer adoption. Travel time (CTAT) remains stable around 29 minutes across all vehicle types due to uniform traffic conditions and similar trip distances.</a:t>
            </a:r>
          </a:p>
          <a:p>
            <a:br>
              <a:rPr lang="en-IN" sz="1600" dirty="0"/>
            </a:br>
            <a:endParaRPr lang="en-IN" sz="1600" dirty="0"/>
          </a:p>
          <a:p>
            <a:r>
              <a:rPr lang="en-IN" sz="1600" dirty="0"/>
              <a:t>Operational friction is primarily linked to </a:t>
            </a:r>
            <a:r>
              <a:rPr lang="en-IN" sz="1600" b="1" dirty="0"/>
              <a:t>driver availability</a:t>
            </a:r>
            <a:r>
              <a:rPr lang="en-IN" sz="1600" dirty="0"/>
              <a:t>, </a:t>
            </a:r>
            <a:r>
              <a:rPr lang="en-IN" sz="1600" b="1" dirty="0"/>
              <a:t>pickup delays</a:t>
            </a:r>
            <a:r>
              <a:rPr lang="en-IN" sz="1600" dirty="0"/>
              <a:t>, and </a:t>
            </a:r>
            <a:r>
              <a:rPr lang="en-IN" sz="1600" b="1" dirty="0"/>
              <a:t>evening congestion</a:t>
            </a:r>
            <a:r>
              <a:rPr lang="en-IN" sz="1600" dirty="0"/>
              <a:t>, not pricing or service quality. Ratings remain consistently high across all categories, offering no differentiation.</a:t>
            </a:r>
          </a:p>
          <a:p>
            <a:br>
              <a:rPr lang="en-IN" sz="1600" dirty="0"/>
            </a:br>
            <a:endParaRPr lang="en-IN" sz="1600" dirty="0"/>
          </a:p>
          <a:p>
            <a:r>
              <a:rPr lang="en-IN" sz="1600" dirty="0"/>
              <a:t>To improve performance, Uber should boost supply during peak hours, reduce pickup delays, incentivize drivers for short or congested routes, and use dynamic driver rebalancing in hotspots. Strengthening digital payment incentives and maintaining strong Auto/Mini supply can further improve revenue stability and customer satisfaction.</a:t>
            </a:r>
          </a:p>
          <a:p>
            <a:endParaRPr lang="en-US" dirty="0"/>
          </a:p>
        </p:txBody>
      </p:sp>
    </p:spTree>
    <p:extLst>
      <p:ext uri="{BB962C8B-B14F-4D97-AF65-F5344CB8AC3E}">
        <p14:creationId xmlns:p14="http://schemas.microsoft.com/office/powerpoint/2010/main" val="39193365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1828E7-6EFB-8274-3831-8BD81AB266B7}"/>
              </a:ext>
            </a:extLst>
          </p:cNvPr>
          <p:cNvSpPr txBox="1"/>
          <p:nvPr/>
        </p:nvSpPr>
        <p:spPr>
          <a:xfrm>
            <a:off x="324091" y="219919"/>
            <a:ext cx="2749471" cy="369332"/>
          </a:xfrm>
          <a:prstGeom prst="rect">
            <a:avLst/>
          </a:prstGeom>
          <a:noFill/>
        </p:spPr>
        <p:txBody>
          <a:bodyPr wrap="none" rtlCol="0">
            <a:spAutoFit/>
          </a:bodyPr>
          <a:lstStyle/>
          <a:p>
            <a:r>
              <a:rPr lang="en-US" b="1" dirty="0">
                <a:solidFill>
                  <a:srgbClr val="166A3F"/>
                </a:solidFill>
              </a:rPr>
              <a:t>Dashboard Layout (1/5)</a:t>
            </a:r>
          </a:p>
        </p:txBody>
      </p:sp>
      <p:sp>
        <p:nvSpPr>
          <p:cNvPr id="3" name="TextBox 2">
            <a:extLst>
              <a:ext uri="{FF2B5EF4-FFF2-40B4-BE49-F238E27FC236}">
                <a16:creationId xmlns:a16="http://schemas.microsoft.com/office/drawing/2014/main" id="{981ABF8F-8BED-6A4D-EBF3-AB8B057E225F}"/>
              </a:ext>
            </a:extLst>
          </p:cNvPr>
          <p:cNvSpPr txBox="1"/>
          <p:nvPr/>
        </p:nvSpPr>
        <p:spPr>
          <a:xfrm>
            <a:off x="337595" y="729205"/>
            <a:ext cx="11516810" cy="1231106"/>
          </a:xfrm>
          <a:prstGeom prst="rect">
            <a:avLst/>
          </a:prstGeom>
          <a:noFill/>
        </p:spPr>
        <p:txBody>
          <a:bodyPr wrap="square" rtlCol="0">
            <a:spAutoFit/>
          </a:bodyPr>
          <a:lstStyle/>
          <a:p>
            <a:r>
              <a:rPr lang="en-IN" sz="1400" b="1" dirty="0"/>
              <a:t>Overall Ride Performance – NCR Region</a:t>
            </a:r>
          </a:p>
          <a:p>
            <a:endParaRPr lang="en-IN" sz="1400" dirty="0"/>
          </a:p>
          <a:p>
            <a:r>
              <a:rPr lang="en-IN" sz="1400" dirty="0"/>
              <a:t>This dashboard provides a high-level overview of Uber NCR’s operational performance, covering total bookings, booking outcomes, and ride volume patterns across the year.</a:t>
            </a:r>
          </a:p>
          <a:p>
            <a:endParaRPr lang="en-US" dirty="0"/>
          </a:p>
        </p:txBody>
      </p:sp>
      <p:sp>
        <p:nvSpPr>
          <p:cNvPr id="8" name="Rectangle 7">
            <a:extLst>
              <a:ext uri="{FF2B5EF4-FFF2-40B4-BE49-F238E27FC236}">
                <a16:creationId xmlns:a16="http://schemas.microsoft.com/office/drawing/2014/main" id="{BC0BB69F-F1CA-7DDC-03A5-C8E21F632C0A}"/>
              </a:ext>
            </a:extLst>
          </p:cNvPr>
          <p:cNvSpPr/>
          <p:nvPr/>
        </p:nvSpPr>
        <p:spPr>
          <a:xfrm>
            <a:off x="555585" y="1759352"/>
            <a:ext cx="10567686"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1317282-D257-653D-B5AE-85225EDFD661}"/>
              </a:ext>
            </a:extLst>
          </p:cNvPr>
          <p:cNvSpPr/>
          <p:nvPr/>
        </p:nvSpPr>
        <p:spPr>
          <a:xfrm>
            <a:off x="555585" y="1759352"/>
            <a:ext cx="2517977"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E76A5ECE-8454-431D-3C87-121E8E5B08F5}"/>
              </a:ext>
            </a:extLst>
          </p:cNvPr>
          <p:cNvSpPr/>
          <p:nvPr/>
        </p:nvSpPr>
        <p:spPr>
          <a:xfrm>
            <a:off x="3382943" y="1960311"/>
            <a:ext cx="3041006" cy="92597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A5009094-7BE2-43C1-A3EB-8EEBBC3EC645}"/>
              </a:ext>
            </a:extLst>
          </p:cNvPr>
          <p:cNvSpPr/>
          <p:nvPr/>
        </p:nvSpPr>
        <p:spPr>
          <a:xfrm>
            <a:off x="6875362" y="1960311"/>
            <a:ext cx="3981691" cy="20445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7A6A7CA8-54E4-2661-7179-35B2846FA783}"/>
              </a:ext>
            </a:extLst>
          </p:cNvPr>
          <p:cNvSpPr/>
          <p:nvPr/>
        </p:nvSpPr>
        <p:spPr>
          <a:xfrm>
            <a:off x="3382944" y="2986268"/>
            <a:ext cx="3041006" cy="10185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28511AED-1524-4FA3-68E5-886A5D89C25C}"/>
              </a:ext>
            </a:extLst>
          </p:cNvPr>
          <p:cNvSpPr/>
          <p:nvPr/>
        </p:nvSpPr>
        <p:spPr>
          <a:xfrm>
            <a:off x="3382942" y="4155311"/>
            <a:ext cx="7474111" cy="19734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1B0B8AFA-4DE8-0CC2-DA73-F871F9E6ADCE}"/>
              </a:ext>
            </a:extLst>
          </p:cNvPr>
          <p:cNvSpPr/>
          <p:nvPr/>
        </p:nvSpPr>
        <p:spPr>
          <a:xfrm>
            <a:off x="856527" y="1960311"/>
            <a:ext cx="1817225" cy="925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Logo</a:t>
            </a:r>
          </a:p>
        </p:txBody>
      </p:sp>
      <p:sp>
        <p:nvSpPr>
          <p:cNvPr id="16" name="Terminator 15">
            <a:extLst>
              <a:ext uri="{FF2B5EF4-FFF2-40B4-BE49-F238E27FC236}">
                <a16:creationId xmlns:a16="http://schemas.microsoft.com/office/drawing/2014/main" id="{D13035FE-E36E-48B7-2661-8D96D3CFD26E}"/>
              </a:ext>
            </a:extLst>
          </p:cNvPr>
          <p:cNvSpPr/>
          <p:nvPr/>
        </p:nvSpPr>
        <p:spPr>
          <a:xfrm>
            <a:off x="703403" y="3240911"/>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Overall</a:t>
            </a:r>
            <a:r>
              <a:rPr lang="en-US" dirty="0" err="1"/>
              <a:t>ll</a:t>
            </a:r>
            <a:endParaRPr lang="en-US" dirty="0"/>
          </a:p>
        </p:txBody>
      </p:sp>
      <p:sp>
        <p:nvSpPr>
          <p:cNvPr id="18" name="Terminator 17">
            <a:extLst>
              <a:ext uri="{FF2B5EF4-FFF2-40B4-BE49-F238E27FC236}">
                <a16:creationId xmlns:a16="http://schemas.microsoft.com/office/drawing/2014/main" id="{D60C0FD0-A74A-9257-F5DF-F1B8EB4D287D}"/>
              </a:ext>
            </a:extLst>
          </p:cNvPr>
          <p:cNvSpPr/>
          <p:nvPr/>
        </p:nvSpPr>
        <p:spPr>
          <a:xfrm>
            <a:off x="700508" y="3750197"/>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rminator 19">
            <a:extLst>
              <a:ext uri="{FF2B5EF4-FFF2-40B4-BE49-F238E27FC236}">
                <a16:creationId xmlns:a16="http://schemas.microsoft.com/office/drawing/2014/main" id="{191DC4F1-55E6-A617-0B68-03EC706C28F4}"/>
              </a:ext>
            </a:extLst>
          </p:cNvPr>
          <p:cNvSpPr/>
          <p:nvPr/>
        </p:nvSpPr>
        <p:spPr>
          <a:xfrm>
            <a:off x="700507" y="4271058"/>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rminator 20">
            <a:extLst>
              <a:ext uri="{FF2B5EF4-FFF2-40B4-BE49-F238E27FC236}">
                <a16:creationId xmlns:a16="http://schemas.microsoft.com/office/drawing/2014/main" id="{0693C777-6E85-275B-944A-8722044DD90B}"/>
              </a:ext>
            </a:extLst>
          </p:cNvPr>
          <p:cNvSpPr/>
          <p:nvPr/>
        </p:nvSpPr>
        <p:spPr>
          <a:xfrm>
            <a:off x="700507" y="4791919"/>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rminator 21">
            <a:extLst>
              <a:ext uri="{FF2B5EF4-FFF2-40B4-BE49-F238E27FC236}">
                <a16:creationId xmlns:a16="http://schemas.microsoft.com/office/drawing/2014/main" id="{DAC304FF-3ECB-8E50-5556-9ACAF31F400E}"/>
              </a:ext>
            </a:extLst>
          </p:cNvPr>
          <p:cNvSpPr/>
          <p:nvPr/>
        </p:nvSpPr>
        <p:spPr>
          <a:xfrm>
            <a:off x="700506" y="5312780"/>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46F5B0E-5C0F-4263-D569-042917FCA1C8}"/>
              </a:ext>
            </a:extLst>
          </p:cNvPr>
          <p:cNvSpPr txBox="1"/>
          <p:nvPr/>
        </p:nvSpPr>
        <p:spPr>
          <a:xfrm>
            <a:off x="1163131" y="3820174"/>
            <a:ext cx="1488677" cy="369332"/>
          </a:xfrm>
          <a:prstGeom prst="rect">
            <a:avLst/>
          </a:prstGeom>
          <a:noFill/>
        </p:spPr>
        <p:txBody>
          <a:bodyPr wrap="none" rtlCol="0">
            <a:spAutoFit/>
          </a:bodyPr>
          <a:lstStyle/>
          <a:p>
            <a:r>
              <a:rPr lang="en-US" dirty="0"/>
              <a:t>Vehicle Type</a:t>
            </a:r>
          </a:p>
        </p:txBody>
      </p:sp>
      <p:sp>
        <p:nvSpPr>
          <p:cNvPr id="32" name="TextBox 31">
            <a:extLst>
              <a:ext uri="{FF2B5EF4-FFF2-40B4-BE49-F238E27FC236}">
                <a16:creationId xmlns:a16="http://schemas.microsoft.com/office/drawing/2014/main" id="{5C3ADE99-08DA-37C0-AD01-DEB8A9DBF5CF}"/>
              </a:ext>
            </a:extLst>
          </p:cNvPr>
          <p:cNvSpPr txBox="1"/>
          <p:nvPr/>
        </p:nvSpPr>
        <p:spPr>
          <a:xfrm>
            <a:off x="1211141" y="4341035"/>
            <a:ext cx="1107996" cy="369332"/>
          </a:xfrm>
          <a:prstGeom prst="rect">
            <a:avLst/>
          </a:prstGeom>
          <a:noFill/>
        </p:spPr>
        <p:txBody>
          <a:bodyPr wrap="none" rtlCol="0">
            <a:spAutoFit/>
          </a:bodyPr>
          <a:lstStyle/>
          <a:p>
            <a:r>
              <a:rPr lang="en-US" dirty="0"/>
              <a:t>Revenue</a:t>
            </a:r>
          </a:p>
        </p:txBody>
      </p:sp>
      <p:sp>
        <p:nvSpPr>
          <p:cNvPr id="33" name="TextBox 32">
            <a:extLst>
              <a:ext uri="{FF2B5EF4-FFF2-40B4-BE49-F238E27FC236}">
                <a16:creationId xmlns:a16="http://schemas.microsoft.com/office/drawing/2014/main" id="{CD624257-67A9-C305-9782-B7CA5860F164}"/>
              </a:ext>
            </a:extLst>
          </p:cNvPr>
          <p:cNvSpPr txBox="1"/>
          <p:nvPr/>
        </p:nvSpPr>
        <p:spPr>
          <a:xfrm>
            <a:off x="1110483" y="4861896"/>
            <a:ext cx="1454244" cy="369332"/>
          </a:xfrm>
          <a:prstGeom prst="rect">
            <a:avLst/>
          </a:prstGeom>
          <a:noFill/>
        </p:spPr>
        <p:txBody>
          <a:bodyPr wrap="none" rtlCol="0">
            <a:spAutoFit/>
          </a:bodyPr>
          <a:lstStyle/>
          <a:p>
            <a:r>
              <a:rPr lang="en-US" dirty="0"/>
              <a:t>Cancellation</a:t>
            </a:r>
          </a:p>
        </p:txBody>
      </p:sp>
      <p:sp>
        <p:nvSpPr>
          <p:cNvPr id="34" name="TextBox 33">
            <a:extLst>
              <a:ext uri="{FF2B5EF4-FFF2-40B4-BE49-F238E27FC236}">
                <a16:creationId xmlns:a16="http://schemas.microsoft.com/office/drawing/2014/main" id="{A16E694C-718E-B105-02D6-854836BF4026}"/>
              </a:ext>
            </a:extLst>
          </p:cNvPr>
          <p:cNvSpPr txBox="1"/>
          <p:nvPr/>
        </p:nvSpPr>
        <p:spPr>
          <a:xfrm>
            <a:off x="1331104" y="5382757"/>
            <a:ext cx="966931" cy="369332"/>
          </a:xfrm>
          <a:prstGeom prst="rect">
            <a:avLst/>
          </a:prstGeom>
          <a:noFill/>
        </p:spPr>
        <p:txBody>
          <a:bodyPr wrap="none" rtlCol="0">
            <a:spAutoFit/>
          </a:bodyPr>
          <a:lstStyle/>
          <a:p>
            <a:r>
              <a:rPr lang="en-US" dirty="0"/>
              <a:t>Ratings</a:t>
            </a:r>
          </a:p>
        </p:txBody>
      </p:sp>
      <p:sp>
        <p:nvSpPr>
          <p:cNvPr id="35" name="TextBox 34">
            <a:extLst>
              <a:ext uri="{FF2B5EF4-FFF2-40B4-BE49-F238E27FC236}">
                <a16:creationId xmlns:a16="http://schemas.microsoft.com/office/drawing/2014/main" id="{4AB8F8DC-6B18-8315-C6B4-C54DE76727DC}"/>
              </a:ext>
            </a:extLst>
          </p:cNvPr>
          <p:cNvSpPr txBox="1"/>
          <p:nvPr/>
        </p:nvSpPr>
        <p:spPr>
          <a:xfrm>
            <a:off x="4266092" y="2238632"/>
            <a:ext cx="1274708" cy="369332"/>
          </a:xfrm>
          <a:prstGeom prst="rect">
            <a:avLst/>
          </a:prstGeom>
          <a:noFill/>
        </p:spPr>
        <p:txBody>
          <a:bodyPr wrap="none" rtlCol="0">
            <a:spAutoFit/>
          </a:bodyPr>
          <a:lstStyle/>
          <a:p>
            <a:r>
              <a:rPr lang="en-US" dirty="0"/>
              <a:t>Slicer/date</a:t>
            </a:r>
          </a:p>
        </p:txBody>
      </p:sp>
      <p:sp>
        <p:nvSpPr>
          <p:cNvPr id="36" name="TextBox 35">
            <a:extLst>
              <a:ext uri="{FF2B5EF4-FFF2-40B4-BE49-F238E27FC236}">
                <a16:creationId xmlns:a16="http://schemas.microsoft.com/office/drawing/2014/main" id="{60A616CB-B736-4303-0559-546CC1A2C393}"/>
              </a:ext>
            </a:extLst>
          </p:cNvPr>
          <p:cNvSpPr txBox="1"/>
          <p:nvPr/>
        </p:nvSpPr>
        <p:spPr>
          <a:xfrm>
            <a:off x="3823643" y="3264589"/>
            <a:ext cx="2223750" cy="369332"/>
          </a:xfrm>
          <a:prstGeom prst="rect">
            <a:avLst/>
          </a:prstGeom>
          <a:noFill/>
        </p:spPr>
        <p:txBody>
          <a:bodyPr wrap="none" rtlCol="0">
            <a:spAutoFit/>
          </a:bodyPr>
          <a:lstStyle/>
          <a:p>
            <a:r>
              <a:rPr lang="en-US" dirty="0"/>
              <a:t>Card/Total bookings</a:t>
            </a:r>
          </a:p>
        </p:txBody>
      </p:sp>
      <p:sp>
        <p:nvSpPr>
          <p:cNvPr id="37" name="TextBox 36">
            <a:extLst>
              <a:ext uri="{FF2B5EF4-FFF2-40B4-BE49-F238E27FC236}">
                <a16:creationId xmlns:a16="http://schemas.microsoft.com/office/drawing/2014/main" id="{F16B79C0-F1ED-AE24-AA3A-B6B7D6507CC4}"/>
              </a:ext>
            </a:extLst>
          </p:cNvPr>
          <p:cNvSpPr txBox="1"/>
          <p:nvPr/>
        </p:nvSpPr>
        <p:spPr>
          <a:xfrm>
            <a:off x="7591695" y="2732122"/>
            <a:ext cx="2582758" cy="369332"/>
          </a:xfrm>
          <a:prstGeom prst="rect">
            <a:avLst/>
          </a:prstGeom>
          <a:noFill/>
        </p:spPr>
        <p:txBody>
          <a:bodyPr wrap="none" rtlCol="0">
            <a:spAutoFit/>
          </a:bodyPr>
          <a:lstStyle/>
          <a:p>
            <a:r>
              <a:rPr lang="en-US" dirty="0" err="1"/>
              <a:t>Piechart</a:t>
            </a:r>
            <a:r>
              <a:rPr lang="en-US" dirty="0"/>
              <a:t>/booking status</a:t>
            </a:r>
          </a:p>
        </p:txBody>
      </p:sp>
      <p:sp>
        <p:nvSpPr>
          <p:cNvPr id="38" name="TextBox 37">
            <a:extLst>
              <a:ext uri="{FF2B5EF4-FFF2-40B4-BE49-F238E27FC236}">
                <a16:creationId xmlns:a16="http://schemas.microsoft.com/office/drawing/2014/main" id="{9FE89FB6-52A7-DEBF-9015-9DFFFFC75866}"/>
              </a:ext>
            </a:extLst>
          </p:cNvPr>
          <p:cNvSpPr txBox="1"/>
          <p:nvPr/>
        </p:nvSpPr>
        <p:spPr>
          <a:xfrm>
            <a:off x="5162309" y="4943448"/>
            <a:ext cx="3608680" cy="369332"/>
          </a:xfrm>
          <a:prstGeom prst="rect">
            <a:avLst/>
          </a:prstGeom>
          <a:noFill/>
        </p:spPr>
        <p:txBody>
          <a:bodyPr wrap="none" rtlCol="0">
            <a:spAutoFit/>
          </a:bodyPr>
          <a:lstStyle/>
          <a:p>
            <a:r>
              <a:rPr lang="en-US" dirty="0"/>
              <a:t>Area chart/Ride Volume over time</a:t>
            </a:r>
          </a:p>
        </p:txBody>
      </p:sp>
    </p:spTree>
    <p:extLst>
      <p:ext uri="{BB962C8B-B14F-4D97-AF65-F5344CB8AC3E}">
        <p14:creationId xmlns:p14="http://schemas.microsoft.com/office/powerpoint/2010/main" val="1255344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2FC39-2898-93CB-6307-E0BE632B46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272D9B-2E73-FF87-2EA3-F1E27FCE8405}"/>
              </a:ext>
            </a:extLst>
          </p:cNvPr>
          <p:cNvSpPr txBox="1"/>
          <p:nvPr/>
        </p:nvSpPr>
        <p:spPr>
          <a:xfrm>
            <a:off x="324091" y="219919"/>
            <a:ext cx="2749471" cy="369332"/>
          </a:xfrm>
          <a:prstGeom prst="rect">
            <a:avLst/>
          </a:prstGeom>
          <a:noFill/>
        </p:spPr>
        <p:txBody>
          <a:bodyPr wrap="none" rtlCol="0">
            <a:spAutoFit/>
          </a:bodyPr>
          <a:lstStyle/>
          <a:p>
            <a:r>
              <a:rPr lang="en-US" b="1" dirty="0">
                <a:solidFill>
                  <a:srgbClr val="166A3F"/>
                </a:solidFill>
              </a:rPr>
              <a:t>Dashboard Layout (2/5)</a:t>
            </a:r>
          </a:p>
        </p:txBody>
      </p:sp>
      <p:sp>
        <p:nvSpPr>
          <p:cNvPr id="3" name="TextBox 2">
            <a:extLst>
              <a:ext uri="{FF2B5EF4-FFF2-40B4-BE49-F238E27FC236}">
                <a16:creationId xmlns:a16="http://schemas.microsoft.com/office/drawing/2014/main" id="{43FF8E6A-D920-26EE-1A4C-F5DB3861D1F3}"/>
              </a:ext>
            </a:extLst>
          </p:cNvPr>
          <p:cNvSpPr txBox="1"/>
          <p:nvPr/>
        </p:nvSpPr>
        <p:spPr>
          <a:xfrm>
            <a:off x="337595" y="729205"/>
            <a:ext cx="11516810" cy="954107"/>
          </a:xfrm>
          <a:prstGeom prst="rect">
            <a:avLst/>
          </a:prstGeom>
          <a:noFill/>
        </p:spPr>
        <p:txBody>
          <a:bodyPr wrap="square" rtlCol="0">
            <a:spAutoFit/>
          </a:bodyPr>
          <a:lstStyle/>
          <a:p>
            <a:r>
              <a:rPr lang="en-IN" sz="1400" b="1" dirty="0"/>
              <a:t>Performance by Vehicle Type</a:t>
            </a:r>
          </a:p>
          <a:p>
            <a:endParaRPr lang="en-IN" sz="1400" dirty="0"/>
          </a:p>
          <a:p>
            <a:r>
              <a:rPr lang="en-IN" sz="1400" dirty="0"/>
              <a:t>This dashboard compares all vehicle categories based on booking value, successful ride revenue, and distance metrics. It highlights high-revenue contributors and category-wise performance.</a:t>
            </a:r>
          </a:p>
        </p:txBody>
      </p:sp>
      <p:sp>
        <p:nvSpPr>
          <p:cNvPr id="8" name="Rectangle 7">
            <a:extLst>
              <a:ext uri="{FF2B5EF4-FFF2-40B4-BE49-F238E27FC236}">
                <a16:creationId xmlns:a16="http://schemas.microsoft.com/office/drawing/2014/main" id="{79AC708C-4F48-7E80-ACA6-AE8BBB565352}"/>
              </a:ext>
            </a:extLst>
          </p:cNvPr>
          <p:cNvSpPr/>
          <p:nvPr/>
        </p:nvSpPr>
        <p:spPr>
          <a:xfrm>
            <a:off x="555585" y="1759352"/>
            <a:ext cx="10567686"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D5C47D4-0D7E-BBC7-C5D2-8C221227A409}"/>
              </a:ext>
            </a:extLst>
          </p:cNvPr>
          <p:cNvSpPr/>
          <p:nvPr/>
        </p:nvSpPr>
        <p:spPr>
          <a:xfrm>
            <a:off x="555585" y="1759352"/>
            <a:ext cx="2517977"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E2B01D08-E04A-7B77-9F98-36D9A07F2E07}"/>
              </a:ext>
            </a:extLst>
          </p:cNvPr>
          <p:cNvSpPr/>
          <p:nvPr/>
        </p:nvSpPr>
        <p:spPr>
          <a:xfrm>
            <a:off x="856527" y="1960311"/>
            <a:ext cx="1817225" cy="925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Logo</a:t>
            </a:r>
          </a:p>
        </p:txBody>
      </p:sp>
      <p:sp>
        <p:nvSpPr>
          <p:cNvPr id="16" name="Terminator 15">
            <a:extLst>
              <a:ext uri="{FF2B5EF4-FFF2-40B4-BE49-F238E27FC236}">
                <a16:creationId xmlns:a16="http://schemas.microsoft.com/office/drawing/2014/main" id="{C2323A97-FAC7-5AD2-9AF8-28A0B3FF7D21}"/>
              </a:ext>
            </a:extLst>
          </p:cNvPr>
          <p:cNvSpPr/>
          <p:nvPr/>
        </p:nvSpPr>
        <p:spPr>
          <a:xfrm>
            <a:off x="703403" y="3240911"/>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Overall</a:t>
            </a:r>
            <a:r>
              <a:rPr lang="en-US" dirty="0" err="1"/>
              <a:t>ll</a:t>
            </a:r>
            <a:endParaRPr lang="en-US" dirty="0"/>
          </a:p>
        </p:txBody>
      </p:sp>
      <p:sp>
        <p:nvSpPr>
          <p:cNvPr id="18" name="Terminator 17">
            <a:extLst>
              <a:ext uri="{FF2B5EF4-FFF2-40B4-BE49-F238E27FC236}">
                <a16:creationId xmlns:a16="http://schemas.microsoft.com/office/drawing/2014/main" id="{22A14C10-3170-0636-9963-A3248E07F475}"/>
              </a:ext>
            </a:extLst>
          </p:cNvPr>
          <p:cNvSpPr/>
          <p:nvPr/>
        </p:nvSpPr>
        <p:spPr>
          <a:xfrm>
            <a:off x="700508" y="3750197"/>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rminator 19">
            <a:extLst>
              <a:ext uri="{FF2B5EF4-FFF2-40B4-BE49-F238E27FC236}">
                <a16:creationId xmlns:a16="http://schemas.microsoft.com/office/drawing/2014/main" id="{2F46876E-00A8-B0A6-0015-BF2685BBE990}"/>
              </a:ext>
            </a:extLst>
          </p:cNvPr>
          <p:cNvSpPr/>
          <p:nvPr/>
        </p:nvSpPr>
        <p:spPr>
          <a:xfrm>
            <a:off x="700507" y="4271058"/>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rminator 20">
            <a:extLst>
              <a:ext uri="{FF2B5EF4-FFF2-40B4-BE49-F238E27FC236}">
                <a16:creationId xmlns:a16="http://schemas.microsoft.com/office/drawing/2014/main" id="{E6936D6B-F011-B7C4-A650-952A80FC2EEB}"/>
              </a:ext>
            </a:extLst>
          </p:cNvPr>
          <p:cNvSpPr/>
          <p:nvPr/>
        </p:nvSpPr>
        <p:spPr>
          <a:xfrm>
            <a:off x="700507" y="4791919"/>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rminator 21">
            <a:extLst>
              <a:ext uri="{FF2B5EF4-FFF2-40B4-BE49-F238E27FC236}">
                <a16:creationId xmlns:a16="http://schemas.microsoft.com/office/drawing/2014/main" id="{F0029D71-E5AC-C111-DF39-C95E1258229E}"/>
              </a:ext>
            </a:extLst>
          </p:cNvPr>
          <p:cNvSpPr/>
          <p:nvPr/>
        </p:nvSpPr>
        <p:spPr>
          <a:xfrm>
            <a:off x="700506" y="5312780"/>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21648AFF-C163-854B-E0B0-97B1833A4EF0}"/>
              </a:ext>
            </a:extLst>
          </p:cNvPr>
          <p:cNvSpPr txBox="1"/>
          <p:nvPr/>
        </p:nvSpPr>
        <p:spPr>
          <a:xfrm>
            <a:off x="1163131" y="3820174"/>
            <a:ext cx="1488677" cy="369332"/>
          </a:xfrm>
          <a:prstGeom prst="rect">
            <a:avLst/>
          </a:prstGeom>
          <a:noFill/>
        </p:spPr>
        <p:txBody>
          <a:bodyPr wrap="none" rtlCol="0">
            <a:spAutoFit/>
          </a:bodyPr>
          <a:lstStyle/>
          <a:p>
            <a:r>
              <a:rPr lang="en-US" dirty="0"/>
              <a:t>Vehicle Type</a:t>
            </a:r>
          </a:p>
        </p:txBody>
      </p:sp>
      <p:sp>
        <p:nvSpPr>
          <p:cNvPr id="32" name="TextBox 31">
            <a:extLst>
              <a:ext uri="{FF2B5EF4-FFF2-40B4-BE49-F238E27FC236}">
                <a16:creationId xmlns:a16="http://schemas.microsoft.com/office/drawing/2014/main" id="{39F013BD-FAF0-A167-FFAA-2F97651ED2F1}"/>
              </a:ext>
            </a:extLst>
          </p:cNvPr>
          <p:cNvSpPr txBox="1"/>
          <p:nvPr/>
        </p:nvSpPr>
        <p:spPr>
          <a:xfrm>
            <a:off x="1211141" y="4341035"/>
            <a:ext cx="1107996" cy="369332"/>
          </a:xfrm>
          <a:prstGeom prst="rect">
            <a:avLst/>
          </a:prstGeom>
          <a:noFill/>
        </p:spPr>
        <p:txBody>
          <a:bodyPr wrap="none" rtlCol="0">
            <a:spAutoFit/>
          </a:bodyPr>
          <a:lstStyle/>
          <a:p>
            <a:r>
              <a:rPr lang="en-US" dirty="0"/>
              <a:t>Revenue</a:t>
            </a:r>
          </a:p>
        </p:txBody>
      </p:sp>
      <p:sp>
        <p:nvSpPr>
          <p:cNvPr id="33" name="TextBox 32">
            <a:extLst>
              <a:ext uri="{FF2B5EF4-FFF2-40B4-BE49-F238E27FC236}">
                <a16:creationId xmlns:a16="http://schemas.microsoft.com/office/drawing/2014/main" id="{BC2E21AC-F16C-C79E-7C60-2BCCD8BBEFAB}"/>
              </a:ext>
            </a:extLst>
          </p:cNvPr>
          <p:cNvSpPr txBox="1"/>
          <p:nvPr/>
        </p:nvSpPr>
        <p:spPr>
          <a:xfrm>
            <a:off x="1110483" y="4861896"/>
            <a:ext cx="1454244" cy="369332"/>
          </a:xfrm>
          <a:prstGeom prst="rect">
            <a:avLst/>
          </a:prstGeom>
          <a:noFill/>
        </p:spPr>
        <p:txBody>
          <a:bodyPr wrap="none" rtlCol="0">
            <a:spAutoFit/>
          </a:bodyPr>
          <a:lstStyle/>
          <a:p>
            <a:r>
              <a:rPr lang="en-US" dirty="0"/>
              <a:t>Cancellation</a:t>
            </a:r>
          </a:p>
        </p:txBody>
      </p:sp>
      <p:sp>
        <p:nvSpPr>
          <p:cNvPr id="34" name="TextBox 33">
            <a:extLst>
              <a:ext uri="{FF2B5EF4-FFF2-40B4-BE49-F238E27FC236}">
                <a16:creationId xmlns:a16="http://schemas.microsoft.com/office/drawing/2014/main" id="{4EB2D571-895E-84B8-D130-57EECD1626BF}"/>
              </a:ext>
            </a:extLst>
          </p:cNvPr>
          <p:cNvSpPr txBox="1"/>
          <p:nvPr/>
        </p:nvSpPr>
        <p:spPr>
          <a:xfrm>
            <a:off x="1331104" y="5382757"/>
            <a:ext cx="966931" cy="369332"/>
          </a:xfrm>
          <a:prstGeom prst="rect">
            <a:avLst/>
          </a:prstGeom>
          <a:noFill/>
        </p:spPr>
        <p:txBody>
          <a:bodyPr wrap="none" rtlCol="0">
            <a:spAutoFit/>
          </a:bodyPr>
          <a:lstStyle/>
          <a:p>
            <a:r>
              <a:rPr lang="en-US" dirty="0"/>
              <a:t>Ratings</a:t>
            </a:r>
          </a:p>
        </p:txBody>
      </p:sp>
      <p:cxnSp>
        <p:nvCxnSpPr>
          <p:cNvPr id="7" name="Straight Connector 6">
            <a:extLst>
              <a:ext uri="{FF2B5EF4-FFF2-40B4-BE49-F238E27FC236}">
                <a16:creationId xmlns:a16="http://schemas.microsoft.com/office/drawing/2014/main" id="{831F3D91-BE4B-EEDC-2FFC-2E932F3F1C73}"/>
              </a:ext>
            </a:extLst>
          </p:cNvPr>
          <p:cNvCxnSpPr>
            <a:cxnSpLocks/>
          </p:cNvCxnSpPr>
          <p:nvPr/>
        </p:nvCxnSpPr>
        <p:spPr>
          <a:xfrm>
            <a:off x="4745620" y="1759349"/>
            <a:ext cx="0" cy="4490977"/>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174C6656-2BCE-E742-5651-C3C4B497DAAC}"/>
              </a:ext>
            </a:extLst>
          </p:cNvPr>
          <p:cNvCxnSpPr>
            <a:cxnSpLocks/>
          </p:cNvCxnSpPr>
          <p:nvPr/>
        </p:nvCxnSpPr>
        <p:spPr>
          <a:xfrm>
            <a:off x="6472177" y="1759349"/>
            <a:ext cx="0" cy="4490977"/>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1D5BA839-83DE-BEA9-0A67-C0DE951ECE6F}"/>
              </a:ext>
            </a:extLst>
          </p:cNvPr>
          <p:cNvCxnSpPr>
            <a:cxnSpLocks/>
          </p:cNvCxnSpPr>
          <p:nvPr/>
        </p:nvCxnSpPr>
        <p:spPr>
          <a:xfrm>
            <a:off x="8011611" y="1759349"/>
            <a:ext cx="0" cy="4490977"/>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056E909-C24E-FA7F-A082-939B7E7D60EC}"/>
              </a:ext>
            </a:extLst>
          </p:cNvPr>
          <p:cNvCxnSpPr>
            <a:cxnSpLocks/>
          </p:cNvCxnSpPr>
          <p:nvPr/>
        </p:nvCxnSpPr>
        <p:spPr>
          <a:xfrm>
            <a:off x="9562617" y="1759349"/>
            <a:ext cx="0" cy="4490977"/>
          </a:xfrm>
          <a:prstGeom prst="line">
            <a:avLst/>
          </a:prstGeom>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E9EC473B-C1B2-A756-3B55-8C58235B2A1A}"/>
              </a:ext>
            </a:extLst>
          </p:cNvPr>
          <p:cNvCxnSpPr/>
          <p:nvPr/>
        </p:nvCxnSpPr>
        <p:spPr>
          <a:xfrm>
            <a:off x="3073560" y="2581155"/>
            <a:ext cx="8049709"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250576CE-0B0A-DC87-C4E5-AD7CAF792812}"/>
              </a:ext>
            </a:extLst>
          </p:cNvPr>
          <p:cNvCxnSpPr/>
          <p:nvPr/>
        </p:nvCxnSpPr>
        <p:spPr>
          <a:xfrm>
            <a:off x="3073560" y="3264060"/>
            <a:ext cx="8049709" cy="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C8B32C6-D48C-07A7-236F-F0AE58CA25ED}"/>
              </a:ext>
            </a:extLst>
          </p:cNvPr>
          <p:cNvCxnSpPr/>
          <p:nvPr/>
        </p:nvCxnSpPr>
        <p:spPr>
          <a:xfrm>
            <a:off x="3073559" y="4791919"/>
            <a:ext cx="8049709"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59F9CA26-E6DF-F977-0FF5-F80D20E34A3E}"/>
              </a:ext>
            </a:extLst>
          </p:cNvPr>
          <p:cNvCxnSpPr/>
          <p:nvPr/>
        </p:nvCxnSpPr>
        <p:spPr>
          <a:xfrm>
            <a:off x="3073561" y="5650376"/>
            <a:ext cx="8049709" cy="0"/>
          </a:xfrm>
          <a:prstGeom prst="line">
            <a:avLst/>
          </a:prstGeom>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39F4E42B-011C-9367-3B71-33B7FBDBBDD7}"/>
              </a:ext>
            </a:extLst>
          </p:cNvPr>
          <p:cNvSpPr txBox="1"/>
          <p:nvPr/>
        </p:nvSpPr>
        <p:spPr>
          <a:xfrm>
            <a:off x="3394607" y="1979626"/>
            <a:ext cx="1151021" cy="307777"/>
          </a:xfrm>
          <a:prstGeom prst="rect">
            <a:avLst/>
          </a:prstGeom>
          <a:noFill/>
        </p:spPr>
        <p:txBody>
          <a:bodyPr wrap="none" rtlCol="0">
            <a:spAutoFit/>
          </a:bodyPr>
          <a:lstStyle/>
          <a:p>
            <a:r>
              <a:rPr lang="en-US" sz="1400" dirty="0"/>
              <a:t>Vehicle type</a:t>
            </a:r>
          </a:p>
        </p:txBody>
      </p:sp>
      <p:sp>
        <p:nvSpPr>
          <p:cNvPr id="43" name="TextBox 42">
            <a:extLst>
              <a:ext uri="{FF2B5EF4-FFF2-40B4-BE49-F238E27FC236}">
                <a16:creationId xmlns:a16="http://schemas.microsoft.com/office/drawing/2014/main" id="{A6A07EDD-5C68-A38C-4F8B-5AF6D301AD35}"/>
              </a:ext>
            </a:extLst>
          </p:cNvPr>
          <p:cNvSpPr txBox="1"/>
          <p:nvPr/>
        </p:nvSpPr>
        <p:spPr>
          <a:xfrm>
            <a:off x="4755681" y="1995936"/>
            <a:ext cx="1716496" cy="307777"/>
          </a:xfrm>
          <a:prstGeom prst="rect">
            <a:avLst/>
          </a:prstGeom>
          <a:noFill/>
        </p:spPr>
        <p:txBody>
          <a:bodyPr wrap="none" rtlCol="0">
            <a:spAutoFit/>
          </a:bodyPr>
          <a:lstStyle/>
          <a:p>
            <a:r>
              <a:rPr lang="en-US" sz="1400" dirty="0"/>
              <a:t>Total booking value</a:t>
            </a:r>
          </a:p>
        </p:txBody>
      </p:sp>
      <p:sp>
        <p:nvSpPr>
          <p:cNvPr id="44" name="TextBox 43">
            <a:extLst>
              <a:ext uri="{FF2B5EF4-FFF2-40B4-BE49-F238E27FC236}">
                <a16:creationId xmlns:a16="http://schemas.microsoft.com/office/drawing/2014/main" id="{0CE4374F-D726-FC8C-4192-173F8E5A2AC5}"/>
              </a:ext>
            </a:extLst>
          </p:cNvPr>
          <p:cNvSpPr txBox="1"/>
          <p:nvPr/>
        </p:nvSpPr>
        <p:spPr>
          <a:xfrm>
            <a:off x="6482237" y="1926005"/>
            <a:ext cx="1588897" cy="523220"/>
          </a:xfrm>
          <a:prstGeom prst="rect">
            <a:avLst/>
          </a:prstGeom>
          <a:noFill/>
        </p:spPr>
        <p:txBody>
          <a:bodyPr wrap="none" rtlCol="0">
            <a:spAutoFit/>
          </a:bodyPr>
          <a:lstStyle/>
          <a:p>
            <a:pPr algn="ctr"/>
            <a:r>
              <a:rPr lang="en-US" sz="1400" dirty="0"/>
              <a:t>Success booking </a:t>
            </a:r>
          </a:p>
          <a:p>
            <a:pPr algn="ctr"/>
            <a:r>
              <a:rPr lang="en-US" sz="1400" dirty="0"/>
              <a:t>value</a:t>
            </a:r>
          </a:p>
        </p:txBody>
      </p:sp>
      <p:sp>
        <p:nvSpPr>
          <p:cNvPr id="45" name="TextBox 44">
            <a:extLst>
              <a:ext uri="{FF2B5EF4-FFF2-40B4-BE49-F238E27FC236}">
                <a16:creationId xmlns:a16="http://schemas.microsoft.com/office/drawing/2014/main" id="{C60C784C-7696-159B-D646-205FB29AC901}"/>
              </a:ext>
            </a:extLst>
          </p:cNvPr>
          <p:cNvSpPr txBox="1"/>
          <p:nvPr/>
        </p:nvSpPr>
        <p:spPr>
          <a:xfrm>
            <a:off x="8011610" y="1987561"/>
            <a:ext cx="1625381" cy="307777"/>
          </a:xfrm>
          <a:prstGeom prst="rect">
            <a:avLst/>
          </a:prstGeom>
          <a:noFill/>
        </p:spPr>
        <p:txBody>
          <a:bodyPr wrap="none" rtlCol="0">
            <a:spAutoFit/>
          </a:bodyPr>
          <a:lstStyle/>
          <a:p>
            <a:r>
              <a:rPr lang="en-US" sz="1400" dirty="0" err="1"/>
              <a:t>Avg.Dist</a:t>
            </a:r>
            <a:r>
              <a:rPr lang="en-US" sz="1400" dirty="0"/>
              <a:t> Travelled</a:t>
            </a:r>
          </a:p>
        </p:txBody>
      </p:sp>
      <p:sp>
        <p:nvSpPr>
          <p:cNvPr id="46" name="TextBox 45">
            <a:extLst>
              <a:ext uri="{FF2B5EF4-FFF2-40B4-BE49-F238E27FC236}">
                <a16:creationId xmlns:a16="http://schemas.microsoft.com/office/drawing/2014/main" id="{DE162044-8D66-E267-F508-70741A6F7776}"/>
              </a:ext>
            </a:extLst>
          </p:cNvPr>
          <p:cNvSpPr txBox="1"/>
          <p:nvPr/>
        </p:nvSpPr>
        <p:spPr>
          <a:xfrm>
            <a:off x="9549256" y="2026888"/>
            <a:ext cx="1617109" cy="307777"/>
          </a:xfrm>
          <a:prstGeom prst="rect">
            <a:avLst/>
          </a:prstGeom>
          <a:noFill/>
        </p:spPr>
        <p:txBody>
          <a:bodyPr wrap="none" rtlCol="0">
            <a:spAutoFit/>
          </a:bodyPr>
          <a:lstStyle/>
          <a:p>
            <a:r>
              <a:rPr lang="en-US" sz="1400" dirty="0"/>
              <a:t>Total </a:t>
            </a:r>
            <a:r>
              <a:rPr lang="en-US" sz="1400" dirty="0" err="1"/>
              <a:t>dist</a:t>
            </a:r>
            <a:r>
              <a:rPr lang="en-US" sz="1400" dirty="0"/>
              <a:t> travelled</a:t>
            </a:r>
          </a:p>
        </p:txBody>
      </p:sp>
      <p:sp>
        <p:nvSpPr>
          <p:cNvPr id="47" name="TextBox 46">
            <a:extLst>
              <a:ext uri="{FF2B5EF4-FFF2-40B4-BE49-F238E27FC236}">
                <a16:creationId xmlns:a16="http://schemas.microsoft.com/office/drawing/2014/main" id="{0087E091-3641-A07C-F33F-31473B80C38C}"/>
              </a:ext>
            </a:extLst>
          </p:cNvPr>
          <p:cNvSpPr txBox="1"/>
          <p:nvPr/>
        </p:nvSpPr>
        <p:spPr>
          <a:xfrm>
            <a:off x="5435591" y="3741002"/>
            <a:ext cx="2501647" cy="646331"/>
          </a:xfrm>
          <a:prstGeom prst="rect">
            <a:avLst/>
          </a:prstGeom>
          <a:noFill/>
        </p:spPr>
        <p:txBody>
          <a:bodyPr wrap="none" rtlCol="0">
            <a:spAutoFit/>
          </a:bodyPr>
          <a:lstStyle/>
          <a:p>
            <a:r>
              <a:rPr lang="en-IN" dirty="0"/>
              <a:t>Power BI Matrix Visual</a:t>
            </a:r>
          </a:p>
          <a:p>
            <a:endParaRPr lang="en-US" dirty="0"/>
          </a:p>
        </p:txBody>
      </p:sp>
    </p:spTree>
    <p:extLst>
      <p:ext uri="{BB962C8B-B14F-4D97-AF65-F5344CB8AC3E}">
        <p14:creationId xmlns:p14="http://schemas.microsoft.com/office/powerpoint/2010/main" val="1775544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AD336-8939-1F60-3062-07A5128023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2299A4-A478-BA9A-37FE-73DDE451C274}"/>
              </a:ext>
            </a:extLst>
          </p:cNvPr>
          <p:cNvSpPr txBox="1"/>
          <p:nvPr/>
        </p:nvSpPr>
        <p:spPr>
          <a:xfrm>
            <a:off x="324091" y="219919"/>
            <a:ext cx="2749471" cy="369332"/>
          </a:xfrm>
          <a:prstGeom prst="rect">
            <a:avLst/>
          </a:prstGeom>
          <a:noFill/>
        </p:spPr>
        <p:txBody>
          <a:bodyPr wrap="none" rtlCol="0">
            <a:spAutoFit/>
          </a:bodyPr>
          <a:lstStyle/>
          <a:p>
            <a:r>
              <a:rPr lang="en-US" b="1" dirty="0">
                <a:solidFill>
                  <a:srgbClr val="166A3F"/>
                </a:solidFill>
              </a:rPr>
              <a:t>Dashboard Layout (3/5)</a:t>
            </a:r>
          </a:p>
        </p:txBody>
      </p:sp>
      <p:sp>
        <p:nvSpPr>
          <p:cNvPr id="3" name="TextBox 2">
            <a:extLst>
              <a:ext uri="{FF2B5EF4-FFF2-40B4-BE49-F238E27FC236}">
                <a16:creationId xmlns:a16="http://schemas.microsoft.com/office/drawing/2014/main" id="{E10E46BA-CC33-74C5-645E-FD7043A4DBBC}"/>
              </a:ext>
            </a:extLst>
          </p:cNvPr>
          <p:cNvSpPr txBox="1"/>
          <p:nvPr/>
        </p:nvSpPr>
        <p:spPr>
          <a:xfrm>
            <a:off x="337595" y="729205"/>
            <a:ext cx="11516810" cy="738664"/>
          </a:xfrm>
          <a:prstGeom prst="rect">
            <a:avLst/>
          </a:prstGeom>
          <a:noFill/>
        </p:spPr>
        <p:txBody>
          <a:bodyPr wrap="square" rtlCol="0">
            <a:spAutoFit/>
          </a:bodyPr>
          <a:lstStyle/>
          <a:p>
            <a:r>
              <a:rPr lang="en-IN" sz="1400" b="1" dirty="0"/>
              <a:t>Revenue Insights &amp; Ride Distance Analysis</a:t>
            </a:r>
            <a:endParaRPr lang="en-IN" sz="1400" dirty="0"/>
          </a:p>
          <a:p>
            <a:endParaRPr lang="en-IN" sz="1400" dirty="0"/>
          </a:p>
          <a:p>
            <a:r>
              <a:rPr lang="en-IN" sz="1400" dirty="0"/>
              <a:t>This dashboard summarizes revenue distribution across payment methods, daily ride distances, and top revenue-generating customers.</a:t>
            </a:r>
          </a:p>
        </p:txBody>
      </p:sp>
      <p:sp>
        <p:nvSpPr>
          <p:cNvPr id="8" name="Rectangle 7">
            <a:extLst>
              <a:ext uri="{FF2B5EF4-FFF2-40B4-BE49-F238E27FC236}">
                <a16:creationId xmlns:a16="http://schemas.microsoft.com/office/drawing/2014/main" id="{66EBA243-36E3-DDB7-F703-D3493C788CD8}"/>
              </a:ext>
            </a:extLst>
          </p:cNvPr>
          <p:cNvSpPr/>
          <p:nvPr/>
        </p:nvSpPr>
        <p:spPr>
          <a:xfrm>
            <a:off x="555585" y="1759352"/>
            <a:ext cx="10567686"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76528A-F003-601A-7A53-8603C48865BD}"/>
              </a:ext>
            </a:extLst>
          </p:cNvPr>
          <p:cNvSpPr/>
          <p:nvPr/>
        </p:nvSpPr>
        <p:spPr>
          <a:xfrm>
            <a:off x="555585" y="1759352"/>
            <a:ext cx="2517977"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816B2ABD-E51A-2517-38CA-194383575B23}"/>
              </a:ext>
            </a:extLst>
          </p:cNvPr>
          <p:cNvSpPr/>
          <p:nvPr/>
        </p:nvSpPr>
        <p:spPr>
          <a:xfrm>
            <a:off x="3536186" y="1960311"/>
            <a:ext cx="7320868" cy="185986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9E14B1BD-23A1-CE1F-75CF-8135676716F5}"/>
              </a:ext>
            </a:extLst>
          </p:cNvPr>
          <p:cNvSpPr/>
          <p:nvPr/>
        </p:nvSpPr>
        <p:spPr>
          <a:xfrm>
            <a:off x="3483537" y="3935393"/>
            <a:ext cx="3681191" cy="21934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69E0E81F-5713-B86C-D4F0-811F2D027FFC}"/>
              </a:ext>
            </a:extLst>
          </p:cNvPr>
          <p:cNvSpPr/>
          <p:nvPr/>
        </p:nvSpPr>
        <p:spPr>
          <a:xfrm>
            <a:off x="856527" y="1960311"/>
            <a:ext cx="1817225" cy="925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Logo</a:t>
            </a:r>
          </a:p>
        </p:txBody>
      </p:sp>
      <p:sp>
        <p:nvSpPr>
          <p:cNvPr id="16" name="Terminator 15">
            <a:extLst>
              <a:ext uri="{FF2B5EF4-FFF2-40B4-BE49-F238E27FC236}">
                <a16:creationId xmlns:a16="http://schemas.microsoft.com/office/drawing/2014/main" id="{E682886F-BF0D-F379-A890-E7DF11F28E52}"/>
              </a:ext>
            </a:extLst>
          </p:cNvPr>
          <p:cNvSpPr/>
          <p:nvPr/>
        </p:nvSpPr>
        <p:spPr>
          <a:xfrm>
            <a:off x="703403" y="3240911"/>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Overall</a:t>
            </a:r>
            <a:r>
              <a:rPr lang="en-US" dirty="0" err="1"/>
              <a:t>ll</a:t>
            </a:r>
            <a:endParaRPr lang="en-US" dirty="0"/>
          </a:p>
        </p:txBody>
      </p:sp>
      <p:sp>
        <p:nvSpPr>
          <p:cNvPr id="18" name="Terminator 17">
            <a:extLst>
              <a:ext uri="{FF2B5EF4-FFF2-40B4-BE49-F238E27FC236}">
                <a16:creationId xmlns:a16="http://schemas.microsoft.com/office/drawing/2014/main" id="{07BF17D4-D216-2C9F-7416-A1861D65D94F}"/>
              </a:ext>
            </a:extLst>
          </p:cNvPr>
          <p:cNvSpPr/>
          <p:nvPr/>
        </p:nvSpPr>
        <p:spPr>
          <a:xfrm>
            <a:off x="700508" y="3750197"/>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rminator 19">
            <a:extLst>
              <a:ext uri="{FF2B5EF4-FFF2-40B4-BE49-F238E27FC236}">
                <a16:creationId xmlns:a16="http://schemas.microsoft.com/office/drawing/2014/main" id="{053FF6E2-A815-E3C3-D393-632E89E7CB04}"/>
              </a:ext>
            </a:extLst>
          </p:cNvPr>
          <p:cNvSpPr/>
          <p:nvPr/>
        </p:nvSpPr>
        <p:spPr>
          <a:xfrm>
            <a:off x="700507" y="4271058"/>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rminator 20">
            <a:extLst>
              <a:ext uri="{FF2B5EF4-FFF2-40B4-BE49-F238E27FC236}">
                <a16:creationId xmlns:a16="http://schemas.microsoft.com/office/drawing/2014/main" id="{46485A9A-4E3A-CB00-5094-7B4ECCF88116}"/>
              </a:ext>
            </a:extLst>
          </p:cNvPr>
          <p:cNvSpPr/>
          <p:nvPr/>
        </p:nvSpPr>
        <p:spPr>
          <a:xfrm>
            <a:off x="700507" y="4791919"/>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rminator 21">
            <a:extLst>
              <a:ext uri="{FF2B5EF4-FFF2-40B4-BE49-F238E27FC236}">
                <a16:creationId xmlns:a16="http://schemas.microsoft.com/office/drawing/2014/main" id="{E1AAD31A-C323-8FE7-E8E5-C70E98B59D97}"/>
              </a:ext>
            </a:extLst>
          </p:cNvPr>
          <p:cNvSpPr/>
          <p:nvPr/>
        </p:nvSpPr>
        <p:spPr>
          <a:xfrm>
            <a:off x="700506" y="5312780"/>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B23367B-056C-08A3-6EF4-BE452AF8AB92}"/>
              </a:ext>
            </a:extLst>
          </p:cNvPr>
          <p:cNvSpPr txBox="1"/>
          <p:nvPr/>
        </p:nvSpPr>
        <p:spPr>
          <a:xfrm>
            <a:off x="1163131" y="3820174"/>
            <a:ext cx="1488677" cy="369332"/>
          </a:xfrm>
          <a:prstGeom prst="rect">
            <a:avLst/>
          </a:prstGeom>
          <a:noFill/>
        </p:spPr>
        <p:txBody>
          <a:bodyPr wrap="none" rtlCol="0">
            <a:spAutoFit/>
          </a:bodyPr>
          <a:lstStyle/>
          <a:p>
            <a:r>
              <a:rPr lang="en-US" dirty="0"/>
              <a:t>Vehicle Type</a:t>
            </a:r>
          </a:p>
        </p:txBody>
      </p:sp>
      <p:sp>
        <p:nvSpPr>
          <p:cNvPr id="32" name="TextBox 31">
            <a:extLst>
              <a:ext uri="{FF2B5EF4-FFF2-40B4-BE49-F238E27FC236}">
                <a16:creationId xmlns:a16="http://schemas.microsoft.com/office/drawing/2014/main" id="{7DED82A6-CCAB-751B-D652-3FD8F6254DE3}"/>
              </a:ext>
            </a:extLst>
          </p:cNvPr>
          <p:cNvSpPr txBox="1"/>
          <p:nvPr/>
        </p:nvSpPr>
        <p:spPr>
          <a:xfrm>
            <a:off x="1211141" y="4341035"/>
            <a:ext cx="1107996" cy="369332"/>
          </a:xfrm>
          <a:prstGeom prst="rect">
            <a:avLst/>
          </a:prstGeom>
          <a:noFill/>
        </p:spPr>
        <p:txBody>
          <a:bodyPr wrap="none" rtlCol="0">
            <a:spAutoFit/>
          </a:bodyPr>
          <a:lstStyle/>
          <a:p>
            <a:r>
              <a:rPr lang="en-US" dirty="0"/>
              <a:t>Revenue</a:t>
            </a:r>
          </a:p>
        </p:txBody>
      </p:sp>
      <p:sp>
        <p:nvSpPr>
          <p:cNvPr id="33" name="TextBox 32">
            <a:extLst>
              <a:ext uri="{FF2B5EF4-FFF2-40B4-BE49-F238E27FC236}">
                <a16:creationId xmlns:a16="http://schemas.microsoft.com/office/drawing/2014/main" id="{193E645D-AA87-9B1C-4373-1E73770F1429}"/>
              </a:ext>
            </a:extLst>
          </p:cNvPr>
          <p:cNvSpPr txBox="1"/>
          <p:nvPr/>
        </p:nvSpPr>
        <p:spPr>
          <a:xfrm>
            <a:off x="1110483" y="4861896"/>
            <a:ext cx="1454244" cy="369332"/>
          </a:xfrm>
          <a:prstGeom prst="rect">
            <a:avLst/>
          </a:prstGeom>
          <a:noFill/>
        </p:spPr>
        <p:txBody>
          <a:bodyPr wrap="none" rtlCol="0">
            <a:spAutoFit/>
          </a:bodyPr>
          <a:lstStyle/>
          <a:p>
            <a:r>
              <a:rPr lang="en-US" dirty="0"/>
              <a:t>Cancellation</a:t>
            </a:r>
          </a:p>
        </p:txBody>
      </p:sp>
      <p:sp>
        <p:nvSpPr>
          <p:cNvPr id="34" name="TextBox 33">
            <a:extLst>
              <a:ext uri="{FF2B5EF4-FFF2-40B4-BE49-F238E27FC236}">
                <a16:creationId xmlns:a16="http://schemas.microsoft.com/office/drawing/2014/main" id="{70A805EF-F42F-1F85-D727-D0FB228868AF}"/>
              </a:ext>
            </a:extLst>
          </p:cNvPr>
          <p:cNvSpPr txBox="1"/>
          <p:nvPr/>
        </p:nvSpPr>
        <p:spPr>
          <a:xfrm>
            <a:off x="1331104" y="5382757"/>
            <a:ext cx="966931" cy="369332"/>
          </a:xfrm>
          <a:prstGeom prst="rect">
            <a:avLst/>
          </a:prstGeom>
          <a:noFill/>
        </p:spPr>
        <p:txBody>
          <a:bodyPr wrap="none" rtlCol="0">
            <a:spAutoFit/>
          </a:bodyPr>
          <a:lstStyle/>
          <a:p>
            <a:r>
              <a:rPr lang="en-US" dirty="0"/>
              <a:t>Ratings</a:t>
            </a:r>
          </a:p>
        </p:txBody>
      </p:sp>
      <p:sp>
        <p:nvSpPr>
          <p:cNvPr id="4" name="TextBox 3">
            <a:extLst>
              <a:ext uri="{FF2B5EF4-FFF2-40B4-BE49-F238E27FC236}">
                <a16:creationId xmlns:a16="http://schemas.microsoft.com/office/drawing/2014/main" id="{A573ED6D-81A2-BAEF-0751-2578100FF67B}"/>
              </a:ext>
            </a:extLst>
          </p:cNvPr>
          <p:cNvSpPr txBox="1"/>
          <p:nvPr/>
        </p:nvSpPr>
        <p:spPr>
          <a:xfrm>
            <a:off x="5294076" y="2588000"/>
            <a:ext cx="3608680" cy="369332"/>
          </a:xfrm>
          <a:prstGeom prst="rect">
            <a:avLst/>
          </a:prstGeom>
          <a:noFill/>
        </p:spPr>
        <p:txBody>
          <a:bodyPr wrap="none" rtlCol="0">
            <a:spAutoFit/>
          </a:bodyPr>
          <a:lstStyle/>
          <a:p>
            <a:r>
              <a:rPr lang="en-US" dirty="0" err="1"/>
              <a:t>Barchart</a:t>
            </a:r>
            <a:r>
              <a:rPr lang="en-US" dirty="0"/>
              <a:t>/ride distance distribution</a:t>
            </a:r>
          </a:p>
        </p:txBody>
      </p:sp>
      <p:sp>
        <p:nvSpPr>
          <p:cNvPr id="5" name="TextBox 4">
            <a:extLst>
              <a:ext uri="{FF2B5EF4-FFF2-40B4-BE49-F238E27FC236}">
                <a16:creationId xmlns:a16="http://schemas.microsoft.com/office/drawing/2014/main" id="{45CC7054-8AC6-6677-5AFE-11B57674A969}"/>
              </a:ext>
            </a:extLst>
          </p:cNvPr>
          <p:cNvSpPr txBox="1"/>
          <p:nvPr/>
        </p:nvSpPr>
        <p:spPr>
          <a:xfrm>
            <a:off x="3569727" y="4710367"/>
            <a:ext cx="3528689" cy="646331"/>
          </a:xfrm>
          <a:prstGeom prst="rect">
            <a:avLst/>
          </a:prstGeom>
          <a:noFill/>
        </p:spPr>
        <p:txBody>
          <a:bodyPr wrap="square" rtlCol="0">
            <a:spAutoFit/>
          </a:bodyPr>
          <a:lstStyle/>
          <a:p>
            <a:pPr algn="ctr"/>
            <a:r>
              <a:rPr lang="en-US" dirty="0"/>
              <a:t>Column chart/revenue by payment method</a:t>
            </a:r>
          </a:p>
        </p:txBody>
      </p:sp>
      <p:sp>
        <p:nvSpPr>
          <p:cNvPr id="6" name="Rounded Rectangle 5">
            <a:extLst>
              <a:ext uri="{FF2B5EF4-FFF2-40B4-BE49-F238E27FC236}">
                <a16:creationId xmlns:a16="http://schemas.microsoft.com/office/drawing/2014/main" id="{45B1FFFC-5B3A-4327-0A9F-C60EE3C0666F}"/>
              </a:ext>
            </a:extLst>
          </p:cNvPr>
          <p:cNvSpPr/>
          <p:nvPr/>
        </p:nvSpPr>
        <p:spPr>
          <a:xfrm>
            <a:off x="7581418" y="3935393"/>
            <a:ext cx="3275636" cy="129583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B0E736-7ECA-2B31-FC95-CD8732861D71}"/>
              </a:ext>
            </a:extLst>
          </p:cNvPr>
          <p:cNvSpPr txBox="1"/>
          <p:nvPr/>
        </p:nvSpPr>
        <p:spPr>
          <a:xfrm>
            <a:off x="8135801" y="4398644"/>
            <a:ext cx="1877502" cy="369332"/>
          </a:xfrm>
          <a:prstGeom prst="rect">
            <a:avLst/>
          </a:prstGeom>
          <a:noFill/>
        </p:spPr>
        <p:txBody>
          <a:bodyPr wrap="none" rtlCol="0">
            <a:spAutoFit/>
          </a:bodyPr>
          <a:lstStyle/>
          <a:p>
            <a:r>
              <a:rPr lang="en-US" dirty="0"/>
              <a:t>Top 5 customers</a:t>
            </a:r>
          </a:p>
        </p:txBody>
      </p:sp>
      <p:sp>
        <p:nvSpPr>
          <p:cNvPr id="17" name="Rounded Rectangle 16">
            <a:extLst>
              <a:ext uri="{FF2B5EF4-FFF2-40B4-BE49-F238E27FC236}">
                <a16:creationId xmlns:a16="http://schemas.microsoft.com/office/drawing/2014/main" id="{7295E7DF-3446-3BCB-6DEC-6C49893BD327}"/>
              </a:ext>
            </a:extLst>
          </p:cNvPr>
          <p:cNvSpPr/>
          <p:nvPr/>
        </p:nvSpPr>
        <p:spPr>
          <a:xfrm>
            <a:off x="7581418" y="5356698"/>
            <a:ext cx="3275635" cy="76657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C1D40FD-7FBF-410B-62C9-9BF2977270F2}"/>
              </a:ext>
            </a:extLst>
          </p:cNvPr>
          <p:cNvSpPr txBox="1"/>
          <p:nvPr/>
        </p:nvSpPr>
        <p:spPr>
          <a:xfrm>
            <a:off x="8385113" y="5567423"/>
            <a:ext cx="1274708" cy="369332"/>
          </a:xfrm>
          <a:prstGeom prst="rect">
            <a:avLst/>
          </a:prstGeom>
          <a:noFill/>
        </p:spPr>
        <p:txBody>
          <a:bodyPr wrap="none" rtlCol="0">
            <a:spAutoFit/>
          </a:bodyPr>
          <a:lstStyle/>
          <a:p>
            <a:r>
              <a:rPr lang="en-US" dirty="0"/>
              <a:t>Slicer/date</a:t>
            </a:r>
          </a:p>
        </p:txBody>
      </p:sp>
    </p:spTree>
    <p:extLst>
      <p:ext uri="{BB962C8B-B14F-4D97-AF65-F5344CB8AC3E}">
        <p14:creationId xmlns:p14="http://schemas.microsoft.com/office/powerpoint/2010/main" val="31490482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7DEB-F746-A178-DBCA-0A6AD8AA1E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7039A-3E3B-9197-D266-A13A910171D5}"/>
              </a:ext>
            </a:extLst>
          </p:cNvPr>
          <p:cNvSpPr txBox="1"/>
          <p:nvPr/>
        </p:nvSpPr>
        <p:spPr>
          <a:xfrm>
            <a:off x="324091" y="219919"/>
            <a:ext cx="2749471" cy="369332"/>
          </a:xfrm>
          <a:prstGeom prst="rect">
            <a:avLst/>
          </a:prstGeom>
          <a:noFill/>
        </p:spPr>
        <p:txBody>
          <a:bodyPr wrap="none" rtlCol="0">
            <a:spAutoFit/>
          </a:bodyPr>
          <a:lstStyle/>
          <a:p>
            <a:r>
              <a:rPr lang="en-US" b="1" dirty="0">
                <a:solidFill>
                  <a:srgbClr val="166A3F"/>
                </a:solidFill>
              </a:rPr>
              <a:t>Dashboard Layout (4/5)</a:t>
            </a:r>
          </a:p>
        </p:txBody>
      </p:sp>
      <p:sp>
        <p:nvSpPr>
          <p:cNvPr id="3" name="TextBox 2">
            <a:extLst>
              <a:ext uri="{FF2B5EF4-FFF2-40B4-BE49-F238E27FC236}">
                <a16:creationId xmlns:a16="http://schemas.microsoft.com/office/drawing/2014/main" id="{6B599E50-522B-47BC-1F6C-C1FA4F817714}"/>
              </a:ext>
            </a:extLst>
          </p:cNvPr>
          <p:cNvSpPr txBox="1"/>
          <p:nvPr/>
        </p:nvSpPr>
        <p:spPr>
          <a:xfrm>
            <a:off x="308316" y="705293"/>
            <a:ext cx="11516810" cy="1169551"/>
          </a:xfrm>
          <a:prstGeom prst="rect">
            <a:avLst/>
          </a:prstGeom>
          <a:noFill/>
        </p:spPr>
        <p:txBody>
          <a:bodyPr wrap="square" rtlCol="0">
            <a:spAutoFit/>
          </a:bodyPr>
          <a:lstStyle/>
          <a:p>
            <a:r>
              <a:rPr lang="en-IN" sz="1400" b="1" dirty="0"/>
              <a:t>Cancellation Drivers – Customer &amp; Driver </a:t>
            </a:r>
            <a:r>
              <a:rPr lang="en-IN" sz="1400" b="1" dirty="0" err="1"/>
              <a:t>Behavior</a:t>
            </a:r>
            <a:endParaRPr lang="en-IN" sz="1400" dirty="0"/>
          </a:p>
          <a:p>
            <a:endParaRPr lang="en-IN" sz="1400" dirty="0"/>
          </a:p>
          <a:p>
            <a:r>
              <a:rPr lang="en-IN" sz="1400" dirty="0"/>
              <a:t>This dashboard highlights cancellation patterns from both customer and driver perspectives, along with key performance indicators like total bookings, success rate, and cancellation rate.</a:t>
            </a:r>
          </a:p>
          <a:p>
            <a:endParaRPr lang="en-IN" sz="1400" dirty="0"/>
          </a:p>
        </p:txBody>
      </p:sp>
      <p:sp>
        <p:nvSpPr>
          <p:cNvPr id="8" name="Rectangle 7">
            <a:extLst>
              <a:ext uri="{FF2B5EF4-FFF2-40B4-BE49-F238E27FC236}">
                <a16:creationId xmlns:a16="http://schemas.microsoft.com/office/drawing/2014/main" id="{F3366935-8CA8-6EE6-9C56-B2D084B98956}"/>
              </a:ext>
            </a:extLst>
          </p:cNvPr>
          <p:cNvSpPr/>
          <p:nvPr/>
        </p:nvSpPr>
        <p:spPr>
          <a:xfrm>
            <a:off x="555585" y="1759352"/>
            <a:ext cx="10567686"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E3DAC1A-1573-54A9-F937-023482BC49F7}"/>
              </a:ext>
            </a:extLst>
          </p:cNvPr>
          <p:cNvSpPr/>
          <p:nvPr/>
        </p:nvSpPr>
        <p:spPr>
          <a:xfrm>
            <a:off x="555585" y="1759352"/>
            <a:ext cx="2517977"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D648E321-8815-BF81-FDE0-DB3BEDD0C5EF}"/>
              </a:ext>
            </a:extLst>
          </p:cNvPr>
          <p:cNvSpPr/>
          <p:nvPr/>
        </p:nvSpPr>
        <p:spPr>
          <a:xfrm>
            <a:off x="856527" y="1960311"/>
            <a:ext cx="1817225" cy="925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Logo</a:t>
            </a:r>
          </a:p>
        </p:txBody>
      </p:sp>
      <p:sp>
        <p:nvSpPr>
          <p:cNvPr id="16" name="Terminator 15">
            <a:extLst>
              <a:ext uri="{FF2B5EF4-FFF2-40B4-BE49-F238E27FC236}">
                <a16:creationId xmlns:a16="http://schemas.microsoft.com/office/drawing/2014/main" id="{5073C33F-D87C-23AE-01FD-8B38BBE908A1}"/>
              </a:ext>
            </a:extLst>
          </p:cNvPr>
          <p:cNvSpPr/>
          <p:nvPr/>
        </p:nvSpPr>
        <p:spPr>
          <a:xfrm>
            <a:off x="703403" y="3240911"/>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Overall</a:t>
            </a:r>
            <a:r>
              <a:rPr lang="en-US" dirty="0" err="1"/>
              <a:t>ll</a:t>
            </a:r>
            <a:endParaRPr lang="en-US" dirty="0"/>
          </a:p>
        </p:txBody>
      </p:sp>
      <p:sp>
        <p:nvSpPr>
          <p:cNvPr id="18" name="Terminator 17">
            <a:extLst>
              <a:ext uri="{FF2B5EF4-FFF2-40B4-BE49-F238E27FC236}">
                <a16:creationId xmlns:a16="http://schemas.microsoft.com/office/drawing/2014/main" id="{6903BD7C-CB33-3D00-0EBD-D8F2A1120363}"/>
              </a:ext>
            </a:extLst>
          </p:cNvPr>
          <p:cNvSpPr/>
          <p:nvPr/>
        </p:nvSpPr>
        <p:spPr>
          <a:xfrm>
            <a:off x="700508" y="3750197"/>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rminator 19">
            <a:extLst>
              <a:ext uri="{FF2B5EF4-FFF2-40B4-BE49-F238E27FC236}">
                <a16:creationId xmlns:a16="http://schemas.microsoft.com/office/drawing/2014/main" id="{5FB5D4E6-582C-0AAD-F37F-5D61D609787F}"/>
              </a:ext>
            </a:extLst>
          </p:cNvPr>
          <p:cNvSpPr/>
          <p:nvPr/>
        </p:nvSpPr>
        <p:spPr>
          <a:xfrm>
            <a:off x="700507" y="4271058"/>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rminator 20">
            <a:extLst>
              <a:ext uri="{FF2B5EF4-FFF2-40B4-BE49-F238E27FC236}">
                <a16:creationId xmlns:a16="http://schemas.microsoft.com/office/drawing/2014/main" id="{17486CBC-1B73-BE33-D653-3EB45FD30895}"/>
              </a:ext>
            </a:extLst>
          </p:cNvPr>
          <p:cNvSpPr/>
          <p:nvPr/>
        </p:nvSpPr>
        <p:spPr>
          <a:xfrm>
            <a:off x="700507" y="4791919"/>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rminator 21">
            <a:extLst>
              <a:ext uri="{FF2B5EF4-FFF2-40B4-BE49-F238E27FC236}">
                <a16:creationId xmlns:a16="http://schemas.microsoft.com/office/drawing/2014/main" id="{2115C345-41D4-40CA-0165-4FCA3BD81DFE}"/>
              </a:ext>
            </a:extLst>
          </p:cNvPr>
          <p:cNvSpPr/>
          <p:nvPr/>
        </p:nvSpPr>
        <p:spPr>
          <a:xfrm>
            <a:off x="700506" y="5312780"/>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E1D9F3C-ECD3-579F-FC48-C3E1E23E2B43}"/>
              </a:ext>
            </a:extLst>
          </p:cNvPr>
          <p:cNvSpPr txBox="1"/>
          <p:nvPr/>
        </p:nvSpPr>
        <p:spPr>
          <a:xfrm>
            <a:off x="1163131" y="3820174"/>
            <a:ext cx="1488677" cy="369332"/>
          </a:xfrm>
          <a:prstGeom prst="rect">
            <a:avLst/>
          </a:prstGeom>
          <a:noFill/>
        </p:spPr>
        <p:txBody>
          <a:bodyPr wrap="none" rtlCol="0">
            <a:spAutoFit/>
          </a:bodyPr>
          <a:lstStyle/>
          <a:p>
            <a:r>
              <a:rPr lang="en-US" dirty="0"/>
              <a:t>Vehicle Type</a:t>
            </a:r>
          </a:p>
        </p:txBody>
      </p:sp>
      <p:sp>
        <p:nvSpPr>
          <p:cNvPr id="32" name="TextBox 31">
            <a:extLst>
              <a:ext uri="{FF2B5EF4-FFF2-40B4-BE49-F238E27FC236}">
                <a16:creationId xmlns:a16="http://schemas.microsoft.com/office/drawing/2014/main" id="{D780DA84-2C55-65F7-91FF-70ADA31A69E0}"/>
              </a:ext>
            </a:extLst>
          </p:cNvPr>
          <p:cNvSpPr txBox="1"/>
          <p:nvPr/>
        </p:nvSpPr>
        <p:spPr>
          <a:xfrm>
            <a:off x="1211141" y="4341035"/>
            <a:ext cx="1107996" cy="369332"/>
          </a:xfrm>
          <a:prstGeom prst="rect">
            <a:avLst/>
          </a:prstGeom>
          <a:noFill/>
        </p:spPr>
        <p:txBody>
          <a:bodyPr wrap="none" rtlCol="0">
            <a:spAutoFit/>
          </a:bodyPr>
          <a:lstStyle/>
          <a:p>
            <a:r>
              <a:rPr lang="en-US" dirty="0"/>
              <a:t>Revenue</a:t>
            </a:r>
          </a:p>
        </p:txBody>
      </p:sp>
      <p:sp>
        <p:nvSpPr>
          <p:cNvPr id="33" name="TextBox 32">
            <a:extLst>
              <a:ext uri="{FF2B5EF4-FFF2-40B4-BE49-F238E27FC236}">
                <a16:creationId xmlns:a16="http://schemas.microsoft.com/office/drawing/2014/main" id="{4A1296E7-6718-ED21-9CC7-0E3371B45EA5}"/>
              </a:ext>
            </a:extLst>
          </p:cNvPr>
          <p:cNvSpPr txBox="1"/>
          <p:nvPr/>
        </p:nvSpPr>
        <p:spPr>
          <a:xfrm>
            <a:off x="1110483" y="4861896"/>
            <a:ext cx="1454244" cy="369332"/>
          </a:xfrm>
          <a:prstGeom prst="rect">
            <a:avLst/>
          </a:prstGeom>
          <a:noFill/>
        </p:spPr>
        <p:txBody>
          <a:bodyPr wrap="none" rtlCol="0">
            <a:spAutoFit/>
          </a:bodyPr>
          <a:lstStyle/>
          <a:p>
            <a:r>
              <a:rPr lang="en-US" dirty="0"/>
              <a:t>Cancellation</a:t>
            </a:r>
          </a:p>
        </p:txBody>
      </p:sp>
      <p:sp>
        <p:nvSpPr>
          <p:cNvPr id="34" name="TextBox 33">
            <a:extLst>
              <a:ext uri="{FF2B5EF4-FFF2-40B4-BE49-F238E27FC236}">
                <a16:creationId xmlns:a16="http://schemas.microsoft.com/office/drawing/2014/main" id="{DA0B56ED-A736-F3B4-3EE2-1999001D2F95}"/>
              </a:ext>
            </a:extLst>
          </p:cNvPr>
          <p:cNvSpPr txBox="1"/>
          <p:nvPr/>
        </p:nvSpPr>
        <p:spPr>
          <a:xfrm>
            <a:off x="1331104" y="5382757"/>
            <a:ext cx="966931" cy="369332"/>
          </a:xfrm>
          <a:prstGeom prst="rect">
            <a:avLst/>
          </a:prstGeom>
          <a:noFill/>
        </p:spPr>
        <p:txBody>
          <a:bodyPr wrap="none" rtlCol="0">
            <a:spAutoFit/>
          </a:bodyPr>
          <a:lstStyle/>
          <a:p>
            <a:r>
              <a:rPr lang="en-US" dirty="0"/>
              <a:t>Ratings</a:t>
            </a:r>
          </a:p>
        </p:txBody>
      </p:sp>
      <p:sp>
        <p:nvSpPr>
          <p:cNvPr id="10" name="Rounded Rectangle 9">
            <a:extLst>
              <a:ext uri="{FF2B5EF4-FFF2-40B4-BE49-F238E27FC236}">
                <a16:creationId xmlns:a16="http://schemas.microsoft.com/office/drawing/2014/main" id="{5BF10E52-4E28-414F-CACD-64DAD626956B}"/>
              </a:ext>
            </a:extLst>
          </p:cNvPr>
          <p:cNvSpPr/>
          <p:nvPr/>
        </p:nvSpPr>
        <p:spPr>
          <a:xfrm>
            <a:off x="3391260" y="1874844"/>
            <a:ext cx="4178460" cy="198410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9B58C8F6-D448-03CB-2C72-DFF394A7A276}"/>
              </a:ext>
            </a:extLst>
          </p:cNvPr>
          <p:cNvSpPr/>
          <p:nvPr/>
        </p:nvSpPr>
        <p:spPr>
          <a:xfrm>
            <a:off x="3439269" y="3935666"/>
            <a:ext cx="4178460" cy="221704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D8B2094-C9F4-562A-089B-2420501BD7E8}"/>
              </a:ext>
            </a:extLst>
          </p:cNvPr>
          <p:cNvSpPr txBox="1"/>
          <p:nvPr/>
        </p:nvSpPr>
        <p:spPr>
          <a:xfrm>
            <a:off x="3932630" y="2543731"/>
            <a:ext cx="3095719" cy="646331"/>
          </a:xfrm>
          <a:prstGeom prst="rect">
            <a:avLst/>
          </a:prstGeom>
          <a:noFill/>
        </p:spPr>
        <p:txBody>
          <a:bodyPr wrap="none" rtlCol="0">
            <a:spAutoFit/>
          </a:bodyPr>
          <a:lstStyle/>
          <a:p>
            <a:pPr algn="ctr"/>
            <a:r>
              <a:rPr lang="en-US" dirty="0"/>
              <a:t>Pie chart/Cancelled Ride by </a:t>
            </a:r>
          </a:p>
          <a:p>
            <a:pPr algn="ctr"/>
            <a:r>
              <a:rPr lang="en-US" dirty="0"/>
              <a:t>Customers</a:t>
            </a:r>
          </a:p>
        </p:txBody>
      </p:sp>
      <p:sp>
        <p:nvSpPr>
          <p:cNvPr id="24" name="TextBox 23">
            <a:extLst>
              <a:ext uri="{FF2B5EF4-FFF2-40B4-BE49-F238E27FC236}">
                <a16:creationId xmlns:a16="http://schemas.microsoft.com/office/drawing/2014/main" id="{07426196-EE40-8A55-83BF-BD976A4822D3}"/>
              </a:ext>
            </a:extLst>
          </p:cNvPr>
          <p:cNvSpPr txBox="1"/>
          <p:nvPr/>
        </p:nvSpPr>
        <p:spPr>
          <a:xfrm>
            <a:off x="3921826" y="4710367"/>
            <a:ext cx="3117328" cy="923330"/>
          </a:xfrm>
          <a:prstGeom prst="rect">
            <a:avLst/>
          </a:prstGeom>
          <a:noFill/>
        </p:spPr>
        <p:txBody>
          <a:bodyPr wrap="none" rtlCol="0">
            <a:spAutoFit/>
          </a:bodyPr>
          <a:lstStyle/>
          <a:p>
            <a:pPr algn="ctr"/>
            <a:r>
              <a:rPr lang="en-US" dirty="0"/>
              <a:t>Pie chart/Cancelled Ride by </a:t>
            </a:r>
          </a:p>
          <a:p>
            <a:pPr algn="ctr"/>
            <a:r>
              <a:rPr lang="en-US" dirty="0"/>
              <a:t>Driver</a:t>
            </a:r>
          </a:p>
          <a:p>
            <a:endParaRPr lang="en-US" dirty="0"/>
          </a:p>
        </p:txBody>
      </p:sp>
      <p:sp>
        <p:nvSpPr>
          <p:cNvPr id="25" name="Rounded Rectangle 24">
            <a:extLst>
              <a:ext uri="{FF2B5EF4-FFF2-40B4-BE49-F238E27FC236}">
                <a16:creationId xmlns:a16="http://schemas.microsoft.com/office/drawing/2014/main" id="{1F90F935-A176-6152-FC4F-4B2AF349F276}"/>
              </a:ext>
            </a:extLst>
          </p:cNvPr>
          <p:cNvSpPr/>
          <p:nvPr/>
        </p:nvSpPr>
        <p:spPr>
          <a:xfrm>
            <a:off x="7940233" y="1960311"/>
            <a:ext cx="2963119" cy="5834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9D75A38-214B-95D2-15FE-232BF844B2A9}"/>
              </a:ext>
            </a:extLst>
          </p:cNvPr>
          <p:cNvSpPr txBox="1"/>
          <p:nvPr/>
        </p:nvSpPr>
        <p:spPr>
          <a:xfrm>
            <a:off x="8784438" y="2053966"/>
            <a:ext cx="1274708" cy="369332"/>
          </a:xfrm>
          <a:prstGeom prst="rect">
            <a:avLst/>
          </a:prstGeom>
          <a:noFill/>
        </p:spPr>
        <p:txBody>
          <a:bodyPr wrap="none" rtlCol="0">
            <a:spAutoFit/>
          </a:bodyPr>
          <a:lstStyle/>
          <a:p>
            <a:r>
              <a:rPr lang="en-US" dirty="0"/>
              <a:t>Slicer/date</a:t>
            </a:r>
          </a:p>
        </p:txBody>
      </p:sp>
      <p:sp>
        <p:nvSpPr>
          <p:cNvPr id="27" name="Rounded Rectangle 26">
            <a:extLst>
              <a:ext uri="{FF2B5EF4-FFF2-40B4-BE49-F238E27FC236}">
                <a16:creationId xmlns:a16="http://schemas.microsoft.com/office/drawing/2014/main" id="{C14D25BA-4BF4-D055-BF66-19998602DDC6}"/>
              </a:ext>
            </a:extLst>
          </p:cNvPr>
          <p:cNvSpPr/>
          <p:nvPr/>
        </p:nvSpPr>
        <p:spPr>
          <a:xfrm>
            <a:off x="8079129" y="2629198"/>
            <a:ext cx="2685325" cy="71867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214FA1E6-D4B3-34ED-5144-ABFE4B63D584}"/>
              </a:ext>
            </a:extLst>
          </p:cNvPr>
          <p:cNvSpPr/>
          <p:nvPr/>
        </p:nvSpPr>
        <p:spPr>
          <a:xfrm>
            <a:off x="8079127" y="3479643"/>
            <a:ext cx="2685327" cy="8174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a:extLst>
              <a:ext uri="{FF2B5EF4-FFF2-40B4-BE49-F238E27FC236}">
                <a16:creationId xmlns:a16="http://schemas.microsoft.com/office/drawing/2014/main" id="{846D73C7-18A0-76CF-59F5-D56972B0E8BD}"/>
              </a:ext>
            </a:extLst>
          </p:cNvPr>
          <p:cNvSpPr/>
          <p:nvPr/>
        </p:nvSpPr>
        <p:spPr>
          <a:xfrm>
            <a:off x="8079128" y="4397391"/>
            <a:ext cx="2685328" cy="8482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a:extLst>
              <a:ext uri="{FF2B5EF4-FFF2-40B4-BE49-F238E27FC236}">
                <a16:creationId xmlns:a16="http://schemas.microsoft.com/office/drawing/2014/main" id="{155BFD59-4789-04E2-D8DC-F8BD18FC710C}"/>
              </a:ext>
            </a:extLst>
          </p:cNvPr>
          <p:cNvSpPr/>
          <p:nvPr/>
        </p:nvSpPr>
        <p:spPr>
          <a:xfrm>
            <a:off x="8079129" y="5382756"/>
            <a:ext cx="2685327" cy="77573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546AF4F-8D9A-1B2F-D037-B5A893593ADF}"/>
              </a:ext>
            </a:extLst>
          </p:cNvPr>
          <p:cNvSpPr txBox="1"/>
          <p:nvPr/>
        </p:nvSpPr>
        <p:spPr>
          <a:xfrm>
            <a:off x="8175295" y="3665534"/>
            <a:ext cx="2492990" cy="369332"/>
          </a:xfrm>
          <a:prstGeom prst="rect">
            <a:avLst/>
          </a:prstGeom>
          <a:noFill/>
        </p:spPr>
        <p:txBody>
          <a:bodyPr wrap="none" rtlCol="0">
            <a:spAutoFit/>
          </a:bodyPr>
          <a:lstStyle/>
          <a:p>
            <a:r>
              <a:rPr lang="en-US" dirty="0"/>
              <a:t>Success booking/Card</a:t>
            </a:r>
          </a:p>
        </p:txBody>
      </p:sp>
      <p:sp>
        <p:nvSpPr>
          <p:cNvPr id="37" name="TextBox 36">
            <a:extLst>
              <a:ext uri="{FF2B5EF4-FFF2-40B4-BE49-F238E27FC236}">
                <a16:creationId xmlns:a16="http://schemas.microsoft.com/office/drawing/2014/main" id="{986663E8-9FFB-AE2A-2533-24FE0A23EEB0}"/>
              </a:ext>
            </a:extLst>
          </p:cNvPr>
          <p:cNvSpPr txBox="1"/>
          <p:nvPr/>
        </p:nvSpPr>
        <p:spPr>
          <a:xfrm>
            <a:off x="8311698" y="2781459"/>
            <a:ext cx="2108334" cy="369332"/>
          </a:xfrm>
          <a:prstGeom prst="rect">
            <a:avLst/>
          </a:prstGeom>
          <a:noFill/>
        </p:spPr>
        <p:txBody>
          <a:bodyPr wrap="none" rtlCol="0">
            <a:spAutoFit/>
          </a:bodyPr>
          <a:lstStyle/>
          <a:p>
            <a:r>
              <a:rPr lang="en-US" dirty="0"/>
              <a:t>Total booking/Card</a:t>
            </a:r>
          </a:p>
        </p:txBody>
      </p:sp>
      <p:sp>
        <p:nvSpPr>
          <p:cNvPr id="38" name="TextBox 37">
            <a:extLst>
              <a:ext uri="{FF2B5EF4-FFF2-40B4-BE49-F238E27FC236}">
                <a16:creationId xmlns:a16="http://schemas.microsoft.com/office/drawing/2014/main" id="{1DB8E113-3771-002C-AD9B-4B30727D57A9}"/>
              </a:ext>
            </a:extLst>
          </p:cNvPr>
          <p:cNvSpPr txBox="1"/>
          <p:nvPr/>
        </p:nvSpPr>
        <p:spPr>
          <a:xfrm>
            <a:off x="8160105" y="4635119"/>
            <a:ext cx="2646878" cy="369332"/>
          </a:xfrm>
          <a:prstGeom prst="rect">
            <a:avLst/>
          </a:prstGeom>
          <a:noFill/>
        </p:spPr>
        <p:txBody>
          <a:bodyPr wrap="none" rtlCol="0">
            <a:spAutoFit/>
          </a:bodyPr>
          <a:lstStyle/>
          <a:p>
            <a:r>
              <a:rPr lang="en-US" dirty="0"/>
              <a:t>Cancelled booking/Card</a:t>
            </a:r>
          </a:p>
        </p:txBody>
      </p:sp>
      <p:sp>
        <p:nvSpPr>
          <p:cNvPr id="39" name="TextBox 38">
            <a:extLst>
              <a:ext uri="{FF2B5EF4-FFF2-40B4-BE49-F238E27FC236}">
                <a16:creationId xmlns:a16="http://schemas.microsoft.com/office/drawing/2014/main" id="{037BC166-5A3E-D06D-DCAE-8916E155BC35}"/>
              </a:ext>
            </a:extLst>
          </p:cNvPr>
          <p:cNvSpPr txBox="1"/>
          <p:nvPr/>
        </p:nvSpPr>
        <p:spPr>
          <a:xfrm>
            <a:off x="8136823" y="5551760"/>
            <a:ext cx="2569934" cy="369332"/>
          </a:xfrm>
          <a:prstGeom prst="rect">
            <a:avLst/>
          </a:prstGeom>
          <a:noFill/>
        </p:spPr>
        <p:txBody>
          <a:bodyPr wrap="none" rtlCol="0">
            <a:spAutoFit/>
          </a:bodyPr>
          <a:lstStyle/>
          <a:p>
            <a:r>
              <a:rPr lang="en-US" dirty="0"/>
              <a:t>Cancellation Rate/Card</a:t>
            </a:r>
          </a:p>
        </p:txBody>
      </p:sp>
    </p:spTree>
    <p:extLst>
      <p:ext uri="{BB962C8B-B14F-4D97-AF65-F5344CB8AC3E}">
        <p14:creationId xmlns:p14="http://schemas.microsoft.com/office/powerpoint/2010/main" val="2413230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D484C-6A58-F216-B629-BA4E160FBA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CD175D-9E1E-EB16-C33B-275F752FB7EB}"/>
              </a:ext>
            </a:extLst>
          </p:cNvPr>
          <p:cNvSpPr txBox="1"/>
          <p:nvPr/>
        </p:nvSpPr>
        <p:spPr>
          <a:xfrm>
            <a:off x="324091" y="219919"/>
            <a:ext cx="2749471" cy="369332"/>
          </a:xfrm>
          <a:prstGeom prst="rect">
            <a:avLst/>
          </a:prstGeom>
          <a:noFill/>
        </p:spPr>
        <p:txBody>
          <a:bodyPr wrap="none" rtlCol="0">
            <a:spAutoFit/>
          </a:bodyPr>
          <a:lstStyle/>
          <a:p>
            <a:r>
              <a:rPr lang="en-US" b="1" dirty="0">
                <a:solidFill>
                  <a:srgbClr val="166A3F"/>
                </a:solidFill>
              </a:rPr>
              <a:t>Dashboard Layout (5/5)</a:t>
            </a:r>
          </a:p>
        </p:txBody>
      </p:sp>
      <p:sp>
        <p:nvSpPr>
          <p:cNvPr id="3" name="TextBox 2">
            <a:extLst>
              <a:ext uri="{FF2B5EF4-FFF2-40B4-BE49-F238E27FC236}">
                <a16:creationId xmlns:a16="http://schemas.microsoft.com/office/drawing/2014/main" id="{20F87D2B-43E7-7AAA-1E5F-DAF556ED4E5D}"/>
              </a:ext>
            </a:extLst>
          </p:cNvPr>
          <p:cNvSpPr txBox="1"/>
          <p:nvPr/>
        </p:nvSpPr>
        <p:spPr>
          <a:xfrm>
            <a:off x="337595" y="729205"/>
            <a:ext cx="11516810" cy="1015663"/>
          </a:xfrm>
          <a:prstGeom prst="rect">
            <a:avLst/>
          </a:prstGeom>
          <a:noFill/>
        </p:spPr>
        <p:txBody>
          <a:bodyPr wrap="square" rtlCol="0">
            <a:spAutoFit/>
          </a:bodyPr>
          <a:lstStyle/>
          <a:p>
            <a:r>
              <a:rPr lang="en-IN" sz="1400" b="1" dirty="0"/>
              <a:t>Customer &amp; Driver Ratings by Vehicle Type</a:t>
            </a:r>
            <a:endParaRPr lang="en-IN" sz="1400" dirty="0"/>
          </a:p>
          <a:p>
            <a:endParaRPr lang="en-IN" sz="1400" dirty="0"/>
          </a:p>
          <a:p>
            <a:r>
              <a:rPr lang="en-IN" sz="1400" dirty="0"/>
              <a:t>This dashboard evaluates customer and driver ratings across all vehicle categories, providing insight into perceived service quality.</a:t>
            </a:r>
          </a:p>
          <a:p>
            <a:endParaRPr lang="en-US" dirty="0"/>
          </a:p>
        </p:txBody>
      </p:sp>
      <p:sp>
        <p:nvSpPr>
          <p:cNvPr id="8" name="Rectangle 7">
            <a:extLst>
              <a:ext uri="{FF2B5EF4-FFF2-40B4-BE49-F238E27FC236}">
                <a16:creationId xmlns:a16="http://schemas.microsoft.com/office/drawing/2014/main" id="{007EB514-5AB0-96CB-A4F7-8A59D0536EFA}"/>
              </a:ext>
            </a:extLst>
          </p:cNvPr>
          <p:cNvSpPr/>
          <p:nvPr/>
        </p:nvSpPr>
        <p:spPr>
          <a:xfrm>
            <a:off x="555585" y="1759352"/>
            <a:ext cx="10567686"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D950D72-735A-58EF-C9A5-5FF6944B6497}"/>
              </a:ext>
            </a:extLst>
          </p:cNvPr>
          <p:cNvSpPr/>
          <p:nvPr/>
        </p:nvSpPr>
        <p:spPr>
          <a:xfrm>
            <a:off x="555585" y="1759352"/>
            <a:ext cx="2517977" cy="449097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CE31C794-EEBD-84B0-819F-BE513E3CE3AB}"/>
              </a:ext>
            </a:extLst>
          </p:cNvPr>
          <p:cNvSpPr/>
          <p:nvPr/>
        </p:nvSpPr>
        <p:spPr>
          <a:xfrm>
            <a:off x="3391260" y="1960311"/>
            <a:ext cx="7465793" cy="20445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A27DD975-107C-C847-8F54-6049D53A0C4B}"/>
              </a:ext>
            </a:extLst>
          </p:cNvPr>
          <p:cNvSpPr/>
          <p:nvPr/>
        </p:nvSpPr>
        <p:spPr>
          <a:xfrm>
            <a:off x="3382942" y="4155311"/>
            <a:ext cx="7474111" cy="19734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80638BB0-A727-A812-3A80-B39763DA4981}"/>
              </a:ext>
            </a:extLst>
          </p:cNvPr>
          <p:cNvSpPr/>
          <p:nvPr/>
        </p:nvSpPr>
        <p:spPr>
          <a:xfrm>
            <a:off x="856527" y="1960311"/>
            <a:ext cx="1817225" cy="92597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Logo</a:t>
            </a:r>
          </a:p>
        </p:txBody>
      </p:sp>
      <p:sp>
        <p:nvSpPr>
          <p:cNvPr id="16" name="Terminator 15">
            <a:extLst>
              <a:ext uri="{FF2B5EF4-FFF2-40B4-BE49-F238E27FC236}">
                <a16:creationId xmlns:a16="http://schemas.microsoft.com/office/drawing/2014/main" id="{CEBE5F51-B55F-7FA8-EAB2-902B8F2C320F}"/>
              </a:ext>
            </a:extLst>
          </p:cNvPr>
          <p:cNvSpPr/>
          <p:nvPr/>
        </p:nvSpPr>
        <p:spPr>
          <a:xfrm>
            <a:off x="703403" y="3240911"/>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Overall</a:t>
            </a:r>
            <a:r>
              <a:rPr lang="en-US" dirty="0" err="1"/>
              <a:t>ll</a:t>
            </a:r>
            <a:endParaRPr lang="en-US" dirty="0"/>
          </a:p>
        </p:txBody>
      </p:sp>
      <p:sp>
        <p:nvSpPr>
          <p:cNvPr id="18" name="Terminator 17">
            <a:extLst>
              <a:ext uri="{FF2B5EF4-FFF2-40B4-BE49-F238E27FC236}">
                <a16:creationId xmlns:a16="http://schemas.microsoft.com/office/drawing/2014/main" id="{AFFB9B7D-3E9B-8121-9AAE-981B0DBC0C51}"/>
              </a:ext>
            </a:extLst>
          </p:cNvPr>
          <p:cNvSpPr/>
          <p:nvPr/>
        </p:nvSpPr>
        <p:spPr>
          <a:xfrm>
            <a:off x="700508" y="3750197"/>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rminator 19">
            <a:extLst>
              <a:ext uri="{FF2B5EF4-FFF2-40B4-BE49-F238E27FC236}">
                <a16:creationId xmlns:a16="http://schemas.microsoft.com/office/drawing/2014/main" id="{AB2A5C96-F7CC-514C-869D-C4B0659AB0A5}"/>
              </a:ext>
            </a:extLst>
          </p:cNvPr>
          <p:cNvSpPr/>
          <p:nvPr/>
        </p:nvSpPr>
        <p:spPr>
          <a:xfrm>
            <a:off x="700507" y="4271058"/>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rminator 20">
            <a:extLst>
              <a:ext uri="{FF2B5EF4-FFF2-40B4-BE49-F238E27FC236}">
                <a16:creationId xmlns:a16="http://schemas.microsoft.com/office/drawing/2014/main" id="{B0E184C7-6617-9CCB-9D35-1D4E54CCA462}"/>
              </a:ext>
            </a:extLst>
          </p:cNvPr>
          <p:cNvSpPr/>
          <p:nvPr/>
        </p:nvSpPr>
        <p:spPr>
          <a:xfrm>
            <a:off x="700507" y="4791919"/>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rminator 21">
            <a:extLst>
              <a:ext uri="{FF2B5EF4-FFF2-40B4-BE49-F238E27FC236}">
                <a16:creationId xmlns:a16="http://schemas.microsoft.com/office/drawing/2014/main" id="{02AB69FE-A8D5-785E-16DC-EAEB0D8225F1}"/>
              </a:ext>
            </a:extLst>
          </p:cNvPr>
          <p:cNvSpPr/>
          <p:nvPr/>
        </p:nvSpPr>
        <p:spPr>
          <a:xfrm>
            <a:off x="700506" y="5312780"/>
            <a:ext cx="2228129" cy="509286"/>
          </a:xfrm>
          <a:prstGeom prst="flowChartTermina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2C45F33-6892-46A7-C828-8241D708300E}"/>
              </a:ext>
            </a:extLst>
          </p:cNvPr>
          <p:cNvSpPr txBox="1"/>
          <p:nvPr/>
        </p:nvSpPr>
        <p:spPr>
          <a:xfrm>
            <a:off x="1163131" y="3820174"/>
            <a:ext cx="1488677" cy="369332"/>
          </a:xfrm>
          <a:prstGeom prst="rect">
            <a:avLst/>
          </a:prstGeom>
          <a:noFill/>
        </p:spPr>
        <p:txBody>
          <a:bodyPr wrap="none" rtlCol="0">
            <a:spAutoFit/>
          </a:bodyPr>
          <a:lstStyle/>
          <a:p>
            <a:r>
              <a:rPr lang="en-US" dirty="0"/>
              <a:t>Vehicle Type</a:t>
            </a:r>
          </a:p>
        </p:txBody>
      </p:sp>
      <p:sp>
        <p:nvSpPr>
          <p:cNvPr id="32" name="TextBox 31">
            <a:extLst>
              <a:ext uri="{FF2B5EF4-FFF2-40B4-BE49-F238E27FC236}">
                <a16:creationId xmlns:a16="http://schemas.microsoft.com/office/drawing/2014/main" id="{7465543B-DC14-5EA1-0AEC-82D1718E141A}"/>
              </a:ext>
            </a:extLst>
          </p:cNvPr>
          <p:cNvSpPr txBox="1"/>
          <p:nvPr/>
        </p:nvSpPr>
        <p:spPr>
          <a:xfrm>
            <a:off x="1211141" y="4341035"/>
            <a:ext cx="1107996" cy="369332"/>
          </a:xfrm>
          <a:prstGeom prst="rect">
            <a:avLst/>
          </a:prstGeom>
          <a:noFill/>
        </p:spPr>
        <p:txBody>
          <a:bodyPr wrap="none" rtlCol="0">
            <a:spAutoFit/>
          </a:bodyPr>
          <a:lstStyle/>
          <a:p>
            <a:r>
              <a:rPr lang="en-US" dirty="0"/>
              <a:t>Revenue</a:t>
            </a:r>
          </a:p>
        </p:txBody>
      </p:sp>
      <p:sp>
        <p:nvSpPr>
          <p:cNvPr id="33" name="TextBox 32">
            <a:extLst>
              <a:ext uri="{FF2B5EF4-FFF2-40B4-BE49-F238E27FC236}">
                <a16:creationId xmlns:a16="http://schemas.microsoft.com/office/drawing/2014/main" id="{C77D83A6-0C80-4732-D3CB-A6856E3761F2}"/>
              </a:ext>
            </a:extLst>
          </p:cNvPr>
          <p:cNvSpPr txBox="1"/>
          <p:nvPr/>
        </p:nvSpPr>
        <p:spPr>
          <a:xfrm>
            <a:off x="1110483" y="4861896"/>
            <a:ext cx="1454244" cy="369332"/>
          </a:xfrm>
          <a:prstGeom prst="rect">
            <a:avLst/>
          </a:prstGeom>
          <a:noFill/>
        </p:spPr>
        <p:txBody>
          <a:bodyPr wrap="none" rtlCol="0">
            <a:spAutoFit/>
          </a:bodyPr>
          <a:lstStyle/>
          <a:p>
            <a:r>
              <a:rPr lang="en-US" dirty="0"/>
              <a:t>Cancellation</a:t>
            </a:r>
          </a:p>
        </p:txBody>
      </p:sp>
      <p:sp>
        <p:nvSpPr>
          <p:cNvPr id="34" name="TextBox 33">
            <a:extLst>
              <a:ext uri="{FF2B5EF4-FFF2-40B4-BE49-F238E27FC236}">
                <a16:creationId xmlns:a16="http://schemas.microsoft.com/office/drawing/2014/main" id="{0FBFC6DC-3F32-B691-8722-AF02493DC794}"/>
              </a:ext>
            </a:extLst>
          </p:cNvPr>
          <p:cNvSpPr txBox="1"/>
          <p:nvPr/>
        </p:nvSpPr>
        <p:spPr>
          <a:xfrm>
            <a:off x="1331104" y="5382757"/>
            <a:ext cx="966931" cy="369332"/>
          </a:xfrm>
          <a:prstGeom prst="rect">
            <a:avLst/>
          </a:prstGeom>
          <a:noFill/>
        </p:spPr>
        <p:txBody>
          <a:bodyPr wrap="none" rtlCol="0">
            <a:spAutoFit/>
          </a:bodyPr>
          <a:lstStyle/>
          <a:p>
            <a:r>
              <a:rPr lang="en-US" dirty="0"/>
              <a:t>Ratings</a:t>
            </a:r>
          </a:p>
        </p:txBody>
      </p:sp>
      <p:cxnSp>
        <p:nvCxnSpPr>
          <p:cNvPr id="5" name="Straight Connector 4">
            <a:extLst>
              <a:ext uri="{FF2B5EF4-FFF2-40B4-BE49-F238E27FC236}">
                <a16:creationId xmlns:a16="http://schemas.microsoft.com/office/drawing/2014/main" id="{A91C2201-C206-6260-CB95-D8422BA76CA2}"/>
              </a:ext>
            </a:extLst>
          </p:cNvPr>
          <p:cNvCxnSpPr>
            <a:stCxn id="12" idx="1"/>
            <a:endCxn id="12" idx="3"/>
          </p:cNvCxnSpPr>
          <p:nvPr/>
        </p:nvCxnSpPr>
        <p:spPr>
          <a:xfrm>
            <a:off x="3391260" y="2982576"/>
            <a:ext cx="7465793" cy="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595125E0-8200-F764-A218-66729DCD74F2}"/>
              </a:ext>
            </a:extLst>
          </p:cNvPr>
          <p:cNvCxnSpPr/>
          <p:nvPr/>
        </p:nvCxnSpPr>
        <p:spPr>
          <a:xfrm>
            <a:off x="3391260" y="5114247"/>
            <a:ext cx="7465793" cy="0"/>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E3C8024-71AF-8598-6F5A-35423A8B725A}"/>
              </a:ext>
            </a:extLst>
          </p:cNvPr>
          <p:cNvCxnSpPr/>
          <p:nvPr/>
        </p:nvCxnSpPr>
        <p:spPr>
          <a:xfrm>
            <a:off x="4328932" y="2233914"/>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E1C15FBA-83C6-F6FC-EBA0-6EDDFAA2B470}"/>
              </a:ext>
            </a:extLst>
          </p:cNvPr>
          <p:cNvCxnSpPr/>
          <p:nvPr/>
        </p:nvCxnSpPr>
        <p:spPr>
          <a:xfrm>
            <a:off x="5499904" y="2233914"/>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C8AC7A2D-2AA3-AA56-934E-36BDF650027A}"/>
              </a:ext>
            </a:extLst>
          </p:cNvPr>
          <p:cNvCxnSpPr/>
          <p:nvPr/>
        </p:nvCxnSpPr>
        <p:spPr>
          <a:xfrm>
            <a:off x="6773119" y="2233914"/>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97CFF2DC-E4DE-44F0-F410-87EB743774C1}"/>
              </a:ext>
            </a:extLst>
          </p:cNvPr>
          <p:cNvCxnSpPr/>
          <p:nvPr/>
        </p:nvCxnSpPr>
        <p:spPr>
          <a:xfrm>
            <a:off x="8173656" y="2233914"/>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6D1B4E56-EB1F-69B7-BB94-05CFCA09DD58}"/>
              </a:ext>
            </a:extLst>
          </p:cNvPr>
          <p:cNvCxnSpPr/>
          <p:nvPr/>
        </p:nvCxnSpPr>
        <p:spPr>
          <a:xfrm>
            <a:off x="9493170" y="2233914"/>
            <a:ext cx="0" cy="1770926"/>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50C5EC97-5399-560B-BA4A-15C6087A535F}"/>
              </a:ext>
            </a:extLst>
          </p:cNvPr>
          <p:cNvSpPr txBox="1"/>
          <p:nvPr/>
        </p:nvSpPr>
        <p:spPr>
          <a:xfrm>
            <a:off x="3583995" y="1945827"/>
            <a:ext cx="1915909" cy="369332"/>
          </a:xfrm>
          <a:prstGeom prst="rect">
            <a:avLst/>
          </a:prstGeom>
          <a:noFill/>
        </p:spPr>
        <p:txBody>
          <a:bodyPr wrap="none" rtlCol="0">
            <a:spAutoFit/>
          </a:bodyPr>
          <a:lstStyle/>
          <a:p>
            <a:r>
              <a:rPr lang="en-US" dirty="0"/>
              <a:t>Customer Rating</a:t>
            </a:r>
          </a:p>
        </p:txBody>
      </p:sp>
      <p:sp>
        <p:nvSpPr>
          <p:cNvPr id="28" name="TextBox 27">
            <a:extLst>
              <a:ext uri="{FF2B5EF4-FFF2-40B4-BE49-F238E27FC236}">
                <a16:creationId xmlns:a16="http://schemas.microsoft.com/office/drawing/2014/main" id="{D8414092-69E3-CE57-A687-CAAFC3C3B91D}"/>
              </a:ext>
            </a:extLst>
          </p:cNvPr>
          <p:cNvSpPr txBox="1"/>
          <p:nvPr/>
        </p:nvSpPr>
        <p:spPr>
          <a:xfrm>
            <a:off x="5909806" y="2489347"/>
            <a:ext cx="1604093" cy="369332"/>
          </a:xfrm>
          <a:prstGeom prst="rect">
            <a:avLst/>
          </a:prstGeom>
          <a:noFill/>
        </p:spPr>
        <p:txBody>
          <a:bodyPr wrap="none" rtlCol="0">
            <a:spAutoFit/>
          </a:bodyPr>
          <a:lstStyle/>
          <a:p>
            <a:r>
              <a:rPr lang="en-US" dirty="0"/>
              <a:t>Vehicle Types</a:t>
            </a:r>
          </a:p>
        </p:txBody>
      </p:sp>
      <p:sp>
        <p:nvSpPr>
          <p:cNvPr id="29" name="TextBox 28">
            <a:extLst>
              <a:ext uri="{FF2B5EF4-FFF2-40B4-BE49-F238E27FC236}">
                <a16:creationId xmlns:a16="http://schemas.microsoft.com/office/drawing/2014/main" id="{B806FE9B-4A94-1247-6D0D-0A9F6C5099B9}"/>
              </a:ext>
            </a:extLst>
          </p:cNvPr>
          <p:cNvSpPr txBox="1"/>
          <p:nvPr/>
        </p:nvSpPr>
        <p:spPr>
          <a:xfrm>
            <a:off x="6289653" y="3369290"/>
            <a:ext cx="966931" cy="369332"/>
          </a:xfrm>
          <a:prstGeom prst="rect">
            <a:avLst/>
          </a:prstGeom>
          <a:noFill/>
        </p:spPr>
        <p:txBody>
          <a:bodyPr wrap="none" rtlCol="0">
            <a:spAutoFit/>
          </a:bodyPr>
          <a:lstStyle/>
          <a:p>
            <a:r>
              <a:rPr lang="en-US" dirty="0"/>
              <a:t>Ratings</a:t>
            </a:r>
          </a:p>
        </p:txBody>
      </p:sp>
      <p:cxnSp>
        <p:nvCxnSpPr>
          <p:cNvPr id="30" name="Straight Connector 29">
            <a:extLst>
              <a:ext uri="{FF2B5EF4-FFF2-40B4-BE49-F238E27FC236}">
                <a16:creationId xmlns:a16="http://schemas.microsoft.com/office/drawing/2014/main" id="{4937E632-DF7E-88A6-B008-A5321F2403B7}"/>
              </a:ext>
            </a:extLst>
          </p:cNvPr>
          <p:cNvCxnSpPr/>
          <p:nvPr/>
        </p:nvCxnSpPr>
        <p:spPr>
          <a:xfrm>
            <a:off x="4328932" y="4357868"/>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8852BDFF-04EA-493A-44B2-125269B661B6}"/>
              </a:ext>
            </a:extLst>
          </p:cNvPr>
          <p:cNvCxnSpPr/>
          <p:nvPr/>
        </p:nvCxnSpPr>
        <p:spPr>
          <a:xfrm>
            <a:off x="5548132" y="4357868"/>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E146984F-A7A6-130C-FB1E-77CDC60BE8B0}"/>
              </a:ext>
            </a:extLst>
          </p:cNvPr>
          <p:cNvCxnSpPr/>
          <p:nvPr/>
        </p:nvCxnSpPr>
        <p:spPr>
          <a:xfrm>
            <a:off x="6773118" y="4357869"/>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241EC378-11D4-3A68-6031-50B1D3F703A1}"/>
              </a:ext>
            </a:extLst>
          </p:cNvPr>
          <p:cNvCxnSpPr/>
          <p:nvPr/>
        </p:nvCxnSpPr>
        <p:spPr>
          <a:xfrm>
            <a:off x="8164011" y="4357868"/>
            <a:ext cx="0" cy="177092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BA23155F-9F91-8078-EAD6-487FD5FF3A27}"/>
              </a:ext>
            </a:extLst>
          </p:cNvPr>
          <p:cNvCxnSpPr/>
          <p:nvPr/>
        </p:nvCxnSpPr>
        <p:spPr>
          <a:xfrm>
            <a:off x="9495099" y="4357868"/>
            <a:ext cx="0" cy="1770926"/>
          </a:xfrm>
          <a:prstGeom prst="line">
            <a:avLst/>
          </a:prstGeom>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4AB1E466-542B-9318-5BE6-6A45E6AA4DC8}"/>
              </a:ext>
            </a:extLst>
          </p:cNvPr>
          <p:cNvSpPr txBox="1"/>
          <p:nvPr/>
        </p:nvSpPr>
        <p:spPr>
          <a:xfrm>
            <a:off x="5948113" y="4545451"/>
            <a:ext cx="1604093" cy="646331"/>
          </a:xfrm>
          <a:prstGeom prst="rect">
            <a:avLst/>
          </a:prstGeom>
          <a:noFill/>
        </p:spPr>
        <p:txBody>
          <a:bodyPr wrap="none" rtlCol="0">
            <a:spAutoFit/>
          </a:bodyPr>
          <a:lstStyle/>
          <a:p>
            <a:r>
              <a:rPr lang="en-US" dirty="0"/>
              <a:t>Vehicle Types</a:t>
            </a:r>
          </a:p>
          <a:p>
            <a:endParaRPr lang="en-US" dirty="0"/>
          </a:p>
        </p:txBody>
      </p:sp>
      <p:sp>
        <p:nvSpPr>
          <p:cNvPr id="47" name="TextBox 46">
            <a:extLst>
              <a:ext uri="{FF2B5EF4-FFF2-40B4-BE49-F238E27FC236}">
                <a16:creationId xmlns:a16="http://schemas.microsoft.com/office/drawing/2014/main" id="{38FE8A6D-16F9-448B-ACC8-23D531E285CC}"/>
              </a:ext>
            </a:extLst>
          </p:cNvPr>
          <p:cNvSpPr txBox="1"/>
          <p:nvPr/>
        </p:nvSpPr>
        <p:spPr>
          <a:xfrm>
            <a:off x="6266693" y="5474189"/>
            <a:ext cx="966931" cy="646331"/>
          </a:xfrm>
          <a:prstGeom prst="rect">
            <a:avLst/>
          </a:prstGeom>
          <a:noFill/>
        </p:spPr>
        <p:txBody>
          <a:bodyPr wrap="none" rtlCol="0">
            <a:spAutoFit/>
          </a:bodyPr>
          <a:lstStyle/>
          <a:p>
            <a:r>
              <a:rPr lang="en-US" dirty="0"/>
              <a:t>Ratings</a:t>
            </a:r>
          </a:p>
          <a:p>
            <a:endParaRPr lang="en-US" dirty="0"/>
          </a:p>
        </p:txBody>
      </p:sp>
      <p:sp>
        <p:nvSpPr>
          <p:cNvPr id="48" name="TextBox 47">
            <a:extLst>
              <a:ext uri="{FF2B5EF4-FFF2-40B4-BE49-F238E27FC236}">
                <a16:creationId xmlns:a16="http://schemas.microsoft.com/office/drawing/2014/main" id="{55DDC884-A874-DF54-E54A-EDC693854354}"/>
              </a:ext>
            </a:extLst>
          </p:cNvPr>
          <p:cNvSpPr txBox="1"/>
          <p:nvPr/>
        </p:nvSpPr>
        <p:spPr>
          <a:xfrm>
            <a:off x="3610631" y="4142781"/>
            <a:ext cx="1531188" cy="369332"/>
          </a:xfrm>
          <a:prstGeom prst="rect">
            <a:avLst/>
          </a:prstGeom>
          <a:noFill/>
        </p:spPr>
        <p:txBody>
          <a:bodyPr wrap="none" rtlCol="0">
            <a:spAutoFit/>
          </a:bodyPr>
          <a:lstStyle/>
          <a:p>
            <a:r>
              <a:rPr lang="en-US" dirty="0"/>
              <a:t>Driver Rating</a:t>
            </a:r>
          </a:p>
        </p:txBody>
      </p:sp>
    </p:spTree>
    <p:extLst>
      <p:ext uri="{BB962C8B-B14F-4D97-AF65-F5344CB8AC3E}">
        <p14:creationId xmlns:p14="http://schemas.microsoft.com/office/powerpoint/2010/main" val="687062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B6992-8F4F-3741-CB78-6484E88771B9}"/>
              </a:ext>
            </a:extLst>
          </p:cNvPr>
          <p:cNvSpPr txBox="1"/>
          <p:nvPr/>
        </p:nvSpPr>
        <p:spPr>
          <a:xfrm>
            <a:off x="439838" y="266218"/>
            <a:ext cx="3176895" cy="646331"/>
          </a:xfrm>
          <a:prstGeom prst="rect">
            <a:avLst/>
          </a:prstGeom>
          <a:noFill/>
        </p:spPr>
        <p:txBody>
          <a:bodyPr wrap="none" rtlCol="0">
            <a:spAutoFit/>
          </a:bodyPr>
          <a:lstStyle/>
          <a:p>
            <a:r>
              <a:rPr lang="en-IN" b="1" dirty="0">
                <a:solidFill>
                  <a:srgbClr val="166A3F"/>
                </a:solidFill>
              </a:rPr>
              <a:t>Tools &amp; Technologies Used</a:t>
            </a:r>
          </a:p>
          <a:p>
            <a:endParaRPr lang="en-US" dirty="0"/>
          </a:p>
        </p:txBody>
      </p:sp>
      <p:sp>
        <p:nvSpPr>
          <p:cNvPr id="3" name="TextBox 2">
            <a:extLst>
              <a:ext uri="{FF2B5EF4-FFF2-40B4-BE49-F238E27FC236}">
                <a16:creationId xmlns:a16="http://schemas.microsoft.com/office/drawing/2014/main" id="{C4FB796E-8A98-988F-E8C4-AF205A0EACF3}"/>
              </a:ext>
            </a:extLst>
          </p:cNvPr>
          <p:cNvSpPr txBox="1"/>
          <p:nvPr/>
        </p:nvSpPr>
        <p:spPr>
          <a:xfrm>
            <a:off x="625033" y="831526"/>
            <a:ext cx="6821098" cy="5539978"/>
          </a:xfrm>
          <a:prstGeom prst="rect">
            <a:avLst/>
          </a:prstGeom>
          <a:noFill/>
        </p:spPr>
        <p:txBody>
          <a:bodyPr wrap="none" rtlCol="0">
            <a:spAutoFit/>
          </a:bodyPr>
          <a:lstStyle/>
          <a:p>
            <a:r>
              <a:rPr lang="en-IN" sz="1600" b="1" dirty="0"/>
              <a:t> Microsoft Excel</a:t>
            </a:r>
            <a:endParaRPr lang="en-IN" sz="1600" dirty="0"/>
          </a:p>
          <a:p>
            <a:pPr marL="285750" indent="-285750">
              <a:buFont typeface="Arial" panose="020B0604020202020204" pitchFamily="34" charset="0"/>
              <a:buChar char="•"/>
            </a:pPr>
            <a:r>
              <a:rPr lang="en-IN" sz="1600" dirty="0"/>
              <a:t>Initial data exploration</a:t>
            </a:r>
          </a:p>
          <a:p>
            <a:pPr marL="285750" indent="-285750">
              <a:buFont typeface="Arial" panose="020B0604020202020204" pitchFamily="34" charset="0"/>
              <a:buChar char="•"/>
            </a:pPr>
            <a:r>
              <a:rPr lang="en-IN" sz="1600" dirty="0"/>
              <a:t>Reviewing dataset structure</a:t>
            </a:r>
          </a:p>
          <a:p>
            <a:pPr marL="285750" indent="-285750">
              <a:buFont typeface="Arial" panose="020B0604020202020204" pitchFamily="34" charset="0"/>
              <a:buChar char="•"/>
            </a:pPr>
            <a:r>
              <a:rPr lang="en-IN" sz="1600" dirty="0"/>
              <a:t>Handling missing/null values before SQL import</a:t>
            </a:r>
            <a:br>
              <a:rPr lang="en-IN" sz="1600" dirty="0"/>
            </a:br>
            <a:endParaRPr lang="en-IN" sz="1600" dirty="0"/>
          </a:p>
          <a:p>
            <a:r>
              <a:rPr lang="en-IN" sz="1600" b="1" dirty="0"/>
              <a:t> SQL (Microsoft SQL Server)</a:t>
            </a:r>
            <a:endParaRPr lang="en-IN" sz="1600" dirty="0"/>
          </a:p>
          <a:p>
            <a:pPr marL="285750" indent="-285750">
              <a:buFont typeface="Arial" panose="020B0604020202020204" pitchFamily="34" charset="0"/>
              <a:buChar char="•"/>
            </a:pPr>
            <a:r>
              <a:rPr lang="en-IN" sz="1600" dirty="0"/>
              <a:t>Data loading and cleaning</a:t>
            </a:r>
          </a:p>
          <a:p>
            <a:pPr marL="285750" indent="-285750">
              <a:buFont typeface="Arial" panose="020B0604020202020204" pitchFamily="34" charset="0"/>
              <a:buChar char="•"/>
            </a:pPr>
            <a:r>
              <a:rPr lang="en-IN" sz="1600" dirty="0"/>
              <a:t>Data audit and validation (duplicates, nulls, data types)</a:t>
            </a:r>
          </a:p>
          <a:p>
            <a:pPr marL="285750" indent="-285750">
              <a:buFont typeface="Arial" panose="020B0604020202020204" pitchFamily="34" charset="0"/>
              <a:buChar char="•"/>
            </a:pPr>
            <a:r>
              <a:rPr lang="en-IN" sz="1600" dirty="0"/>
              <a:t>EDA queries (descriptive, diagnostic analysis)</a:t>
            </a:r>
          </a:p>
          <a:p>
            <a:pPr marL="285750" indent="-285750">
              <a:buFont typeface="Arial" panose="020B0604020202020204" pitchFamily="34" charset="0"/>
              <a:buChar char="•"/>
            </a:pPr>
            <a:r>
              <a:rPr lang="en-IN" sz="1600" dirty="0"/>
              <a:t>Feature extraction (daypart, hour, datetime fields)</a:t>
            </a:r>
          </a:p>
          <a:p>
            <a:endParaRPr lang="en-IN" sz="1600" dirty="0"/>
          </a:p>
          <a:p>
            <a:r>
              <a:rPr lang="en-IN" sz="1600" b="1" dirty="0"/>
              <a:t> Power BI</a:t>
            </a:r>
            <a:endParaRPr lang="en-IN" sz="1600" dirty="0"/>
          </a:p>
          <a:p>
            <a:pPr marL="285750" indent="-285750">
              <a:buFont typeface="Arial" panose="020B0604020202020204" pitchFamily="34" charset="0"/>
              <a:buChar char="•"/>
            </a:pPr>
            <a:r>
              <a:rPr lang="en-IN" sz="1600" dirty="0"/>
              <a:t>Interactive dashboard creation</a:t>
            </a:r>
          </a:p>
          <a:p>
            <a:pPr marL="285750" indent="-285750">
              <a:buFont typeface="Arial" panose="020B0604020202020204" pitchFamily="34" charset="0"/>
              <a:buChar char="•"/>
            </a:pPr>
            <a:r>
              <a:rPr lang="en-IN" sz="1600" dirty="0"/>
              <a:t>Page navigation menu design</a:t>
            </a:r>
          </a:p>
          <a:p>
            <a:pPr marL="285750" indent="-285750">
              <a:buFont typeface="Arial" panose="020B0604020202020204" pitchFamily="34" charset="0"/>
              <a:buChar char="•"/>
            </a:pPr>
            <a:r>
              <a:rPr lang="en-IN" sz="1600" dirty="0"/>
              <a:t>Visual analysis (KPIs, charts, matrix tables)</a:t>
            </a:r>
          </a:p>
          <a:p>
            <a:pPr marL="285750" indent="-285750">
              <a:buFont typeface="Arial" panose="020B0604020202020204" pitchFamily="34" charset="0"/>
              <a:buChar char="•"/>
            </a:pPr>
            <a:r>
              <a:rPr lang="en-IN" sz="1600" dirty="0"/>
              <a:t>Drilldown insights for revenue, cancellations, and vehicle performance</a:t>
            </a:r>
          </a:p>
          <a:p>
            <a:endParaRPr lang="en-IN" sz="1600" dirty="0"/>
          </a:p>
          <a:p>
            <a:r>
              <a:rPr lang="en-IN" sz="1600" b="1" dirty="0"/>
              <a:t> Microsoft PowerPoint</a:t>
            </a:r>
            <a:endParaRPr lang="en-IN" sz="1600" dirty="0"/>
          </a:p>
          <a:p>
            <a:pPr marL="285750" indent="-285750">
              <a:buFont typeface="Arial" panose="020B0604020202020204" pitchFamily="34" charset="0"/>
              <a:buChar char="•"/>
            </a:pPr>
            <a:r>
              <a:rPr lang="en-IN" sz="1600" dirty="0"/>
              <a:t>Presentation storytelling</a:t>
            </a:r>
          </a:p>
          <a:p>
            <a:pPr marL="285750" indent="-285750">
              <a:buFont typeface="Arial" panose="020B0604020202020204" pitchFamily="34" charset="0"/>
              <a:buChar char="•"/>
            </a:pPr>
            <a:r>
              <a:rPr lang="en-IN" sz="1600" dirty="0"/>
              <a:t>Business context &amp; problem framing</a:t>
            </a:r>
          </a:p>
          <a:p>
            <a:pPr marL="285750" indent="-285750">
              <a:buFont typeface="Arial" panose="020B0604020202020204" pitchFamily="34" charset="0"/>
              <a:buChar char="•"/>
            </a:pPr>
            <a:r>
              <a:rPr lang="en-IN" sz="1600" dirty="0"/>
              <a:t>Summarizing findings (descriptive, predictive, prescriptive insights)</a:t>
            </a:r>
          </a:p>
          <a:p>
            <a:endParaRPr lang="en-US" dirty="0"/>
          </a:p>
        </p:txBody>
      </p:sp>
    </p:spTree>
    <p:extLst>
      <p:ext uri="{BB962C8B-B14F-4D97-AF65-F5344CB8AC3E}">
        <p14:creationId xmlns:p14="http://schemas.microsoft.com/office/powerpoint/2010/main" val="20296437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18350</TotalTime>
  <Words>5626</Words>
  <Application>Microsoft Macintosh PowerPoint</Application>
  <PresentationFormat>Widescreen</PresentationFormat>
  <Paragraphs>984</Paragraphs>
  <Slides>52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Geeza Pro</vt:lpstr>
      <vt:lpstr>PT Sans Narrow</vt:lpstr>
      <vt:lpstr>Raleway</vt:lpstr>
      <vt:lpstr>Wingdings</vt:lpstr>
      <vt:lpstr>Tropic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Abhinandh O</cp:lastModifiedBy>
  <cp:revision>111</cp:revision>
  <dcterms:created xsi:type="dcterms:W3CDTF">2025-04-04T02:52:34Z</dcterms:created>
  <dcterms:modified xsi:type="dcterms:W3CDTF">2025-12-09T10:34:39Z</dcterms:modified>
</cp:coreProperties>
</file>